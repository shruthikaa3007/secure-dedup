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05" r:id="rId17"/>
    <p:sldId id="306" r:id="rId18"/>
    <p:sldId id="273" r:id="rId19"/>
    <p:sldId id="274" r:id="rId20"/>
    <p:sldId id="275" r:id="rId21"/>
    <p:sldId id="276" r:id="rId22"/>
    <p:sldId id="277" r:id="rId23"/>
    <p:sldId id="278" r:id="rId24"/>
    <p:sldId id="279" r:id="rId25"/>
    <p:sldId id="281" r:id="rId26"/>
    <p:sldId id="285" r:id="rId27"/>
    <p:sldId id="282" r:id="rId28"/>
    <p:sldId id="283" r:id="rId29"/>
    <p:sldId id="284" r:id="rId30"/>
    <p:sldId id="286" r:id="rId31"/>
    <p:sldId id="287" r:id="rId32"/>
    <p:sldId id="288" r:id="rId33"/>
    <p:sldId id="289" r:id="rId34"/>
    <p:sldId id="290" r:id="rId35"/>
    <p:sldId id="300" r:id="rId36"/>
    <p:sldId id="301" r:id="rId37"/>
    <p:sldId id="302" r:id="rId38"/>
    <p:sldId id="303" r:id="rId39"/>
    <p:sldId id="304" r:id="rId40"/>
    <p:sldId id="291" r:id="rId41"/>
    <p:sldId id="292" r:id="rId42"/>
    <p:sldId id="293" r:id="rId43"/>
    <p:sldId id="295" r:id="rId44"/>
    <p:sldId id="294" r:id="rId45"/>
    <p:sldId id="296" r:id="rId46"/>
    <p:sldId id="297" r:id="rId47"/>
    <p:sldId id="298" r:id="rId48"/>
    <p:sldId id="299"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yr2cauQhJ+WDAliO9g5euVfW35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E49B7E-5F19-4CB0-BCE9-EA4782633ABD}">
  <a:tblStyle styleId="{FCE49B7E-5F19-4CB0-BCE9-EA4782633ABD}" styleName="Table_0">
    <a:wholeTbl>
      <a:tcTxStyle b="off" i="off">
        <a:font>
          <a:latin typeface="Univers"/>
          <a:ea typeface="Univers"/>
          <a:cs typeface="Univers"/>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ACCE91C-4951-4FE3-B6CA-9ACE4B05DA07}"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2B9882C-E5B5-4DB5-A179-8E3F50196A67}" styleName="Table_2">
    <a:wholeTbl>
      <a:tcTxStyle b="off" i="off">
        <a:font>
          <a:latin typeface="Univers"/>
          <a:ea typeface="Univers"/>
          <a:cs typeface="Univers"/>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fill>
          <a:solidFill>
            <a:schemeClr val="dk1">
              <a:alpha val="20000"/>
            </a:schemeClr>
          </a:solidFill>
        </a:fill>
      </a:tcStyle>
    </a:band1H>
    <a:band2H>
      <a:tcTxStyle/>
      <a:tcStyle>
        <a:tcBdr/>
      </a:tcStyle>
    </a:band2H>
    <a:band1V>
      <a:tcTxStyle/>
      <a:tcStyle>
        <a:tcBdr/>
        <a:fill>
          <a:solidFill>
            <a:schemeClr val="dk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dk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1BFE893A-7CEF-4902-9C88-67588281D81C}" styleName="Table_3">
    <a:wholeTbl>
      <a:tcTxStyle b="off" i="off">
        <a:font>
          <a:latin typeface="Univers"/>
          <a:ea typeface="Univers"/>
          <a:cs typeface="Univer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8FF"/>
          </a:solidFill>
        </a:fill>
      </a:tcStyle>
    </a:wholeTbl>
    <a:band1H>
      <a:tcTxStyle/>
      <a:tcStyle>
        <a:tcBdr/>
        <a:fill>
          <a:solidFill>
            <a:srgbClr val="D7CFFF"/>
          </a:solidFill>
        </a:fill>
      </a:tcStyle>
    </a:band1H>
    <a:band2H>
      <a:tcTxStyle/>
      <a:tcStyle>
        <a:tcBdr/>
      </a:tcStyle>
    </a:band2H>
    <a:band1V>
      <a:tcTxStyle/>
      <a:tcStyle>
        <a:tcBdr/>
        <a:fill>
          <a:solidFill>
            <a:srgbClr val="D7CFFF"/>
          </a:solidFill>
        </a:fill>
      </a:tcStyle>
    </a:band1V>
    <a:band2V>
      <a:tcTxStyle/>
      <a:tcStyle>
        <a:tcBdr/>
      </a:tcStyle>
    </a:band2V>
    <a:lastCol>
      <a:tcTxStyle b="on" i="off">
        <a:font>
          <a:latin typeface="Univers"/>
          <a:ea typeface="Univers"/>
          <a:cs typeface="Univers"/>
        </a:font>
        <a:schemeClr val="lt1"/>
      </a:tcTxStyle>
      <a:tcStyle>
        <a:tcBdr/>
        <a:fill>
          <a:solidFill>
            <a:schemeClr val="accent1"/>
          </a:solidFill>
        </a:fill>
      </a:tcStyle>
    </a:lastCol>
    <a:firstCol>
      <a:tcTxStyle b="on" i="off">
        <a:font>
          <a:latin typeface="Univers"/>
          <a:ea typeface="Univers"/>
          <a:cs typeface="Univers"/>
        </a:font>
        <a:schemeClr val="lt1"/>
      </a:tcTxStyle>
      <a:tcStyle>
        <a:tcBdr/>
        <a:fill>
          <a:solidFill>
            <a:schemeClr val="accent1"/>
          </a:solidFill>
        </a:fill>
      </a:tcStyle>
    </a:firstCol>
    <a:lastRow>
      <a:tcTxStyle b="on" i="off">
        <a:font>
          <a:latin typeface="Univers"/>
          <a:ea typeface="Univers"/>
          <a:cs typeface="Univer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Univers"/>
          <a:ea typeface="Univers"/>
          <a:cs typeface="Univer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6" name="Google Shape;41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49D86037-9B9A-D693-5C03-A9003B31D490}"/>
            </a:ext>
          </a:extLst>
        </p:cNvPr>
        <p:cNvGrpSpPr/>
        <p:nvPr/>
      </p:nvGrpSpPr>
      <p:grpSpPr>
        <a:xfrm>
          <a:off x="0" y="0"/>
          <a:ext cx="0" cy="0"/>
          <a:chOff x="0" y="0"/>
          <a:chExt cx="0" cy="0"/>
        </a:xfrm>
      </p:grpSpPr>
      <p:sp>
        <p:nvSpPr>
          <p:cNvPr id="447" name="Google Shape;447;p46:notes">
            <a:extLst>
              <a:ext uri="{FF2B5EF4-FFF2-40B4-BE49-F238E27FC236}">
                <a16:creationId xmlns:a16="http://schemas.microsoft.com/office/drawing/2014/main" id="{F80F7FEB-FF67-668F-6CC7-F2D6CB3168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46:notes">
            <a:extLst>
              <a:ext uri="{FF2B5EF4-FFF2-40B4-BE49-F238E27FC236}">
                <a16:creationId xmlns:a16="http://schemas.microsoft.com/office/drawing/2014/main" id="{A368DFD6-F275-ABFD-3F9A-509FF1EC74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36748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34A11397-1534-F3CC-FD4E-F2D611AC0B32}"/>
            </a:ext>
          </a:extLst>
        </p:cNvPr>
        <p:cNvGrpSpPr/>
        <p:nvPr/>
      </p:nvGrpSpPr>
      <p:grpSpPr>
        <a:xfrm>
          <a:off x="0" y="0"/>
          <a:ext cx="0" cy="0"/>
          <a:chOff x="0" y="0"/>
          <a:chExt cx="0" cy="0"/>
        </a:xfrm>
      </p:grpSpPr>
      <p:sp>
        <p:nvSpPr>
          <p:cNvPr id="447" name="Google Shape;447;p46:notes">
            <a:extLst>
              <a:ext uri="{FF2B5EF4-FFF2-40B4-BE49-F238E27FC236}">
                <a16:creationId xmlns:a16="http://schemas.microsoft.com/office/drawing/2014/main" id="{20B6C17E-0FD3-0914-9C88-A7D8EB1B734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46:notes">
            <a:extLst>
              <a:ext uri="{FF2B5EF4-FFF2-40B4-BE49-F238E27FC236}">
                <a16:creationId xmlns:a16="http://schemas.microsoft.com/office/drawing/2014/main" id="{254AF21D-CAF3-90B5-B727-F1A8324030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8872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Open Sans"/>
              <a:buNone/>
              <a:defRPr sz="6000" b="1" i="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21" name="Google Shape;21;p48"/>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28" name="Google Shape;28;p4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5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Open Sans"/>
              <a:buNone/>
              <a:defRPr sz="6000" b="1" i="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35" name="Google Shape;35;p50"/>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43" name="Google Shape;43;p5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5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5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5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5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53" name="Google Shape;53;p5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59" name="Google Shape;59;p5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64" name="Google Shape;64;p5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5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5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72" name="Google Shape;72;p55"/>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56"/>
          <p:cNvSpPr>
            <a:spLocks noGrp="1"/>
          </p:cNvSpPr>
          <p:nvPr>
            <p:ph type="pic" idx="2"/>
          </p:nvPr>
        </p:nvSpPr>
        <p:spPr>
          <a:xfrm>
            <a:off x="5183188" y="987425"/>
            <a:ext cx="6172200" cy="4873625"/>
          </a:xfrm>
          <a:prstGeom prst="rect">
            <a:avLst/>
          </a:prstGeom>
          <a:noFill/>
          <a:ln>
            <a:noFill/>
          </a:ln>
        </p:spPr>
      </p:sp>
      <p:sp>
        <p:nvSpPr>
          <p:cNvPr id="76" name="Google Shape;76;p5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80" name="Google Shape;80;p5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5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87" name="Google Shape;87;p57"/>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5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5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cxnSp>
        <p:nvCxnSpPr>
          <p:cNvPr id="94" name="Google Shape;94;p58"/>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Open Sans"/>
              <a:buNone/>
              <a:defRPr sz="4400" b="0" i="0" u="none" strike="noStrike" cap="non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pen Sans"/>
                <a:ea typeface="Open Sans"/>
                <a:cs typeface="Open Sans"/>
                <a:sym typeface="Open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9pPr>
          </a:lstStyle>
          <a:p>
            <a:endParaRPr/>
          </a:p>
        </p:txBody>
      </p:sp>
      <p:sp>
        <p:nvSpPr>
          <p:cNvPr id="12" name="Google Shape;12;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888888"/>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2pPr>
            <a:lvl3pPr marR="0" lvl="2"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3pPr>
            <a:lvl4pPr marR="0" lvl="3"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4pPr>
            <a:lvl5pPr marR="0" lvl="4"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5pPr>
            <a:lvl6pPr marR="0" lvl="5"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6pPr>
            <a:lvl7pPr marR="0" lvl="6"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7pPr>
            <a:lvl8pPr marR="0" lvl="7"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8pPr>
            <a:lvl9pPr marR="0" lvl="8"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9pPr>
          </a:lstStyle>
          <a:p>
            <a:endParaRPr/>
          </a:p>
        </p:txBody>
      </p:sp>
      <p:sp>
        <p:nvSpPr>
          <p:cNvPr id="13" name="Google Shape;13;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888888"/>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2pPr>
            <a:lvl3pPr marR="0" lvl="2"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3pPr>
            <a:lvl4pPr marR="0" lvl="3"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4pPr>
            <a:lvl5pPr marR="0" lvl="4"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5pPr>
            <a:lvl6pPr marR="0" lvl="5"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6pPr>
            <a:lvl7pPr marR="0" lvl="6"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7pPr>
            <a:lvl8pPr marR="0" lvl="7"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8pPr>
            <a:lvl9pPr marR="0" lvl="8" algn="l" rtl="0">
              <a:spcBef>
                <a:spcPts val="0"/>
              </a:spcBef>
              <a:spcAft>
                <a:spcPts val="0"/>
              </a:spcAft>
              <a:buSzPts val="1400"/>
              <a:buNone/>
              <a:defRPr sz="1800" b="0" i="0" u="none" strike="noStrike" cap="none">
                <a:solidFill>
                  <a:schemeClr val="dk1"/>
                </a:solidFill>
                <a:latin typeface="Open Sans"/>
                <a:ea typeface="Open Sans"/>
                <a:cs typeface="Open Sans"/>
                <a:sym typeface="Open Sans"/>
              </a:defRPr>
            </a:lvl9pPr>
          </a:lstStyle>
          <a:p>
            <a:endParaRPr/>
          </a:p>
        </p:txBody>
      </p:sp>
      <p:sp>
        <p:nvSpPr>
          <p:cNvPr id="14" name="Google Shape;14;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888888"/>
                </a:solidFill>
                <a:latin typeface="Open Sans"/>
                <a:ea typeface="Open Sans"/>
                <a:cs typeface="Open Sans"/>
                <a:sym typeface="Open Sans"/>
              </a:defRPr>
            </a:lvl1pPr>
            <a:lvl2pPr marL="0" marR="0" lvl="1" indent="0" algn="r" rtl="0">
              <a:spcBef>
                <a:spcPts val="0"/>
              </a:spcBef>
              <a:buNone/>
              <a:defRPr sz="1200" b="1" i="0" u="none" strike="noStrike" cap="none">
                <a:solidFill>
                  <a:srgbClr val="888888"/>
                </a:solidFill>
                <a:latin typeface="Open Sans"/>
                <a:ea typeface="Open Sans"/>
                <a:cs typeface="Open Sans"/>
                <a:sym typeface="Open Sans"/>
              </a:defRPr>
            </a:lvl2pPr>
            <a:lvl3pPr marL="0" marR="0" lvl="2" indent="0" algn="r" rtl="0">
              <a:spcBef>
                <a:spcPts val="0"/>
              </a:spcBef>
              <a:buNone/>
              <a:defRPr sz="1200" b="1" i="0" u="none" strike="noStrike" cap="none">
                <a:solidFill>
                  <a:srgbClr val="888888"/>
                </a:solidFill>
                <a:latin typeface="Open Sans"/>
                <a:ea typeface="Open Sans"/>
                <a:cs typeface="Open Sans"/>
                <a:sym typeface="Open Sans"/>
              </a:defRPr>
            </a:lvl3pPr>
            <a:lvl4pPr marL="0" marR="0" lvl="3" indent="0" algn="r" rtl="0">
              <a:spcBef>
                <a:spcPts val="0"/>
              </a:spcBef>
              <a:buNone/>
              <a:defRPr sz="1200" b="1" i="0" u="none" strike="noStrike" cap="none">
                <a:solidFill>
                  <a:srgbClr val="888888"/>
                </a:solidFill>
                <a:latin typeface="Open Sans"/>
                <a:ea typeface="Open Sans"/>
                <a:cs typeface="Open Sans"/>
                <a:sym typeface="Open Sans"/>
              </a:defRPr>
            </a:lvl4pPr>
            <a:lvl5pPr marL="0" marR="0" lvl="4" indent="0" algn="r" rtl="0">
              <a:spcBef>
                <a:spcPts val="0"/>
              </a:spcBef>
              <a:buNone/>
              <a:defRPr sz="1200" b="1" i="0" u="none" strike="noStrike" cap="none">
                <a:solidFill>
                  <a:srgbClr val="888888"/>
                </a:solidFill>
                <a:latin typeface="Open Sans"/>
                <a:ea typeface="Open Sans"/>
                <a:cs typeface="Open Sans"/>
                <a:sym typeface="Open Sans"/>
              </a:defRPr>
            </a:lvl5pPr>
            <a:lvl6pPr marL="0" marR="0" lvl="5" indent="0" algn="r" rtl="0">
              <a:spcBef>
                <a:spcPts val="0"/>
              </a:spcBef>
              <a:buNone/>
              <a:defRPr sz="1200" b="1" i="0" u="none" strike="noStrike" cap="none">
                <a:solidFill>
                  <a:srgbClr val="888888"/>
                </a:solidFill>
                <a:latin typeface="Open Sans"/>
                <a:ea typeface="Open Sans"/>
                <a:cs typeface="Open Sans"/>
                <a:sym typeface="Open Sans"/>
              </a:defRPr>
            </a:lvl6pPr>
            <a:lvl7pPr marL="0" marR="0" lvl="6" indent="0" algn="r" rtl="0">
              <a:spcBef>
                <a:spcPts val="0"/>
              </a:spcBef>
              <a:buNone/>
              <a:defRPr sz="1200" b="1" i="0" u="none" strike="noStrike" cap="none">
                <a:solidFill>
                  <a:srgbClr val="888888"/>
                </a:solidFill>
                <a:latin typeface="Open Sans"/>
                <a:ea typeface="Open Sans"/>
                <a:cs typeface="Open Sans"/>
                <a:sym typeface="Open Sans"/>
              </a:defRPr>
            </a:lvl7pPr>
            <a:lvl8pPr marL="0" marR="0" lvl="7" indent="0" algn="r" rtl="0">
              <a:spcBef>
                <a:spcPts val="0"/>
              </a:spcBef>
              <a:buNone/>
              <a:defRPr sz="1200" b="1" i="0" u="none" strike="noStrike" cap="none">
                <a:solidFill>
                  <a:srgbClr val="888888"/>
                </a:solidFill>
                <a:latin typeface="Open Sans"/>
                <a:ea typeface="Open Sans"/>
                <a:cs typeface="Open Sans"/>
                <a:sym typeface="Open Sans"/>
              </a:defRPr>
            </a:lvl8pPr>
            <a:lvl9pPr marL="0" marR="0" lvl="8" indent="0" algn="r" rtl="0">
              <a:spcBef>
                <a:spcPts val="0"/>
              </a:spcBef>
              <a:buNone/>
              <a:defRPr sz="1200" b="1" i="0" u="none" strike="noStrike" cap="none">
                <a:solidFill>
                  <a:srgbClr val="888888"/>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
          <p:cNvSpPr txBox="1">
            <a:spLocks noGrp="1"/>
          </p:cNvSpPr>
          <p:nvPr>
            <p:ph type="ctrTitle"/>
          </p:nvPr>
        </p:nvSpPr>
        <p:spPr>
          <a:xfrm>
            <a:off x="1524000" y="1840821"/>
            <a:ext cx="9144000" cy="23876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4800"/>
              <a:buFont typeface="Times New Roman"/>
              <a:buNone/>
            </a:pP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r>
              <a:rPr lang="en-IN" sz="2800" b="1" dirty="0">
                <a:latin typeface="Times New Roman"/>
                <a:ea typeface="Times New Roman"/>
                <a:cs typeface="Times New Roman"/>
                <a:sym typeface="Times New Roman"/>
              </a:rPr>
              <a:t>CS6811 – PROJECT WORK</a:t>
            </a:r>
            <a:br>
              <a:rPr lang="en-IN" sz="4800" b="1" dirty="0">
                <a:latin typeface="Times New Roman"/>
                <a:ea typeface="Times New Roman"/>
                <a:cs typeface="Times New Roman"/>
                <a:sym typeface="Times New Roman"/>
              </a:rPr>
            </a:br>
            <a:br>
              <a:rPr lang="en-IN" sz="4800" b="1" dirty="0">
                <a:latin typeface="Times New Roman"/>
                <a:ea typeface="Times New Roman"/>
                <a:cs typeface="Times New Roman"/>
                <a:sym typeface="Times New Roman"/>
              </a:rPr>
            </a:br>
            <a:r>
              <a:rPr lang="en-IN" sz="3200" dirty="0">
                <a:latin typeface="Times New Roman"/>
                <a:ea typeface="Times New Roman"/>
                <a:cs typeface="Times New Roman"/>
                <a:sym typeface="Times New Roman"/>
              </a:rPr>
              <a:t>A SECURE CLOUD DEDUPLICATION FRAMEWORK WITH BEHAVIOURAL MONITORING</a:t>
            </a:r>
            <a:br>
              <a:rPr lang="en-IN" sz="3200" dirty="0">
                <a:latin typeface="Times New Roman"/>
                <a:ea typeface="Times New Roman"/>
                <a:cs typeface="Times New Roman"/>
                <a:sym typeface="Times New Roman"/>
              </a:rPr>
            </a:br>
            <a:br>
              <a:rPr lang="en-IN" sz="1600" dirty="0">
                <a:solidFill>
                  <a:srgbClr val="C00000"/>
                </a:solidFill>
                <a:latin typeface="Times New Roman"/>
                <a:ea typeface="Times New Roman"/>
                <a:cs typeface="Times New Roman"/>
                <a:sym typeface="Times New Roman"/>
              </a:rPr>
            </a:br>
            <a:br>
              <a:rPr lang="en-IN" sz="4800" b="1" dirty="0">
                <a:solidFill>
                  <a:srgbClr val="C00000"/>
                </a:solidFill>
                <a:latin typeface="Times New Roman"/>
                <a:ea typeface="Times New Roman"/>
                <a:cs typeface="Times New Roman"/>
                <a:sym typeface="Times New Roman"/>
              </a:rPr>
            </a:br>
            <a:r>
              <a:rPr lang="en-IN" sz="2000" b="1" dirty="0">
                <a:latin typeface="Times New Roman"/>
                <a:ea typeface="Times New Roman"/>
                <a:cs typeface="Times New Roman"/>
                <a:sym typeface="Times New Roman"/>
              </a:rPr>
              <a:t>DOMAIN: SECURE STORAGE SYSTEMS,  DEDUPLICATION, CLOUD SECURITY</a:t>
            </a:r>
            <a:endParaRPr sz="2000" dirty="0">
              <a:latin typeface="Times New Roman"/>
              <a:ea typeface="Times New Roman"/>
              <a:cs typeface="Times New Roman"/>
              <a:sym typeface="Times New Roman"/>
            </a:endParaRPr>
          </a:p>
        </p:txBody>
      </p:sp>
      <p:graphicFrame>
        <p:nvGraphicFramePr>
          <p:cNvPr id="100" name="Google Shape;100;p1"/>
          <p:cNvGraphicFramePr/>
          <p:nvPr/>
        </p:nvGraphicFramePr>
        <p:xfrm>
          <a:off x="8469811" y="4579031"/>
          <a:ext cx="2198200" cy="792500"/>
        </p:xfrm>
        <a:graphic>
          <a:graphicData uri="http://schemas.openxmlformats.org/drawingml/2006/table">
            <a:tbl>
              <a:tblPr firstRow="1" bandRow="1">
                <a:noFill/>
                <a:tableStyleId>{FCE49B7E-5F19-4CB0-BCE9-EA4782633ABD}</a:tableStyleId>
              </a:tblPr>
              <a:tblGrid>
                <a:gridCol w="2198200">
                  <a:extLst>
                    <a:ext uri="{9D8B030D-6E8A-4147-A177-3AD203B41FA5}">
                      <a16:colId xmlns:a16="http://schemas.microsoft.com/office/drawing/2014/main" val="20000"/>
                    </a:ext>
                  </a:extLst>
                </a:gridCol>
              </a:tblGrid>
              <a:tr h="370850">
                <a:tc>
                  <a:txBody>
                    <a:bodyPr/>
                    <a:lstStyle/>
                    <a:p>
                      <a:pPr marL="0" marR="0" lvl="0" indent="0" algn="ctr" rtl="0">
                        <a:spcBef>
                          <a:spcPts val="0"/>
                        </a:spcBef>
                        <a:spcAft>
                          <a:spcPts val="0"/>
                        </a:spcAft>
                        <a:buNone/>
                      </a:pPr>
                      <a:r>
                        <a:rPr lang="en-IN" sz="2000" b="1" u="none" strike="noStrike" cap="none">
                          <a:latin typeface="Times New Roman"/>
                          <a:ea typeface="Times New Roman"/>
                          <a:cs typeface="Times New Roman"/>
                          <a:sym typeface="Times New Roman"/>
                        </a:rPr>
                        <a:t>SUPERVISOR</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IN" sz="2000" b="0" u="none" strike="noStrike" cap="none">
                          <a:solidFill>
                            <a:schemeClr val="dk1"/>
                          </a:solidFill>
                          <a:latin typeface="Times New Roman"/>
                          <a:ea typeface="Times New Roman"/>
                          <a:cs typeface="Times New Roman"/>
                          <a:sym typeface="Times New Roman"/>
                        </a:rPr>
                        <a:t>Dr. Kathiroli R</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01" name="Google Shape;101;p1"/>
          <p:cNvGraphicFramePr/>
          <p:nvPr/>
        </p:nvGraphicFramePr>
        <p:xfrm>
          <a:off x="1524000" y="4579031"/>
          <a:ext cx="4334700" cy="2103160"/>
        </p:xfrm>
        <a:graphic>
          <a:graphicData uri="http://schemas.openxmlformats.org/drawingml/2006/table">
            <a:tbl>
              <a:tblPr firstRow="1" bandRow="1">
                <a:noFill/>
                <a:tableStyleId>{FCE49B7E-5F19-4CB0-BCE9-EA4782633ABD}</a:tableStyleId>
              </a:tblPr>
              <a:tblGrid>
                <a:gridCol w="2360100">
                  <a:extLst>
                    <a:ext uri="{9D8B030D-6E8A-4147-A177-3AD203B41FA5}">
                      <a16:colId xmlns:a16="http://schemas.microsoft.com/office/drawing/2014/main" val="20000"/>
                    </a:ext>
                  </a:extLst>
                </a:gridCol>
                <a:gridCol w="19746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IN" sz="2000" b="1" u="none" strike="noStrike" cap="none">
                          <a:latin typeface="Times New Roman"/>
                          <a:ea typeface="Times New Roman"/>
                          <a:cs typeface="Times New Roman"/>
                          <a:sym typeface="Times New Roman"/>
                        </a:rPr>
                        <a:t>TEAM MEMBERS</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200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457200" marR="0" lvl="1"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Shruthikaa.S </a:t>
                      </a:r>
                      <a:r>
                        <a:rPr lang="en-IN" sz="1800" i="0" u="none" strike="noStrike" cap="none">
                          <a:latin typeface="Times New Roman"/>
                          <a:ea typeface="Times New Roman"/>
                          <a:cs typeface="Times New Roman"/>
                          <a:sym typeface="Times New Roman"/>
                        </a:rPr>
                        <a:t>         Lahar</a:t>
                      </a:r>
                      <a:r>
                        <a:rPr lang="en-IN" sz="1800" u="none" strike="noStrike" cap="none">
                          <a:latin typeface="Times New Roman"/>
                          <a:ea typeface="Times New Roman"/>
                          <a:cs typeface="Times New Roman"/>
                          <a:sym typeface="Times New Roman"/>
                        </a:rPr>
                        <a:t>i.V </a:t>
                      </a:r>
                      <a:r>
                        <a:rPr lang="en-IN" sz="1800" i="0" u="none" strike="noStrike" cap="none">
                          <a:latin typeface="Times New Roman"/>
                          <a:ea typeface="Times New Roman"/>
                          <a:cs typeface="Times New Roman"/>
                          <a:sym typeface="Times New Roman"/>
                        </a:rPr>
                        <a:t>	            Ajay.C.S </a:t>
                      </a:r>
                      <a:endParaRPr sz="1800" u="none" strike="noStrike" cap="none">
                        <a:latin typeface="Times New Roman"/>
                        <a:ea typeface="Times New Roman"/>
                        <a:cs typeface="Times New Roman"/>
                        <a:sym typeface="Times New Roman"/>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2022503555</a:t>
                      </a:r>
                      <a:endParaRPr/>
                    </a:p>
                    <a:p>
                      <a:pPr marL="0" marR="0" lvl="0" indent="0" algn="l" rtl="0">
                        <a:lnSpc>
                          <a:spcPct val="100000"/>
                        </a:lnSpc>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2022503559</a:t>
                      </a:r>
                      <a:endParaRPr/>
                    </a:p>
                    <a:p>
                      <a:pPr marL="0" marR="0" lvl="0" indent="0" algn="l" rtl="0">
                        <a:spcBef>
                          <a:spcPts val="0"/>
                        </a:spcBef>
                        <a:spcAft>
                          <a:spcPts val="0"/>
                        </a:spcAft>
                        <a:buNone/>
                      </a:pPr>
                      <a:r>
                        <a:rPr lang="en-IN" sz="1800" i="0" u="none" strike="noStrike">
                          <a:latin typeface="Times New Roman"/>
                          <a:ea typeface="Times New Roman"/>
                          <a:cs typeface="Times New Roman"/>
                          <a:sym typeface="Times New Roman"/>
                        </a:rPr>
                        <a:t>2022503557</a:t>
                      </a:r>
                      <a:endParaRPr sz="180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endParaRPr sz="200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200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200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200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838200" y="1365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a:latin typeface="Times New Roman"/>
                <a:ea typeface="Times New Roman"/>
                <a:cs typeface="Times New Roman"/>
                <a:sym typeface="Times New Roman"/>
              </a:rPr>
              <a:t>INTRODUCTION</a:t>
            </a:r>
            <a:endParaRPr/>
          </a:p>
        </p:txBody>
      </p:sp>
      <p:sp>
        <p:nvSpPr>
          <p:cNvPr id="107" name="Google Shape;10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08" name="Google Shape;10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2</a:t>
            </a:fld>
            <a:endParaRPr/>
          </a:p>
        </p:txBody>
      </p:sp>
      <p:sp>
        <p:nvSpPr>
          <p:cNvPr id="109" name="Google Shape;109;p2"/>
          <p:cNvSpPr txBox="1">
            <a:spLocks noGrp="1"/>
          </p:cNvSpPr>
          <p:nvPr>
            <p:ph type="body" idx="1"/>
          </p:nvPr>
        </p:nvSpPr>
        <p:spPr>
          <a:xfrm>
            <a:off x="838200" y="1051788"/>
            <a:ext cx="10515600" cy="5618934"/>
          </a:xfrm>
          <a:prstGeom prst="rect">
            <a:avLst/>
          </a:prstGeom>
          <a:noFill/>
          <a:ln>
            <a:noFill/>
          </a:ln>
        </p:spPr>
        <p:txBody>
          <a:bodyPr spcFirstLastPara="1" wrap="square" lIns="91425" tIns="45700" rIns="91425" bIns="45700" anchor="ctr" anchorCtr="0">
            <a:spAutoFit/>
          </a:bodyPr>
          <a:lstStyle/>
          <a:p>
            <a:r>
              <a:rPr lang="en-IN" sz="2000" dirty="0">
                <a:latin typeface="Times New Roman" panose="02020603050405020304" pitchFamily="18" charset="0"/>
                <a:cs typeface="Times New Roman" panose="02020603050405020304" pitchFamily="18" charset="0"/>
              </a:rPr>
              <a:t>Cloud computing has driven massive data growth from social media, enterprise systems, and IoT, making data deduplication essential for achieving 50–80% storage savings. Chunk-level deduplication uses SHA-256 hashing to detect duplicates and store references instead of redundant data.</a:t>
            </a:r>
          </a:p>
          <a:p>
            <a:r>
              <a:rPr lang="en-IN" sz="2000" dirty="0">
                <a:latin typeface="Times New Roman" panose="02020603050405020304" pitchFamily="18" charset="0"/>
                <a:cs typeface="Times New Roman" panose="02020603050405020304" pitchFamily="18" charset="0"/>
              </a:rPr>
              <a:t>However, deterministic hashing introduces security risks in multi-tenant environments, including file existence inference, hash probing, timing attacks, ownership fraud, and deduplication-based DoS attacks.</a:t>
            </a:r>
          </a:p>
          <a:p>
            <a:r>
              <a:rPr lang="en-IN" sz="2000" dirty="0">
                <a:latin typeface="Times New Roman" panose="02020603050405020304" pitchFamily="18" charset="0"/>
                <a:cs typeface="Times New Roman" panose="02020603050405020304" pitchFamily="18" charset="0"/>
              </a:rPr>
              <a:t>Existing solutions lack a unified approach combining storage efficiency, security verification, and runtime monitoring.</a:t>
            </a:r>
          </a:p>
          <a:p>
            <a:r>
              <a:rPr lang="en-IN" sz="2000" dirty="0">
                <a:latin typeface="Times New Roman" panose="02020603050405020304" pitchFamily="18" charset="0"/>
                <a:cs typeface="Times New Roman" panose="02020603050405020304" pitchFamily="18" charset="0"/>
              </a:rPr>
              <a:t>This project proposes a Secure Cloud Deduplication Framework with Behavioural Monitoring, extending REFA (Wu et al., 2024) using:</a:t>
            </a:r>
          </a:p>
          <a:p>
            <a:pPr lvl="1"/>
            <a:r>
              <a:rPr lang="en-IN" sz="1600" dirty="0">
                <a:latin typeface="Times New Roman" panose="02020603050405020304" pitchFamily="18" charset="0"/>
                <a:cs typeface="Times New Roman" panose="02020603050405020304" pitchFamily="18" charset="0"/>
              </a:rPr>
              <a:t>HMAC-SHA256 + Ristretto255 OPRF for secure key derivation </a:t>
            </a:r>
          </a:p>
          <a:p>
            <a:pPr lvl="1"/>
            <a:r>
              <a:rPr lang="en-IN" sz="1600" dirty="0">
                <a:latin typeface="Times New Roman" panose="02020603050405020304" pitchFamily="18" charset="0"/>
                <a:cs typeface="Times New Roman" panose="02020603050405020304" pitchFamily="18" charset="0"/>
              </a:rPr>
              <a:t>Adaptive Proof-of-Ownership + ML detection (RF + OCSVM) </a:t>
            </a:r>
          </a:p>
          <a:p>
            <a:pPr lvl="1"/>
            <a:r>
              <a:rPr lang="en-IN" sz="1600" dirty="0">
                <a:latin typeface="Times New Roman" panose="02020603050405020304" pitchFamily="18" charset="0"/>
                <a:cs typeface="Times New Roman" panose="02020603050405020304" pitchFamily="18" charset="0"/>
              </a:rPr>
              <a:t>HKDF + AES-256-GCM encryption with behavioural monitoring </a:t>
            </a:r>
          </a:p>
          <a:p>
            <a:r>
              <a:rPr lang="en-IN" sz="2000" dirty="0">
                <a:latin typeface="Times New Roman" panose="02020603050405020304" pitchFamily="18" charset="0"/>
                <a:cs typeface="Times New Roman" panose="02020603050405020304" pitchFamily="18" charset="0"/>
              </a:rPr>
              <a:t>The framework achieves 65–80% storage reduction and reduces attacker success rate by 45.49% through adaptive security controls.</a:t>
            </a:r>
          </a:p>
          <a:p>
            <a:pPr marL="0" marR="0" lvl="0" indent="0" algn="l" rtl="0">
              <a:lnSpc>
                <a:spcPct val="100000"/>
              </a:lnSpc>
              <a:spcBef>
                <a:spcPts val="0"/>
              </a:spcBef>
              <a:spcAft>
                <a:spcPts val="0"/>
              </a:spcAft>
              <a:buClr>
                <a:schemeClr val="dk1"/>
              </a:buClr>
              <a:buSzPts val="1600"/>
              <a:buFont typeface="Open Sans"/>
              <a:buNone/>
            </a:pPr>
            <a:endParaRPr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838200" y="1365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a:latin typeface="Times New Roman"/>
                <a:ea typeface="Times New Roman"/>
                <a:cs typeface="Times New Roman"/>
                <a:sym typeface="Times New Roman"/>
              </a:rPr>
              <a:t>PROBLEM STATEMENT</a:t>
            </a:r>
            <a:endParaRPr/>
          </a:p>
        </p:txBody>
      </p:sp>
      <p:sp>
        <p:nvSpPr>
          <p:cNvPr id="115" name="Google Shape;1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16" name="Google Shape;1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3</a:t>
            </a:fld>
            <a:endParaRPr/>
          </a:p>
        </p:txBody>
      </p:sp>
      <p:sp>
        <p:nvSpPr>
          <p:cNvPr id="117" name="Google Shape;117;p3"/>
          <p:cNvSpPr txBox="1">
            <a:spLocks noGrp="1"/>
          </p:cNvSpPr>
          <p:nvPr>
            <p:ph type="body" idx="1"/>
          </p:nvPr>
        </p:nvSpPr>
        <p:spPr>
          <a:xfrm>
            <a:off x="838200" y="1303802"/>
            <a:ext cx="10980761" cy="4646360"/>
          </a:xfrm>
          <a:prstGeom prst="rect">
            <a:avLst/>
          </a:prstGeom>
          <a:noFill/>
          <a:ln>
            <a:noFill/>
          </a:ln>
        </p:spPr>
        <p:txBody>
          <a:bodyPr spcFirstLastPara="1" wrap="square" lIns="91425" tIns="45700" rIns="91425" bIns="45700" anchor="ctr" anchorCtr="0">
            <a:spAutoFit/>
          </a:bodyPr>
          <a:lstStyle/>
          <a:p>
            <a:r>
              <a:rPr lang="en-US" sz="2000" dirty="0">
                <a:latin typeface="Times New Roman" panose="02020603050405020304" pitchFamily="18" charset="0"/>
                <a:cs typeface="Times New Roman" panose="02020603050405020304" pitchFamily="18" charset="0"/>
              </a:rPr>
              <a:t>Traditional deduplication systems focus primarily on storage efficiency, often treating security as a secondary concern. The server’s response to hash queries can unintentionally reveal whether data already exists, creating a side-channel vulnerability for attackers.</a:t>
            </a:r>
          </a:p>
          <a:p>
            <a:r>
              <a:rPr lang="en-US" sz="2000" dirty="0">
                <a:latin typeface="Times New Roman" panose="02020603050405020304" pitchFamily="18" charset="0"/>
                <a:cs typeface="Times New Roman" panose="02020603050405020304" pitchFamily="18" charset="0"/>
              </a:rPr>
              <a:t>This design leads to several well-known attack vectors:</a:t>
            </a:r>
          </a:p>
          <a:p>
            <a:pPr lvl="1"/>
            <a:r>
              <a:rPr lang="en-US" sz="1600" b="1" dirty="0">
                <a:latin typeface="Times New Roman" panose="02020603050405020304" pitchFamily="18" charset="0"/>
                <a:cs typeface="Times New Roman" panose="02020603050405020304" pitchFamily="18" charset="0"/>
              </a:rPr>
              <a:t>Hash Probing:</a:t>
            </a:r>
            <a:r>
              <a:rPr lang="en-US" sz="1600" dirty="0">
                <a:latin typeface="Times New Roman" panose="02020603050405020304" pitchFamily="18" charset="0"/>
                <a:cs typeface="Times New Roman" panose="02020603050405020304" pitchFamily="18" charset="0"/>
              </a:rPr>
              <a:t> Attackers query known hashes to infer stored content </a:t>
            </a:r>
          </a:p>
          <a:p>
            <a:pPr lvl="1"/>
            <a:r>
              <a:rPr lang="en-US" sz="1600" b="1" dirty="0">
                <a:latin typeface="Times New Roman" panose="02020603050405020304" pitchFamily="18" charset="0"/>
                <a:cs typeface="Times New Roman" panose="02020603050405020304" pitchFamily="18" charset="0"/>
              </a:rPr>
              <a:t>Side-Channel Attacks:</a:t>
            </a:r>
            <a:r>
              <a:rPr lang="en-US" sz="1600" dirty="0">
                <a:latin typeface="Times New Roman" panose="02020603050405020304" pitchFamily="18" charset="0"/>
                <a:cs typeface="Times New Roman" panose="02020603050405020304" pitchFamily="18" charset="0"/>
              </a:rPr>
              <a:t> Timing differences expose duplicate vs. unique data </a:t>
            </a:r>
          </a:p>
          <a:p>
            <a:pPr lvl="1"/>
            <a:r>
              <a:rPr lang="en-US" sz="1600" b="1" dirty="0">
                <a:latin typeface="Times New Roman" panose="02020603050405020304" pitchFamily="18" charset="0"/>
                <a:cs typeface="Times New Roman" panose="02020603050405020304" pitchFamily="18" charset="0"/>
              </a:rPr>
              <a:t>Ownership Fraud:</a:t>
            </a:r>
            <a:r>
              <a:rPr lang="en-US" sz="1600" dirty="0">
                <a:latin typeface="Times New Roman" panose="02020603050405020304" pitchFamily="18" charset="0"/>
                <a:cs typeface="Times New Roman" panose="02020603050405020304" pitchFamily="18" charset="0"/>
              </a:rPr>
              <a:t> Claiming file ownership without actually possessing the data </a:t>
            </a:r>
          </a:p>
          <a:p>
            <a:pPr lvl="1"/>
            <a:r>
              <a:rPr lang="en-US" sz="1600" b="1" dirty="0">
                <a:latin typeface="Times New Roman" panose="02020603050405020304" pitchFamily="18" charset="0"/>
                <a:cs typeface="Times New Roman" panose="02020603050405020304" pitchFamily="18" charset="0"/>
              </a:rPr>
              <a:t>Deduplication DoS:</a:t>
            </a:r>
            <a:r>
              <a:rPr lang="en-US" sz="1600" dirty="0">
                <a:latin typeface="Times New Roman" panose="02020603050405020304" pitchFamily="18" charset="0"/>
                <a:cs typeface="Times New Roman" panose="02020603050405020304" pitchFamily="18" charset="0"/>
              </a:rPr>
              <a:t> Flooding the system with duplicate requests to exhaust resources </a:t>
            </a:r>
          </a:p>
          <a:p>
            <a:r>
              <a:rPr lang="en-US" sz="2000" dirty="0">
                <a:latin typeface="Times New Roman" panose="02020603050405020304" pitchFamily="18" charset="0"/>
                <a:cs typeface="Times New Roman" panose="02020603050405020304" pitchFamily="18" charset="0"/>
              </a:rPr>
              <a:t>These challenges highlight that deduplication introduces a security-sensitive protocol layer, not just a storage optimization technique.</a:t>
            </a:r>
          </a:p>
          <a:p>
            <a:r>
              <a:rPr lang="en-US" sz="2000" dirty="0">
                <a:latin typeface="Times New Roman" panose="02020603050405020304" pitchFamily="18" charset="0"/>
                <a:cs typeface="Times New Roman" panose="02020603050405020304" pitchFamily="18" charset="0"/>
              </a:rPr>
              <a:t>Existing solutions like static Proof-of-Ownership (PoW) and network-level IDS address threats in isolation, but lack integrated runtime behavioral monitoring at the deduplication level.</a:t>
            </a:r>
          </a:p>
          <a:p>
            <a:r>
              <a:rPr lang="en-US" sz="2000" dirty="0">
                <a:latin typeface="Times New Roman" panose="02020603050405020304" pitchFamily="18" charset="0"/>
                <a:cs typeface="Times New Roman" panose="02020603050405020304" pitchFamily="18" charset="0"/>
              </a:rPr>
              <a:t>This project proposes a unified cryptographic and behavioral framework, treating secure deduplication as a combined systems, security, and behavioral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a:latin typeface="Times New Roman"/>
                <a:ea typeface="Times New Roman"/>
                <a:cs typeface="Times New Roman"/>
                <a:sym typeface="Times New Roman"/>
              </a:rPr>
              <a:t>LITERATURE SURVEY</a:t>
            </a:r>
            <a:endParaRPr/>
          </a:p>
        </p:txBody>
      </p:sp>
      <p:sp>
        <p:nvSpPr>
          <p:cNvPr id="123" name="Google Shape;12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24" name="Google Shape;12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4</a:t>
            </a:fld>
            <a:endParaRPr/>
          </a:p>
        </p:txBody>
      </p:sp>
      <p:graphicFrame>
        <p:nvGraphicFramePr>
          <p:cNvPr id="125" name="Google Shape;125;p4"/>
          <p:cNvGraphicFramePr/>
          <p:nvPr>
            <p:extLst>
              <p:ext uri="{D42A27DB-BD31-4B8C-83A1-F6EECF244321}">
                <p14:modId xmlns:p14="http://schemas.microsoft.com/office/powerpoint/2010/main" val="2448148002"/>
              </p:ext>
            </p:extLst>
          </p:nvPr>
        </p:nvGraphicFramePr>
        <p:xfrm>
          <a:off x="838200" y="1427545"/>
          <a:ext cx="10999825" cy="5196700"/>
        </p:xfrm>
        <a:graphic>
          <a:graphicData uri="http://schemas.openxmlformats.org/drawingml/2006/table">
            <a:tbl>
              <a:tblPr>
                <a:noFill/>
                <a:tableStyleId>{8ACCE91C-4951-4FE3-B6CA-9ACE4B05DA07}</a:tableStyleId>
              </a:tblPr>
              <a:tblGrid>
                <a:gridCol w="684450">
                  <a:extLst>
                    <a:ext uri="{9D8B030D-6E8A-4147-A177-3AD203B41FA5}">
                      <a16:colId xmlns:a16="http://schemas.microsoft.com/office/drawing/2014/main" val="20000"/>
                    </a:ext>
                  </a:extLst>
                </a:gridCol>
                <a:gridCol w="2850575">
                  <a:extLst>
                    <a:ext uri="{9D8B030D-6E8A-4147-A177-3AD203B41FA5}">
                      <a16:colId xmlns:a16="http://schemas.microsoft.com/office/drawing/2014/main" val="20001"/>
                    </a:ext>
                  </a:extLst>
                </a:gridCol>
                <a:gridCol w="2409650">
                  <a:extLst>
                    <a:ext uri="{9D8B030D-6E8A-4147-A177-3AD203B41FA5}">
                      <a16:colId xmlns:a16="http://schemas.microsoft.com/office/drawing/2014/main" val="20002"/>
                    </a:ext>
                  </a:extLst>
                </a:gridCol>
                <a:gridCol w="2828525">
                  <a:extLst>
                    <a:ext uri="{9D8B030D-6E8A-4147-A177-3AD203B41FA5}">
                      <a16:colId xmlns:a16="http://schemas.microsoft.com/office/drawing/2014/main" val="20003"/>
                    </a:ext>
                  </a:extLst>
                </a:gridCol>
                <a:gridCol w="2226625">
                  <a:extLst>
                    <a:ext uri="{9D8B030D-6E8A-4147-A177-3AD203B41FA5}">
                      <a16:colId xmlns:a16="http://schemas.microsoft.com/office/drawing/2014/main" val="20004"/>
                    </a:ext>
                  </a:extLst>
                </a:gridCol>
              </a:tblGrid>
              <a:tr h="430750">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S. No</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Title</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Journal / Year</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Proposed Work</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Limitations</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1</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A Review on Secure Data Deduplication: Cloud Storage Security Issue</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Journal of King Saud University – Computer and Information Sciences, 2022</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Surveys secure cloud deduplication techniques and threat models.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Analyzes trade-offs between security, storage efficiency, and performance.</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Review-only paper without implementation.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No experimental prototype or deployable framework.</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2</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Decentralized and Secure Deduplication with Dynamic Ownership in MLaaS</a:t>
                      </a:r>
                      <a:endParaRPr sz="1400" b="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Journal of Information Security and Applications, 2023</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Proposes decentralized deduplication with dynamic ownership updates.</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Enhances secure model sharing in MLaaS environments.</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Focused on MLaaS context, not general cloud storage.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Lacks runtime behavioral attack detection.</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3</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A Secure and Efficient Data Deduplication Scheme with Dynamic Ownership Management in Cloud Computing</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IPCCC, 2022</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solidFill>
                            <a:schemeClr val="dk1"/>
                          </a:solidFill>
                          <a:latin typeface="Times New Roman" panose="02020603050405020304" pitchFamily="18" charset="0"/>
                          <a:ea typeface="Times New Roman"/>
                          <a:cs typeface="Times New Roman" panose="02020603050405020304" pitchFamily="18" charset="0"/>
                          <a:sym typeface="Times New Roman"/>
                        </a:rPr>
                        <a:t>• Introduces hybrid-cloud encrypted deduplication.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solidFill>
                            <a:schemeClr val="dk1"/>
                          </a:solidFill>
                          <a:latin typeface="Times New Roman" panose="02020603050405020304" pitchFamily="18" charset="0"/>
                          <a:ea typeface="Times New Roman"/>
                          <a:cs typeface="Times New Roman" panose="02020603050405020304" pitchFamily="18" charset="0"/>
                          <a:sym typeface="Times New Roman"/>
                        </a:rPr>
                        <a:t>• Supports dynamic ownership verification and access control.</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solidFill>
                            <a:schemeClr val="dk1"/>
                          </a:solidFill>
                          <a:latin typeface="Times New Roman" panose="02020603050405020304" pitchFamily="18" charset="0"/>
                          <a:ea typeface="Times New Roman"/>
                          <a:cs typeface="Times New Roman" panose="02020603050405020304" pitchFamily="18" charset="0"/>
                          <a:sym typeface="Times New Roman"/>
                        </a:rPr>
                        <a:t>• No adaptive risk-based monitoring mechanism.</a:t>
                      </a:r>
                      <a:endParaRPr dirty="0">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Arial"/>
                        <a:buNone/>
                      </a:pPr>
                      <a:r>
                        <a:rPr lang="en-IN" sz="1400" b="0" dirty="0">
                          <a:solidFill>
                            <a:schemeClr val="dk1"/>
                          </a:solidFill>
                          <a:latin typeface="Times New Roman" panose="02020603050405020304" pitchFamily="18" charset="0"/>
                          <a:ea typeface="Times New Roman"/>
                          <a:cs typeface="Times New Roman" panose="02020603050405020304" pitchFamily="18" charset="0"/>
                          <a:sym typeface="Times New Roman"/>
                        </a:rPr>
                        <a:t>No machine-learning or deep learning methods used.</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a:latin typeface="Times New Roman"/>
                <a:ea typeface="Times New Roman"/>
                <a:cs typeface="Times New Roman"/>
                <a:sym typeface="Times New Roman"/>
              </a:rPr>
              <a:t>LITERATURE SURVEY</a:t>
            </a:r>
            <a:endParaRPr/>
          </a:p>
        </p:txBody>
      </p:sp>
      <p:sp>
        <p:nvSpPr>
          <p:cNvPr id="131" name="Google Shape;1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32" name="Google Shape;1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5</a:t>
            </a:fld>
            <a:endParaRPr/>
          </a:p>
        </p:txBody>
      </p:sp>
      <p:graphicFrame>
        <p:nvGraphicFramePr>
          <p:cNvPr id="133" name="Google Shape;133;p5"/>
          <p:cNvGraphicFramePr/>
          <p:nvPr>
            <p:extLst>
              <p:ext uri="{D42A27DB-BD31-4B8C-83A1-F6EECF244321}">
                <p14:modId xmlns:p14="http://schemas.microsoft.com/office/powerpoint/2010/main" val="1475686305"/>
              </p:ext>
            </p:extLst>
          </p:nvPr>
        </p:nvGraphicFramePr>
        <p:xfrm>
          <a:off x="838200" y="1427545"/>
          <a:ext cx="10999825" cy="5241842"/>
        </p:xfrm>
        <a:graphic>
          <a:graphicData uri="http://schemas.openxmlformats.org/drawingml/2006/table">
            <a:tbl>
              <a:tblPr>
                <a:noFill/>
                <a:tableStyleId>{8ACCE91C-4951-4FE3-B6CA-9ACE4B05DA07}</a:tableStyleId>
              </a:tblPr>
              <a:tblGrid>
                <a:gridCol w="684450">
                  <a:extLst>
                    <a:ext uri="{9D8B030D-6E8A-4147-A177-3AD203B41FA5}">
                      <a16:colId xmlns:a16="http://schemas.microsoft.com/office/drawing/2014/main" val="20000"/>
                    </a:ext>
                  </a:extLst>
                </a:gridCol>
                <a:gridCol w="2850575">
                  <a:extLst>
                    <a:ext uri="{9D8B030D-6E8A-4147-A177-3AD203B41FA5}">
                      <a16:colId xmlns:a16="http://schemas.microsoft.com/office/drawing/2014/main" val="20001"/>
                    </a:ext>
                  </a:extLst>
                </a:gridCol>
                <a:gridCol w="2409650">
                  <a:extLst>
                    <a:ext uri="{9D8B030D-6E8A-4147-A177-3AD203B41FA5}">
                      <a16:colId xmlns:a16="http://schemas.microsoft.com/office/drawing/2014/main" val="20002"/>
                    </a:ext>
                  </a:extLst>
                </a:gridCol>
                <a:gridCol w="2828525">
                  <a:extLst>
                    <a:ext uri="{9D8B030D-6E8A-4147-A177-3AD203B41FA5}">
                      <a16:colId xmlns:a16="http://schemas.microsoft.com/office/drawing/2014/main" val="20003"/>
                    </a:ext>
                  </a:extLst>
                </a:gridCol>
                <a:gridCol w="2226625">
                  <a:extLst>
                    <a:ext uri="{9D8B030D-6E8A-4147-A177-3AD203B41FA5}">
                      <a16:colId xmlns:a16="http://schemas.microsoft.com/office/drawing/2014/main" val="20004"/>
                    </a:ext>
                  </a:extLst>
                </a:gridCol>
              </a:tblGrid>
              <a:tr h="430750">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S. No</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Title</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Journal / Year</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Proposed Work</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Limitations</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4</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Privacy and Accuracy-Aware AI/ML Model Deduplication</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Proceedings of the ACM on Management of Data (SIGMOD), 2025</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Studies deduplication of AI/ML models under privacy constraints.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Balances accuracy preservation with storage reduction.</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Focused on ML model deduplication.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Not designed for secure file/chunk-level cloud storage.</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7780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5</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Secure and Efficient Deduplication for Cloud Storage with Dynamic Ownership Management</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Applied Sciences, 2023</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Implements secure encrypted deduplication with ownership updates.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Improves storage efficiency while maintaining confidentiality.</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Assumes trusted cryptographic components.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Limited runtime behavioral defense.</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6</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DIADD: Secure Deduplication and Efficient Data Integrity Auditing With Data Dynamics for Cloud Storage</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IEEE Transactions on Network and Service Management, 2025</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Integrates deduplication with dynamic data integrity auditing.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Supports secure updates and data modifications.</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 Strong focus on auditing over attack mitigation. </a:t>
                      </a:r>
                      <a:endParaRPr dirty="0">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 No behaviour-driven adaptive control mechanism.</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a:latin typeface="Times New Roman"/>
                <a:ea typeface="Times New Roman"/>
                <a:cs typeface="Times New Roman"/>
                <a:sym typeface="Times New Roman"/>
              </a:rPr>
              <a:t>LITERATURE SURVEY</a:t>
            </a:r>
            <a:endParaRPr/>
          </a:p>
        </p:txBody>
      </p:sp>
      <p:sp>
        <p:nvSpPr>
          <p:cNvPr id="139" name="Google Shape;13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40" name="Google Shape;14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6</a:t>
            </a:fld>
            <a:endParaRPr/>
          </a:p>
        </p:txBody>
      </p:sp>
      <p:graphicFrame>
        <p:nvGraphicFramePr>
          <p:cNvPr id="141" name="Google Shape;141;p6"/>
          <p:cNvGraphicFramePr/>
          <p:nvPr>
            <p:extLst>
              <p:ext uri="{D42A27DB-BD31-4B8C-83A1-F6EECF244321}">
                <p14:modId xmlns:p14="http://schemas.microsoft.com/office/powerpoint/2010/main" val="4170710765"/>
              </p:ext>
            </p:extLst>
          </p:nvPr>
        </p:nvGraphicFramePr>
        <p:xfrm>
          <a:off x="838200" y="1427545"/>
          <a:ext cx="10999825" cy="5196700"/>
        </p:xfrm>
        <a:graphic>
          <a:graphicData uri="http://schemas.openxmlformats.org/drawingml/2006/table">
            <a:tbl>
              <a:tblPr>
                <a:noFill/>
                <a:tableStyleId>{8ACCE91C-4951-4FE3-B6CA-9ACE4B05DA07}</a:tableStyleId>
              </a:tblPr>
              <a:tblGrid>
                <a:gridCol w="684450">
                  <a:extLst>
                    <a:ext uri="{9D8B030D-6E8A-4147-A177-3AD203B41FA5}">
                      <a16:colId xmlns:a16="http://schemas.microsoft.com/office/drawing/2014/main" val="20000"/>
                    </a:ext>
                  </a:extLst>
                </a:gridCol>
                <a:gridCol w="2850575">
                  <a:extLst>
                    <a:ext uri="{9D8B030D-6E8A-4147-A177-3AD203B41FA5}">
                      <a16:colId xmlns:a16="http://schemas.microsoft.com/office/drawing/2014/main" val="20001"/>
                    </a:ext>
                  </a:extLst>
                </a:gridCol>
                <a:gridCol w="2409650">
                  <a:extLst>
                    <a:ext uri="{9D8B030D-6E8A-4147-A177-3AD203B41FA5}">
                      <a16:colId xmlns:a16="http://schemas.microsoft.com/office/drawing/2014/main" val="20002"/>
                    </a:ext>
                  </a:extLst>
                </a:gridCol>
                <a:gridCol w="2828525">
                  <a:extLst>
                    <a:ext uri="{9D8B030D-6E8A-4147-A177-3AD203B41FA5}">
                      <a16:colId xmlns:a16="http://schemas.microsoft.com/office/drawing/2014/main" val="20003"/>
                    </a:ext>
                  </a:extLst>
                </a:gridCol>
                <a:gridCol w="2226625">
                  <a:extLst>
                    <a:ext uri="{9D8B030D-6E8A-4147-A177-3AD203B41FA5}">
                      <a16:colId xmlns:a16="http://schemas.microsoft.com/office/drawing/2014/main" val="20004"/>
                    </a:ext>
                  </a:extLst>
                </a:gridCol>
              </a:tblGrid>
              <a:tr h="430750">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S. No</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Title</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Journal / Year</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Proposed Work</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Limitations</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7</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Enabling Secure Auditing and Deduplication in Multi-Replica Cloud Storage</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IEEE Transactions on Dependable and Secure Computing, 2025</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Combines secure deduplication with auditing in multi-replica systems.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Enhances reliability and data verification.</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Multi-replica specific design complexity.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Does not address behavioral attack detection.</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8</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Secure Deduplication and Cloud Storage Auditing With Efficient Dynamic Ownership Management and Data Dynamics</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IEEE Transactions on Network and Service Management, 2025</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Provides end-to-end secure deduplication with auditing.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Supports dynamic ownership and data updates.</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Protocol-heavy and complex implementation.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No adaptive PoW or risk-based throttling.</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9</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A Lightweight Encrypted Deduplication Scheme Supporting Backup</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Journal of Systems Architecture, 2023</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Designs lightweight encrypted deduplication for backup workloads.</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Reduces storage overhead in backup systems.</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 Backup-centric scope. </a:t>
                      </a:r>
                      <a:endParaRPr dirty="0">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 Limited ownership and adversarial runtime protection.</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a:latin typeface="Times New Roman"/>
                <a:ea typeface="Times New Roman"/>
                <a:cs typeface="Times New Roman"/>
                <a:sym typeface="Times New Roman"/>
              </a:rPr>
              <a:t>LITERATURE SURVEY</a:t>
            </a:r>
            <a:endParaRPr/>
          </a:p>
        </p:txBody>
      </p:sp>
      <p:sp>
        <p:nvSpPr>
          <p:cNvPr id="147" name="Google Shape;1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48" name="Google Shape;1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7</a:t>
            </a:fld>
            <a:endParaRPr/>
          </a:p>
        </p:txBody>
      </p:sp>
      <p:graphicFrame>
        <p:nvGraphicFramePr>
          <p:cNvPr id="149" name="Google Shape;149;p7"/>
          <p:cNvGraphicFramePr/>
          <p:nvPr>
            <p:extLst>
              <p:ext uri="{D42A27DB-BD31-4B8C-83A1-F6EECF244321}">
                <p14:modId xmlns:p14="http://schemas.microsoft.com/office/powerpoint/2010/main" val="3234906508"/>
              </p:ext>
            </p:extLst>
          </p:nvPr>
        </p:nvGraphicFramePr>
        <p:xfrm>
          <a:off x="838200" y="1427545"/>
          <a:ext cx="10999825" cy="5241842"/>
        </p:xfrm>
        <a:graphic>
          <a:graphicData uri="http://schemas.openxmlformats.org/drawingml/2006/table">
            <a:tbl>
              <a:tblPr>
                <a:noFill/>
                <a:tableStyleId>{8ACCE91C-4951-4FE3-B6CA-9ACE4B05DA07}</a:tableStyleId>
              </a:tblPr>
              <a:tblGrid>
                <a:gridCol w="684450">
                  <a:extLst>
                    <a:ext uri="{9D8B030D-6E8A-4147-A177-3AD203B41FA5}">
                      <a16:colId xmlns:a16="http://schemas.microsoft.com/office/drawing/2014/main" val="20000"/>
                    </a:ext>
                  </a:extLst>
                </a:gridCol>
                <a:gridCol w="2850575">
                  <a:extLst>
                    <a:ext uri="{9D8B030D-6E8A-4147-A177-3AD203B41FA5}">
                      <a16:colId xmlns:a16="http://schemas.microsoft.com/office/drawing/2014/main" val="20001"/>
                    </a:ext>
                  </a:extLst>
                </a:gridCol>
                <a:gridCol w="2409650">
                  <a:extLst>
                    <a:ext uri="{9D8B030D-6E8A-4147-A177-3AD203B41FA5}">
                      <a16:colId xmlns:a16="http://schemas.microsoft.com/office/drawing/2014/main" val="20002"/>
                    </a:ext>
                  </a:extLst>
                </a:gridCol>
                <a:gridCol w="2828525">
                  <a:extLst>
                    <a:ext uri="{9D8B030D-6E8A-4147-A177-3AD203B41FA5}">
                      <a16:colId xmlns:a16="http://schemas.microsoft.com/office/drawing/2014/main" val="20003"/>
                    </a:ext>
                  </a:extLst>
                </a:gridCol>
                <a:gridCol w="2226625">
                  <a:extLst>
                    <a:ext uri="{9D8B030D-6E8A-4147-A177-3AD203B41FA5}">
                      <a16:colId xmlns:a16="http://schemas.microsoft.com/office/drawing/2014/main" val="20004"/>
                    </a:ext>
                  </a:extLst>
                </a:gridCol>
              </a:tblGrid>
              <a:tr h="430750">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S. No</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Title</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Journal / Year</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Proposed Work</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Limitations</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10</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A Secure Client-Side Deduplication Scheme Based on Updatable Server-Aided Encryption</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IEEE Transactions on Cloud Computing, 2023</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Proposes client-side encrypted deduplication with server-aided encryption.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Incorporates secure Proof-of-Ownership verification.</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Strong dependency on server-aided encryption.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Lacks system-level behavioral monitoring.</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11</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ADD-QIA: An Adaptive Data Deduplication Framework</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Research Gate,2022</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Introduces adaptive optimization-based deduplication framework.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Adjusts deduplication policies dynamically.</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No behaviour monitoring</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No detailed security attack modeling.</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12</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FuzzyDedup: Secure Fuzzy Deduplication for Cloud Storage</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IEEE Transactions on Dependable and Secure Computing, 2023</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Enables similarity-aware encrypted deduplication.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Improves storage efficiency for near-duplicate files.</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 High computational and indexing complexity. </a:t>
                      </a:r>
                      <a:endParaRPr dirty="0">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 Similarity thresholds may cause operational trade-offs.</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a:latin typeface="Times New Roman"/>
                <a:ea typeface="Times New Roman"/>
                <a:cs typeface="Times New Roman"/>
                <a:sym typeface="Times New Roman"/>
              </a:rPr>
              <a:t>LITERATURE SURVEY</a:t>
            </a:r>
            <a:endParaRPr/>
          </a:p>
        </p:txBody>
      </p:sp>
      <p:sp>
        <p:nvSpPr>
          <p:cNvPr id="155" name="Google Shape;15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56" name="Google Shape;15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8</a:t>
            </a:fld>
            <a:endParaRPr/>
          </a:p>
        </p:txBody>
      </p:sp>
      <p:graphicFrame>
        <p:nvGraphicFramePr>
          <p:cNvPr id="157" name="Google Shape;157;p8"/>
          <p:cNvGraphicFramePr/>
          <p:nvPr>
            <p:extLst>
              <p:ext uri="{D42A27DB-BD31-4B8C-83A1-F6EECF244321}">
                <p14:modId xmlns:p14="http://schemas.microsoft.com/office/powerpoint/2010/main" val="141608908"/>
              </p:ext>
            </p:extLst>
          </p:nvPr>
        </p:nvGraphicFramePr>
        <p:xfrm>
          <a:off x="838200" y="1427545"/>
          <a:ext cx="10999825" cy="5196700"/>
        </p:xfrm>
        <a:graphic>
          <a:graphicData uri="http://schemas.openxmlformats.org/drawingml/2006/table">
            <a:tbl>
              <a:tblPr>
                <a:noFill/>
                <a:tableStyleId>{8ACCE91C-4951-4FE3-B6CA-9ACE4B05DA07}</a:tableStyleId>
              </a:tblPr>
              <a:tblGrid>
                <a:gridCol w="684450">
                  <a:extLst>
                    <a:ext uri="{9D8B030D-6E8A-4147-A177-3AD203B41FA5}">
                      <a16:colId xmlns:a16="http://schemas.microsoft.com/office/drawing/2014/main" val="20000"/>
                    </a:ext>
                  </a:extLst>
                </a:gridCol>
                <a:gridCol w="2850575">
                  <a:extLst>
                    <a:ext uri="{9D8B030D-6E8A-4147-A177-3AD203B41FA5}">
                      <a16:colId xmlns:a16="http://schemas.microsoft.com/office/drawing/2014/main" val="20001"/>
                    </a:ext>
                  </a:extLst>
                </a:gridCol>
                <a:gridCol w="2409650">
                  <a:extLst>
                    <a:ext uri="{9D8B030D-6E8A-4147-A177-3AD203B41FA5}">
                      <a16:colId xmlns:a16="http://schemas.microsoft.com/office/drawing/2014/main" val="20002"/>
                    </a:ext>
                  </a:extLst>
                </a:gridCol>
                <a:gridCol w="2828525">
                  <a:extLst>
                    <a:ext uri="{9D8B030D-6E8A-4147-A177-3AD203B41FA5}">
                      <a16:colId xmlns:a16="http://schemas.microsoft.com/office/drawing/2014/main" val="20003"/>
                    </a:ext>
                  </a:extLst>
                </a:gridCol>
                <a:gridCol w="2226625">
                  <a:extLst>
                    <a:ext uri="{9D8B030D-6E8A-4147-A177-3AD203B41FA5}">
                      <a16:colId xmlns:a16="http://schemas.microsoft.com/office/drawing/2014/main" val="20004"/>
                    </a:ext>
                  </a:extLst>
                </a:gridCol>
              </a:tblGrid>
              <a:tr h="430750">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S. No</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Title</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Journal / Year</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Proposed Work</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1400" b="1">
                          <a:latin typeface="Times New Roman" panose="02020603050405020304" pitchFamily="18" charset="0"/>
                          <a:ea typeface="Times New Roman"/>
                          <a:cs typeface="Times New Roman" panose="02020603050405020304" pitchFamily="18" charset="0"/>
                          <a:sym typeface="Times New Roman"/>
                        </a:rPr>
                        <a:t>Limitations</a:t>
                      </a:r>
                      <a:endParaRPr sz="120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13</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Leveraging Data Deduplication Approaches in the Cloud Storage: A Succinct Review</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Procedia Computer Science, 2025</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Summarizes modern deduplication strategies and techniques.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Discusses design considerations in cloud environments.</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Review-only article.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No implementation or experimental validation.</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14</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err="1">
                          <a:latin typeface="Times New Roman" panose="02020603050405020304" pitchFamily="18" charset="0"/>
                          <a:ea typeface="Times New Roman"/>
                          <a:cs typeface="Times New Roman" panose="02020603050405020304" pitchFamily="18" charset="0"/>
                          <a:sym typeface="Times New Roman"/>
                        </a:rPr>
                        <a:t>LSDedup</a:t>
                      </a:r>
                      <a:r>
                        <a:rPr lang="en-IN" sz="1400" b="0" dirty="0">
                          <a:latin typeface="Times New Roman" panose="02020603050405020304" pitchFamily="18" charset="0"/>
                          <a:ea typeface="Times New Roman"/>
                          <a:cs typeface="Times New Roman" panose="02020603050405020304" pitchFamily="18" charset="0"/>
                          <a:sym typeface="Times New Roman"/>
                        </a:rPr>
                        <a:t>: Layered Secure Deduplication for Cloud Storage</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IEEE Transactions on Computers, 2024</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Proposes layered encryption-based deduplication architecture.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Balances confidentiality with storage efficiency.</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Increased architectural complexity.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No adaptive runtime risk control.</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588650">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15</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Similarity-Based Secure Deduplication for IIoT Cloud Management System</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IEEE Transactions on Dependable and Secure Computing, 2024</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Applies similarity-based secure deduplication in IIoT systems. </a:t>
                      </a:r>
                      <a:endParaRPr>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a:latin typeface="Times New Roman" panose="02020603050405020304" pitchFamily="18" charset="0"/>
                          <a:ea typeface="Times New Roman"/>
                          <a:cs typeface="Times New Roman" panose="02020603050405020304" pitchFamily="18" charset="0"/>
                          <a:sym typeface="Times New Roman"/>
                        </a:rPr>
                        <a:t>• Improves deduplication ratio for industrial cloud data.</a:t>
                      </a:r>
                      <a:endParaRPr>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 Domain-specific to </a:t>
                      </a:r>
                      <a:r>
                        <a:rPr lang="en-IN" sz="1400" b="0" dirty="0" err="1">
                          <a:latin typeface="Times New Roman" panose="02020603050405020304" pitchFamily="18" charset="0"/>
                          <a:ea typeface="Times New Roman"/>
                          <a:cs typeface="Times New Roman" panose="02020603050405020304" pitchFamily="18" charset="0"/>
                          <a:sym typeface="Times New Roman"/>
                        </a:rPr>
                        <a:t>IIoT</a:t>
                      </a:r>
                      <a:r>
                        <a:rPr lang="en-IN" sz="1400" b="0" dirty="0">
                          <a:latin typeface="Times New Roman" panose="02020603050405020304" pitchFamily="18" charset="0"/>
                          <a:ea typeface="Times New Roman"/>
                          <a:cs typeface="Times New Roman" panose="02020603050405020304" pitchFamily="18" charset="0"/>
                          <a:sym typeface="Times New Roman"/>
                        </a:rPr>
                        <a:t> environments. </a:t>
                      </a:r>
                      <a:endParaRPr dirty="0">
                        <a:latin typeface="Times New Roman" panose="02020603050405020304" pitchFamily="18" charset="0"/>
                        <a:cs typeface="Times New Roman" panose="02020603050405020304" pitchFamily="18" charset="0"/>
                      </a:endParaRPr>
                    </a:p>
                    <a:p>
                      <a:pPr marL="0" marR="0" lvl="0" indent="0" algn="l" rtl="0">
                        <a:lnSpc>
                          <a:spcPct val="107000"/>
                        </a:lnSpc>
                        <a:spcBef>
                          <a:spcPts val="1100"/>
                        </a:spcBef>
                        <a:spcAft>
                          <a:spcPts val="0"/>
                        </a:spcAft>
                        <a:buClr>
                          <a:schemeClr val="dk1"/>
                        </a:buClr>
                        <a:buSzPts val="1400"/>
                        <a:buFont typeface="Times New Roman"/>
                        <a:buNone/>
                      </a:pPr>
                      <a:r>
                        <a:rPr lang="en-IN" sz="1400" b="0" dirty="0">
                          <a:latin typeface="Times New Roman" panose="02020603050405020304" pitchFamily="18" charset="0"/>
                          <a:ea typeface="Times New Roman"/>
                          <a:cs typeface="Times New Roman" panose="02020603050405020304" pitchFamily="18" charset="0"/>
                          <a:sym typeface="Times New Roman"/>
                        </a:rPr>
                        <a:t>• Limited applicability to general enterprise cloud storage.</a:t>
                      </a:r>
                      <a:endParaRPr dirty="0">
                        <a:latin typeface="Times New Roman" panose="02020603050405020304" pitchFamily="18" charset="0"/>
                        <a:cs typeface="Times New Roman" panose="02020603050405020304" pitchFamily="18" charset="0"/>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a:latin typeface="Times New Roman"/>
                <a:ea typeface="Times New Roman"/>
                <a:cs typeface="Times New Roman"/>
                <a:sym typeface="Times New Roman"/>
              </a:rPr>
              <a:t>OBJECTIVES</a:t>
            </a:r>
            <a:endParaRPr/>
          </a:p>
        </p:txBody>
      </p:sp>
      <p:sp>
        <p:nvSpPr>
          <p:cNvPr id="163" name="Google Shape;1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64" name="Google Shape;1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9</a:t>
            </a:fld>
            <a:endParaRPr/>
          </a:p>
        </p:txBody>
      </p:sp>
      <p:sp>
        <p:nvSpPr>
          <p:cNvPr id="165" name="Google Shape;165;p9"/>
          <p:cNvSpPr txBox="1">
            <a:spLocks noGrp="1"/>
          </p:cNvSpPr>
          <p:nvPr>
            <p:ph type="body" idx="1"/>
          </p:nvPr>
        </p:nvSpPr>
        <p:spPr>
          <a:xfrm>
            <a:off x="838200" y="1541135"/>
            <a:ext cx="11308772" cy="4739719"/>
          </a:xfrm>
          <a:prstGeom prst="rect">
            <a:avLst/>
          </a:prstGeom>
          <a:noFill/>
          <a:ln>
            <a:noFill/>
          </a:ln>
        </p:spPr>
        <p:txBody>
          <a:bodyPr spcFirstLastPara="1" wrap="square" lIns="91425" tIns="45700" rIns="91425" bIns="45700" anchor="ctr" anchorCtr="0">
            <a:spAutoFit/>
          </a:bodyPr>
          <a:lstStyle/>
          <a:p>
            <a:pPr marL="342900">
              <a:spcBef>
                <a:spcPts val="0"/>
              </a:spcBef>
              <a:buSzPts val="1700"/>
            </a:pPr>
            <a:r>
              <a:rPr lang="en-IN" sz="2000" dirty="0">
                <a:latin typeface="Times New Roman"/>
                <a:ea typeface="Times New Roman"/>
                <a:cs typeface="Times New Roman"/>
                <a:sym typeface="Times New Roman"/>
              </a:rPr>
              <a:t>To analyse security vulnerabilities in cloud data deduplication and characterise attack models (hash probing, side-channel, ownership fraud, deduplication DoS)</a:t>
            </a:r>
            <a:endParaRPr sz="2000" dirty="0"/>
          </a:p>
          <a:p>
            <a:pPr marL="342900">
              <a:buSzPts val="1700"/>
            </a:pPr>
            <a:r>
              <a:rPr lang="en-IN" sz="2000" dirty="0">
                <a:latin typeface="Times New Roman"/>
                <a:ea typeface="Times New Roman"/>
                <a:cs typeface="Times New Roman"/>
                <a:sym typeface="Times New Roman"/>
              </a:rPr>
              <a:t>To implement HMAC-SHA256 secret-assisted token generation and HKDF-AES-256-GCM per-chunk encryption, eliminating the external key-server dependency of REFA</a:t>
            </a:r>
            <a:endParaRPr sz="2000" dirty="0"/>
          </a:p>
          <a:p>
            <a:pPr marL="342900">
              <a:buSzPts val="1700"/>
            </a:pPr>
            <a:r>
              <a:rPr lang="en-IN" sz="2000" dirty="0">
                <a:latin typeface="Times New Roman"/>
                <a:ea typeface="Times New Roman"/>
                <a:cs typeface="Times New Roman"/>
                <a:sym typeface="Times New Roman"/>
              </a:rPr>
              <a:t>To design a telemetry and feature extraction pipeline capturing twelve request-level behavioural signals per client session in real time</a:t>
            </a:r>
            <a:endParaRPr sz="2000" dirty="0"/>
          </a:p>
          <a:p>
            <a:pPr marL="342900">
              <a:buSzPts val="1700"/>
            </a:pPr>
            <a:r>
              <a:rPr lang="en-IN" sz="2000" dirty="0">
                <a:latin typeface="Times New Roman"/>
                <a:ea typeface="Times New Roman"/>
                <a:cs typeface="Times New Roman"/>
                <a:sym typeface="Times New Roman"/>
              </a:rPr>
              <a:t>To develop a supervised Random Forest classifier (120 estimators, depth 4) for multiclass attack attribution across four behavioural classes: normal, hash probing, ownership fraud, deduplication DoS</a:t>
            </a:r>
            <a:endParaRPr sz="2000" dirty="0"/>
          </a:p>
          <a:p>
            <a:pPr marL="342900">
              <a:buSzPts val="1700"/>
            </a:pPr>
            <a:r>
              <a:rPr lang="en-IN" sz="2000" dirty="0">
                <a:latin typeface="Times New Roman"/>
                <a:ea typeface="Times New Roman"/>
                <a:cs typeface="Times New Roman"/>
                <a:sym typeface="Times New Roman"/>
              </a:rPr>
              <a:t>To develop an unsupervised One-Class SVM anomaly detection module for cold-start and zero-day attack scenarios</a:t>
            </a:r>
            <a:endParaRPr sz="2000" dirty="0"/>
          </a:p>
          <a:p>
            <a:pPr marL="342900">
              <a:buSzPts val="1700"/>
            </a:pPr>
            <a:r>
              <a:rPr lang="en-IN" sz="2000" dirty="0">
                <a:latin typeface="Times New Roman"/>
                <a:ea typeface="Times New Roman"/>
                <a:cs typeface="Times New Roman"/>
                <a:sym typeface="Times New Roman"/>
              </a:rPr>
              <a:t>To implement an Adaptive PoW mechanism that calibrates challenge difficulty dynamically based on client risk score, reputation, and duplicate request pressure</a:t>
            </a:r>
            <a:endParaRPr sz="2000" dirty="0"/>
          </a:p>
          <a:p>
            <a:pPr marL="342900">
              <a:buSzPts val="1700"/>
            </a:pPr>
            <a:r>
              <a:rPr lang="en-IN" sz="2000" dirty="0">
                <a:latin typeface="Times New Roman"/>
                <a:ea typeface="Times New Roman"/>
                <a:cs typeface="Times New Roman"/>
                <a:sym typeface="Times New Roman"/>
              </a:rPr>
              <a:t>To evaluate the integrated framework on 2200-window simulated stress-test dataset calibrated against Azure trace windows, reporting detection accuracy, storage efficiency, and system overhead</a:t>
            </a:r>
            <a:endParaRPr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ARCHITECTURE DIAGRAM</a:t>
            </a:r>
            <a:endParaRPr sz="4000" b="1" dirty="0">
              <a:latin typeface="Times New Roman"/>
              <a:ea typeface="Times New Roman"/>
              <a:cs typeface="Times New Roman"/>
              <a:sym typeface="Times New Roman"/>
            </a:endParaRPr>
          </a:p>
        </p:txBody>
      </p:sp>
      <p:sp>
        <p:nvSpPr>
          <p:cNvPr id="171" name="Google Shape;1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72" name="Google Shape;1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pic>
        <p:nvPicPr>
          <p:cNvPr id="2" name="Graphic 5">
            <a:extLst>
              <a:ext uri="{FF2B5EF4-FFF2-40B4-BE49-F238E27FC236}">
                <a16:creationId xmlns:a16="http://schemas.microsoft.com/office/drawing/2014/main" id="{B66FAB1E-A9F7-0559-A2B0-7C41DA3F1A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0206" y="1464330"/>
            <a:ext cx="8625850" cy="48168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1"/>
          <p:cNvSpPr txBox="1">
            <a:spLocks noGrp="1"/>
          </p:cNvSpPr>
          <p:nvPr>
            <p:ph type="title"/>
          </p:nvPr>
        </p:nvSpPr>
        <p:spPr>
          <a:xfrm>
            <a:off x="1034845" y="2477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INTERFACE MODULE</a:t>
            </a:r>
            <a:br>
              <a:rPr lang="en-IN" sz="2800" b="1" dirty="0">
                <a:latin typeface="Times New Roman"/>
                <a:ea typeface="Times New Roman"/>
                <a:cs typeface="Times New Roman"/>
                <a:sym typeface="Times New Roman"/>
              </a:rPr>
            </a:br>
            <a:endParaRPr sz="2800" dirty="0">
              <a:latin typeface="Times New Roman"/>
              <a:ea typeface="Times New Roman"/>
              <a:cs typeface="Times New Roman"/>
              <a:sym typeface="Times New Roman"/>
            </a:endParaRPr>
          </a:p>
        </p:txBody>
      </p:sp>
      <p:sp>
        <p:nvSpPr>
          <p:cNvPr id="179" name="Google Shape;17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80" name="Google Shape;18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181" name="Google Shape;181;p11"/>
          <p:cNvSpPr txBox="1"/>
          <p:nvPr/>
        </p:nvSpPr>
        <p:spPr>
          <a:xfrm>
            <a:off x="914400" y="1241146"/>
            <a:ext cx="11110452" cy="470894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Single entry point for all client interactions; normalizes request semantics, enforces first-layer policy checks, and unifies security observability with storage functionality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Exposes a RESTful </a:t>
            </a:r>
            <a:r>
              <a:rPr lang="en-IN" sz="2000" b="0" i="0" u="none" strike="noStrike" cap="none" dirty="0" err="1">
                <a:solidFill>
                  <a:schemeClr val="dk1"/>
                </a:solidFill>
                <a:latin typeface="Times New Roman"/>
                <a:ea typeface="Times New Roman"/>
                <a:cs typeface="Times New Roman"/>
                <a:sym typeface="Times New Roman"/>
              </a:rPr>
              <a:t>FastAPI</a:t>
            </a:r>
            <a:r>
              <a:rPr lang="en-IN" sz="2000" b="0" i="0" u="none" strike="noStrike" cap="none" dirty="0">
                <a:solidFill>
                  <a:schemeClr val="dk1"/>
                </a:solidFill>
                <a:latin typeface="Times New Roman"/>
                <a:ea typeface="Times New Roman"/>
                <a:cs typeface="Times New Roman"/>
                <a:sym typeface="Times New Roman"/>
              </a:rPr>
              <a:t> (</a:t>
            </a:r>
            <a:r>
              <a:rPr lang="en-IN" sz="2000" b="0" i="0" u="none" strike="noStrike" cap="none" dirty="0" err="1">
                <a:solidFill>
                  <a:schemeClr val="dk1"/>
                </a:solidFill>
                <a:latin typeface="Times New Roman"/>
                <a:ea typeface="Times New Roman"/>
                <a:cs typeface="Times New Roman"/>
                <a:sym typeface="Times New Roman"/>
              </a:rPr>
              <a:t>Uvicorn</a:t>
            </a:r>
            <a:r>
              <a:rPr lang="en-IN" sz="2000" b="0" i="0" u="none" strike="noStrike" cap="none" dirty="0">
                <a:solidFill>
                  <a:schemeClr val="dk1"/>
                </a:solidFill>
                <a:latin typeface="Times New Roman"/>
                <a:ea typeface="Times New Roman"/>
                <a:cs typeface="Times New Roman"/>
                <a:sym typeface="Times New Roman"/>
              </a:rPr>
              <a:t>) with per-client API key authentication on every request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Three endpoints: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/upload → file ingestion with deduplication and PoW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/pow/challenge → adaptive challenge retrieval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/pow/verify → response verification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Retrieves active client policy from Redis policy store before any backend processing; supports ALLOW, RATE_LIMIT, and BLOCK decisions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Telemetry Logger captures every request event, creating both a storage action and an observation record for behavioural analysis: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Records timestamps, client ID, request type, chunk counts, and PoW results per request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Logs policy decisions; serves as synchronization point between user interaction, enforcement, and behavioural evidence collection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Stores data in CSV and SQLite for feature extraction</a:t>
            </a:r>
            <a:endParaRP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2"/>
          <p:cNvSpPr txBox="1">
            <a:spLocks noGrp="1"/>
          </p:cNvSpPr>
          <p:nvPr>
            <p:ph type="title"/>
          </p:nvPr>
        </p:nvSpPr>
        <p:spPr>
          <a:xfrm>
            <a:off x="926690" y="444350"/>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ct val="100000"/>
              <a:buFont typeface="Times New Roman"/>
              <a:buNone/>
            </a:pPr>
            <a:r>
              <a:rPr lang="en-IN" sz="3600" b="1" dirty="0">
                <a:latin typeface="Times New Roman"/>
                <a:ea typeface="Times New Roman"/>
                <a:cs typeface="Times New Roman"/>
                <a:sym typeface="Times New Roman"/>
              </a:rPr>
              <a:t>CORE DEDUPLICATION MODULE</a:t>
            </a:r>
            <a:br>
              <a:rPr lang="en-IN" sz="3600" b="1" dirty="0">
                <a:latin typeface="Times New Roman"/>
                <a:ea typeface="Times New Roman"/>
                <a:cs typeface="Times New Roman"/>
                <a:sym typeface="Times New Roman"/>
              </a:rPr>
            </a:br>
            <a:endParaRPr sz="3600" dirty="0">
              <a:latin typeface="Times New Roman"/>
              <a:ea typeface="Times New Roman"/>
              <a:cs typeface="Times New Roman"/>
              <a:sym typeface="Times New Roman"/>
            </a:endParaRPr>
          </a:p>
        </p:txBody>
      </p:sp>
      <p:sp>
        <p:nvSpPr>
          <p:cNvPr id="187" name="Google Shape;18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88" name="Google Shape;18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mc:AlternateContent xmlns:mc="http://schemas.openxmlformats.org/markup-compatibility/2006">
        <mc:Choice xmlns:a14="http://schemas.microsoft.com/office/drawing/2010/main" Requires="a14">
          <p:sp>
            <p:nvSpPr>
              <p:cNvPr id="189" name="Google Shape;189;p12"/>
              <p:cNvSpPr txBox="1"/>
              <p:nvPr/>
            </p:nvSpPr>
            <p:spPr>
              <a:xfrm>
                <a:off x="838200" y="1214418"/>
                <a:ext cx="11110452" cy="532449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Implements five-stage deduplication pipeline: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err="1">
                    <a:solidFill>
                      <a:schemeClr val="dk1"/>
                    </a:solidFill>
                    <a:latin typeface="Times New Roman"/>
                    <a:ea typeface="Times New Roman"/>
                    <a:cs typeface="Times New Roman"/>
                    <a:sym typeface="Times New Roman"/>
                  </a:rPr>
                  <a:t>FastCDC</a:t>
                </a:r>
                <a:r>
                  <a:rPr lang="en-IN" sz="2000" b="0" i="0" u="none" strike="noStrike" cap="none" dirty="0">
                    <a:solidFill>
                      <a:schemeClr val="dk1"/>
                    </a:solidFill>
                    <a:latin typeface="Times New Roman"/>
                    <a:ea typeface="Times New Roman"/>
                    <a:cs typeface="Times New Roman"/>
                    <a:sym typeface="Times New Roman"/>
                  </a:rPr>
                  <a:t> content-defined chunking (gear-hash rolling window, default 4 KB </a:t>
                </a:r>
                <a:r>
                  <a:rPr lang="en-IN" sz="2000" b="0" i="0" u="none" strike="noStrike" cap="none" dirty="0" err="1">
                    <a:solidFill>
                      <a:schemeClr val="dk1"/>
                    </a:solidFill>
                    <a:latin typeface="Times New Roman"/>
                    <a:ea typeface="Times New Roman"/>
                    <a:cs typeface="Times New Roman"/>
                    <a:sym typeface="Times New Roman"/>
                  </a:rPr>
                  <a:t>avg</a:t>
                </a:r>
                <a:r>
                  <a:rPr lang="en-IN" sz="2000" b="0" i="0" u="none" strike="noStrike" cap="none" dirty="0">
                    <a:solidFill>
                      <a:schemeClr val="dk1"/>
                    </a:solidFill>
                    <a:latin typeface="Times New Roman"/>
                    <a:ea typeface="Times New Roman"/>
                    <a:cs typeface="Times New Roman"/>
                    <a:sym typeface="Times New Roman"/>
                  </a:rPr>
                  <a:t> chunk size; robust to insertions and deletions)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HMAC-SHA256 secret-assisted token generation with 256-bit server-held key; adversary cannot compute Tᵢ from plaintext alone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O(1) Redis deduplication index lookup; reference count maintained per token for garbage collection and ciphertext rotation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HKDF-AES-256-GCM per-chunk encryption: Ristretto255 OPRF derives MLE key KM, expanded via HKDF; each 4096-byte segment gets a fresh nonce with AAD binding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Adaptive PoW challenge issuance for duplicates; tags returned to clients are opaque per-user HMAC values derived from user identity and internal locators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OPRF-based MLE key derivation (blind-evaluate-unblind under CDH assumption): </a:t>
                </a:r>
                <a:endParaRPr sz="2000" dirty="0"/>
              </a:p>
              <a:p>
                <a:pPr marL="800100" lvl="1" indent="-342900">
                  <a:buClr>
                    <a:schemeClr val="dk1"/>
                  </a:buClr>
                  <a:buSzPts val="2400"/>
                  <a:buFont typeface="Arial" panose="020B0604020202020204" pitchFamily="34" charset="0"/>
                  <a:buChar char="•"/>
                </a:pPr>
                <a14:m>
                  <m:oMath xmlns:m="http://schemas.openxmlformats.org/officeDocument/2006/math">
                    <m:sSub>
                      <m:sSubPr>
                        <m:ctrlPr>
                          <a:rPr lang="ar-AE" sz="2000" i="1">
                            <a:latin typeface="Cambria Math" panose="02040503050406030204" pitchFamily="18" charset="0"/>
                          </a:rPr>
                        </m:ctrlPr>
                      </m:sSubPr>
                      <m:e>
                        <m:r>
                          <a:rPr lang="ar-AE" sz="2000">
                            <a:latin typeface="Cambria Math" panose="02040503050406030204" pitchFamily="18" charset="0"/>
                          </a:rPr>
                          <m:t>𝑇</m:t>
                        </m:r>
                      </m:e>
                      <m:sub>
                        <m:r>
                          <a:rPr lang="ar-AE" sz="2000">
                            <a:latin typeface="Cambria Math" panose="02040503050406030204" pitchFamily="18" charset="0"/>
                          </a:rPr>
                          <m:t>𝑖</m:t>
                        </m:r>
                      </m:sub>
                    </m:sSub>
                    <m:r>
                      <a:rPr lang="ar-AE" sz="2000">
                        <a:latin typeface="Cambria Math" panose="02040503050406030204" pitchFamily="18" charset="0"/>
                      </a:rPr>
                      <m:t>=</m:t>
                    </m:r>
                    <m:r>
                      <m:rPr>
                        <m:nor/>
                      </m:rPr>
                      <a:rPr lang="en-IN" sz="2000">
                        <a:latin typeface="Times New Roman" panose="02020603050405020304" pitchFamily="18" charset="0"/>
                        <a:cs typeface="Times New Roman" panose="02020603050405020304" pitchFamily="18" charset="0"/>
                      </a:rPr>
                      <m:t>HMAC</m:t>
                    </m:r>
                    <m:r>
                      <m:rPr>
                        <m:nor/>
                      </m:rPr>
                      <a:rPr lang="en-IN" sz="2000">
                        <a:latin typeface="Times New Roman" panose="02020603050405020304" pitchFamily="18" charset="0"/>
                        <a:cs typeface="Times New Roman" panose="02020603050405020304" pitchFamily="18" charset="0"/>
                      </a:rPr>
                      <m:t>−</m:t>
                    </m:r>
                    <m:r>
                      <m:rPr>
                        <m:nor/>
                      </m:rPr>
                      <a:rPr lang="en-IN" sz="2000">
                        <a:latin typeface="Times New Roman" panose="02020603050405020304" pitchFamily="18" charset="0"/>
                        <a:cs typeface="Times New Roman" panose="02020603050405020304" pitchFamily="18" charset="0"/>
                      </a:rPr>
                      <m:t>SHA</m:t>
                    </m:r>
                    <m:r>
                      <m:rPr>
                        <m:nor/>
                      </m:rPr>
                      <a:rPr lang="en-IN" sz="2000">
                        <a:latin typeface="Times New Roman" panose="02020603050405020304" pitchFamily="18" charset="0"/>
                        <a:cs typeface="Times New Roman" panose="02020603050405020304" pitchFamily="18" charset="0"/>
                      </a:rPr>
                      <m:t>256</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a:latin typeface="Cambria Math" panose="02040503050406030204" pitchFamily="18" charset="0"/>
                              </a:rPr>
                              <m:t>𝐾</m:t>
                            </m:r>
                          </m:e>
                          <m:sub>
                            <m:r>
                              <m:rPr>
                                <m:nor/>
                              </m:rPr>
                              <a:rPr lang="en-IN" sz="2000">
                                <a:latin typeface="Times New Roman" panose="02020603050405020304" pitchFamily="18" charset="0"/>
                                <a:cs typeface="Times New Roman" panose="02020603050405020304" pitchFamily="18" charset="0"/>
                              </a:rPr>
                              <m:t>server</m:t>
                            </m:r>
                          </m:sub>
                        </m:sSub>
                      </m:e>
                      <m:e>
                        <m:sSub>
                          <m:sSubPr>
                            <m:ctrlPr>
                              <a:rPr lang="ar-AE" sz="2000" i="1">
                                <a:latin typeface="Cambria Math" panose="02040503050406030204" pitchFamily="18" charset="0"/>
                              </a:rPr>
                            </m:ctrlPr>
                          </m:sSubPr>
                          <m:e>
                            <m:r>
                              <a:rPr lang="ar-AE" sz="2000">
                                <a:latin typeface="Cambria Math" panose="02040503050406030204" pitchFamily="18" charset="0"/>
                              </a:rPr>
                              <m:t>𝐶</m:t>
                            </m:r>
                          </m:e>
                          <m:sub>
                            <m:r>
                              <a:rPr lang="ar-AE" sz="2000">
                                <a:latin typeface="Cambria Math" panose="02040503050406030204" pitchFamily="18" charset="0"/>
                              </a:rPr>
                              <m:t>𝑖</m:t>
                            </m:r>
                          </m:sub>
                        </m:sSub>
                      </m:e>
                    </m:d>
                    <m:r>
                      <a:rPr lang="ar-AE" sz="2000" i="1">
                        <a:latin typeface="Cambria Math" panose="02040503050406030204" pitchFamily="18" charset="0"/>
                      </a:rPr>
                      <m:t> </m:t>
                    </m:r>
                  </m:oMath>
                </a14:m>
                <a:r>
                  <a:rPr lang="en-IN" sz="2000" b="0" i="0" u="none" strike="noStrike" cap="none" dirty="0">
                    <a:solidFill>
                      <a:schemeClr val="dk1"/>
                    </a:solidFill>
                    <a:latin typeface="Times New Roman"/>
                    <a:ea typeface="Times New Roman"/>
                    <a:cs typeface="Times New Roman"/>
                    <a:sym typeface="Times New Roman"/>
                  </a:rPr>
                  <a:t>| </a:t>
                </a:r>
                <a14:m>
                  <m:oMath xmlns:m="http://schemas.openxmlformats.org/officeDocument/2006/math">
                    <m:sSub>
                      <m:sSubPr>
                        <m:ctrlPr>
                          <a:rPr lang="ar-AE" sz="2000" i="1">
                            <a:latin typeface="Cambria Math" panose="02040503050406030204" pitchFamily="18" charset="0"/>
                          </a:rPr>
                        </m:ctrlPr>
                      </m:sSubPr>
                      <m:e>
                        <m:r>
                          <a:rPr lang="ar-AE" sz="2000">
                            <a:latin typeface="Cambria Math" panose="02040503050406030204" pitchFamily="18" charset="0"/>
                          </a:rPr>
                          <m:t>𝐾</m:t>
                        </m:r>
                      </m:e>
                      <m:sub>
                        <m:r>
                          <a:rPr lang="ar-AE" sz="2000">
                            <a:latin typeface="Cambria Math" panose="02040503050406030204" pitchFamily="18" charset="0"/>
                          </a:rPr>
                          <m:t>𝑀</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a:latin typeface="Cambria Math" panose="02040503050406030204" pitchFamily="18" charset="0"/>
                          </a:rPr>
                          <m:t>𝐻</m:t>
                        </m:r>
                      </m:e>
                      <m:sub>
                        <m:r>
                          <a:rPr lang="ar-AE" sz="2000">
                            <a:latin typeface="Cambria Math" panose="02040503050406030204" pitchFamily="18" charset="0"/>
                          </a:rPr>
                          <m:t>2</m:t>
                        </m:r>
                      </m:sub>
                    </m:sSub>
                    <m:r>
                      <m:rPr>
                        <m:nor/>
                      </m:rPr>
                      <a:rPr lang="ar-AE" sz="2000">
                        <a:latin typeface="Times New Roman" panose="02020603050405020304" pitchFamily="18" charset="0"/>
                        <a:cs typeface="Times New Roman" panose="02020603050405020304" pitchFamily="18" charset="0"/>
                      </a:rPr>
                      <m:t> </m:t>
                    </m:r>
                    <m:d>
                      <m:dPr>
                        <m:ctrlPr>
                          <a:rPr lang="ar-AE" sz="2000" i="1">
                            <a:latin typeface="Cambria Math" panose="02040503050406030204" pitchFamily="18" charset="0"/>
                          </a:rPr>
                        </m:ctrlPr>
                      </m:dPr>
                      <m:e>
                        <m:r>
                          <a:rPr lang="ar-AE" sz="2000">
                            <a:latin typeface="Cambria Math" panose="02040503050406030204" pitchFamily="18" charset="0"/>
                          </a:rPr>
                          <m:t>𝑁</m:t>
                        </m:r>
                        <m:r>
                          <a:rPr lang="ar-AE" sz="2000">
                            <a:latin typeface="Cambria Math" panose="02040503050406030204" pitchFamily="18" charset="0"/>
                          </a:rPr>
                          <m:t>∥</m:t>
                        </m:r>
                        <m:r>
                          <m:rPr>
                            <m:nor/>
                          </m:rPr>
                          <a:rPr lang="en-IN" sz="2000">
                            <a:latin typeface="Times New Roman" panose="02020603050405020304" pitchFamily="18" charset="0"/>
                            <a:cs typeface="Times New Roman" panose="02020603050405020304" pitchFamily="18" charset="0"/>
                          </a:rPr>
                          <m:t>SHA</m:t>
                        </m:r>
                        <m:r>
                          <m:rPr>
                            <m:nor/>
                          </m:rPr>
                          <a:rPr lang="en-IN" sz="2000">
                            <a:latin typeface="Times New Roman" panose="02020603050405020304" pitchFamily="18" charset="0"/>
                            <a:cs typeface="Times New Roman" panose="02020603050405020304" pitchFamily="18" charset="0"/>
                          </a:rPr>
                          <m:t>256</m:t>
                        </m:r>
                        <m:d>
                          <m:dPr>
                            <m:ctrlPr>
                              <a:rPr lang="ar-AE" sz="2000" i="1">
                                <a:latin typeface="Cambria Math" panose="02040503050406030204" pitchFamily="18" charset="0"/>
                              </a:rPr>
                            </m:ctrlPr>
                          </m:dPr>
                          <m:e>
                            <m:r>
                              <a:rPr lang="ar-AE" sz="2000">
                                <a:latin typeface="Cambria Math" panose="02040503050406030204" pitchFamily="18" charset="0"/>
                              </a:rPr>
                              <m:t>𝑚</m:t>
                            </m:r>
                          </m:e>
                        </m:d>
                        <m:r>
                          <a:rPr lang="ar-AE" sz="2000">
                            <a:latin typeface="Cambria Math" panose="02040503050406030204" pitchFamily="18" charset="0"/>
                          </a:rPr>
                          <m:t>∥</m:t>
                        </m:r>
                        <m:r>
                          <m:rPr>
                            <m:nor/>
                          </m:rPr>
                          <a:rPr lang="en-IN" sz="2000">
                            <a:latin typeface="Times New Roman" panose="02020603050405020304" pitchFamily="18" charset="0"/>
                            <a:cs typeface="Times New Roman" panose="02020603050405020304" pitchFamily="18" charset="0"/>
                          </a:rPr>
                          <m:t>epoch</m:t>
                        </m:r>
                      </m:e>
                    </m:d>
                  </m:oMath>
                </a14:m>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Storage backend abstraction supports AWS S3, </a:t>
                </a:r>
                <a:r>
                  <a:rPr lang="en-IN" sz="2000" b="0" i="0" u="none" strike="noStrike" cap="none" dirty="0" err="1">
                    <a:solidFill>
                      <a:schemeClr val="dk1"/>
                    </a:solidFill>
                    <a:latin typeface="Times New Roman"/>
                    <a:ea typeface="Times New Roman"/>
                    <a:cs typeface="Times New Roman"/>
                    <a:sym typeface="Times New Roman"/>
                  </a:rPr>
                  <a:t>MinIO</a:t>
                </a:r>
                <a:r>
                  <a:rPr lang="en-IN" sz="2000" b="0" i="0" u="none" strike="noStrike" cap="none" dirty="0">
                    <a:solidFill>
                      <a:schemeClr val="dk1"/>
                    </a:solidFill>
                    <a:latin typeface="Times New Roman"/>
                    <a:ea typeface="Times New Roman"/>
                    <a:cs typeface="Times New Roman"/>
                    <a:sym typeface="Times New Roman"/>
                  </a:rPr>
                  <a:t>, and local filesystem; REFA envelope overhead decreases with chunk size (</a:t>
                </a:r>
                <a:r>
                  <a:rPr lang="en-IN" sz="2000" b="0" i="0" u="none" strike="noStrike" cap="none" dirty="0" err="1">
                    <a:solidFill>
                      <a:schemeClr val="dk1"/>
                    </a:solidFill>
                    <a:latin typeface="Times New Roman"/>
                    <a:ea typeface="Times New Roman"/>
                    <a:cs typeface="Times New Roman"/>
                    <a:sym typeface="Times New Roman"/>
                  </a:rPr>
                  <a:t>approx</a:t>
                </a:r>
                <a:r>
                  <a:rPr lang="en-IN" sz="2000" b="0" i="0" u="none" strike="noStrike" cap="none" dirty="0">
                    <a:solidFill>
                      <a:schemeClr val="dk1"/>
                    </a:solidFill>
                    <a:latin typeface="Times New Roman"/>
                    <a:ea typeface="Times New Roman"/>
                    <a:cs typeface="Times New Roman"/>
                    <a:sym typeface="Times New Roman"/>
                  </a:rPr>
                  <a:t> 3.9% at 4 KB, 1.0% at 16 KB)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Cross-user deduplication preserved under secret-assisted scheme: 2nd upload by different user registers 0 new entries (64 KB file, 4 KB chunks) </a:t>
                </a:r>
                <a:endParaRPr sz="2000" dirty="0"/>
              </a:p>
            </p:txBody>
          </p:sp>
        </mc:Choice>
        <mc:Fallback>
          <p:sp>
            <p:nvSpPr>
              <p:cNvPr id="189" name="Google Shape;189;p12"/>
              <p:cNvSpPr txBox="1">
                <a:spLocks noRot="1" noChangeAspect="1" noMove="1" noResize="1" noEditPoints="1" noAdjustHandles="1" noChangeArrowheads="1" noChangeShapeType="1" noTextEdit="1"/>
              </p:cNvSpPr>
              <p:nvPr/>
            </p:nvSpPr>
            <p:spPr>
              <a:xfrm>
                <a:off x="838200" y="1214418"/>
                <a:ext cx="11110452" cy="5324494"/>
              </a:xfrm>
              <a:prstGeom prst="rect">
                <a:avLst/>
              </a:prstGeom>
              <a:blipFill>
                <a:blip r:embed="rId3"/>
                <a:stretch>
                  <a:fillRect l="-768" t="-1373" r="-988" b="-1030"/>
                </a:stretch>
              </a:blipFill>
              <a:ln>
                <a:noFill/>
              </a:ln>
            </p:spPr>
            <p:txBody>
              <a:bodyPr/>
              <a:lstStyle/>
              <a:p>
                <a:r>
                  <a:rPr lang="en-IN">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3"/>
          <p:cNvSpPr txBox="1">
            <a:spLocks noGrp="1"/>
          </p:cNvSpPr>
          <p:nvPr>
            <p:ph type="title"/>
          </p:nvPr>
        </p:nvSpPr>
        <p:spPr>
          <a:xfrm>
            <a:off x="1034845" y="2477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SECURITY AND CONTROL MODULE</a:t>
            </a:r>
            <a:endParaRPr sz="2800" dirty="0">
              <a:latin typeface="Times New Roman"/>
              <a:ea typeface="Times New Roman"/>
              <a:cs typeface="Times New Roman"/>
              <a:sym typeface="Times New Roman"/>
            </a:endParaRPr>
          </a:p>
        </p:txBody>
      </p:sp>
      <p:sp>
        <p:nvSpPr>
          <p:cNvPr id="195" name="Google Shape;19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196" name="Google Shape;19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mc:AlternateContent xmlns:mc="http://schemas.openxmlformats.org/markup-compatibility/2006">
        <mc:Choice xmlns:a14="http://schemas.microsoft.com/office/drawing/2010/main" Requires="a14">
          <p:sp>
            <p:nvSpPr>
              <p:cNvPr id="197" name="Google Shape;197;p13"/>
              <p:cNvSpPr txBox="1"/>
              <p:nvPr/>
            </p:nvSpPr>
            <p:spPr>
              <a:xfrm>
                <a:off x="838199" y="1418127"/>
                <a:ext cx="11157155" cy="466970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Governs adaptive security posture through three tightly integrated components; transforms security from a static check into a continuous feedback loop: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Reputation Manager: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Maintains per-client score ρ ∈ [0, 1]; 0 = untrusted, 1 = fully trusted; persisted in Redis </a:t>
                </a:r>
                <a:endParaRPr sz="2000" dirty="0"/>
              </a:p>
              <a:p>
                <a:pPr/>
                <a14:m>
                  <m:oMathPara xmlns:m="http://schemas.openxmlformats.org/officeDocument/2006/math">
                    <m:oMathParaPr>
                      <m:jc m:val="centerGroup"/>
                    </m:oMathParaPr>
                    <m:oMath xmlns:m="http://schemas.openxmlformats.org/officeDocument/2006/math">
                      <m:r>
                        <a:rPr lang="ar-AE" sz="1600">
                          <a:latin typeface="Cambria Math" panose="02040503050406030204" pitchFamily="18" charset="0"/>
                        </a:rPr>
                        <m:t>𝜌</m:t>
                      </m:r>
                      <m:r>
                        <a:rPr lang="ar-AE" sz="1600">
                          <a:latin typeface="Cambria Math" panose="02040503050406030204" pitchFamily="18" charset="0"/>
                        </a:rPr>
                        <m:t>←</m:t>
                      </m:r>
                      <m:r>
                        <a:rPr lang="ar-AE" sz="1600">
                          <a:latin typeface="Cambria Math" panose="02040503050406030204" pitchFamily="18" charset="0"/>
                        </a:rPr>
                        <m:t>𝜌</m:t>
                      </m:r>
                      <m:r>
                        <a:rPr lang="ar-AE" sz="1600">
                          <a:latin typeface="Cambria Math" panose="02040503050406030204" pitchFamily="18" charset="0"/>
                        </a:rPr>
                        <m:t>+</m:t>
                      </m:r>
                      <m:r>
                        <a:rPr lang="ar-AE" sz="1600">
                          <a:latin typeface="Cambria Math" panose="02040503050406030204" pitchFamily="18" charset="0"/>
                        </a:rPr>
                        <m:t>𝛼</m:t>
                      </m:r>
                      <m:d>
                        <m:dPr>
                          <m:ctrlPr>
                            <a:rPr lang="ar-AE" sz="1600" i="1">
                              <a:latin typeface="Cambria Math" panose="02040503050406030204" pitchFamily="18" charset="0"/>
                            </a:rPr>
                          </m:ctrlPr>
                        </m:dPr>
                        <m:e>
                          <m:r>
                            <a:rPr lang="ar-AE" sz="1600">
                              <a:latin typeface="Cambria Math" panose="02040503050406030204" pitchFamily="18" charset="0"/>
                            </a:rPr>
                            <m:t>1</m:t>
                          </m:r>
                          <m:r>
                            <a:rPr lang="ar-AE" sz="1600">
                              <a:latin typeface="Cambria Math" panose="02040503050406030204" pitchFamily="18" charset="0"/>
                            </a:rPr>
                            <m:t>−</m:t>
                          </m:r>
                          <m:r>
                            <a:rPr lang="ar-AE" sz="1600">
                              <a:latin typeface="Cambria Math" panose="02040503050406030204" pitchFamily="18" charset="0"/>
                            </a:rPr>
                            <m:t>𝑟</m:t>
                          </m:r>
                        </m:e>
                      </m:d>
                      <m:r>
                        <m:rPr>
                          <m:nor/>
                        </m:rPr>
                        <a:rPr lang="ar-AE" sz="1600">
                          <a:latin typeface="Times New Roman" panose="02020603050405020304" pitchFamily="18" charset="0"/>
                          <a:cs typeface="Times New Roman" panose="02020603050405020304" pitchFamily="18" charset="0"/>
                        </a:rPr>
                        <m:t> </m:t>
                      </m:r>
                      <m:r>
                        <a:rPr lang="ar-AE" sz="1600" b="1">
                          <a:latin typeface="Cambria Math" panose="02040503050406030204" pitchFamily="18" charset="0"/>
                        </a:rPr>
                        <m:t>𝟏</m:t>
                      </m:r>
                      <m:d>
                        <m:dPr>
                          <m:begChr m:val="["/>
                          <m:endChr m:val="]"/>
                          <m:ctrlPr>
                            <a:rPr lang="ar-AE" sz="1600" b="1" i="1">
                              <a:latin typeface="Cambria Math" panose="02040503050406030204" pitchFamily="18" charset="0"/>
                            </a:rPr>
                          </m:ctrlPr>
                        </m:dPr>
                        <m:e>
                          <m:acc>
                            <m:accPr>
                              <m:chr m:val="̂"/>
                              <m:ctrlPr>
                                <a:rPr lang="ar-AE" sz="1600" b="1" i="1">
                                  <a:latin typeface="Cambria Math" panose="02040503050406030204" pitchFamily="18" charset="0"/>
                                </a:rPr>
                              </m:ctrlPr>
                            </m:accPr>
                            <m:e>
                              <m:r>
                                <a:rPr lang="ar-AE" sz="1600">
                                  <a:latin typeface="Cambria Math" panose="02040503050406030204" pitchFamily="18" charset="0"/>
                                </a:rPr>
                                <m:t>𝑦</m:t>
                              </m:r>
                            </m:e>
                          </m:acc>
                          <m:r>
                            <a:rPr lang="ar-AE" sz="1600">
                              <a:latin typeface="Cambria Math" panose="02040503050406030204" pitchFamily="18" charset="0"/>
                            </a:rPr>
                            <m:t>=</m:t>
                          </m:r>
                          <m:r>
                            <m:rPr>
                              <m:nor/>
                            </m:rPr>
                            <a:rPr lang="en-IN" sz="1600">
                              <a:latin typeface="Times New Roman" panose="02020603050405020304" pitchFamily="18" charset="0"/>
                              <a:cs typeface="Times New Roman" panose="02020603050405020304" pitchFamily="18" charset="0"/>
                            </a:rPr>
                            <m:t>normal</m:t>
                          </m:r>
                        </m:e>
                      </m:d>
                      <m:r>
                        <a:rPr lang="ar-AE" sz="1600">
                          <a:latin typeface="Cambria Math" panose="02040503050406030204" pitchFamily="18" charset="0"/>
                        </a:rPr>
                        <m:t>−</m:t>
                      </m:r>
                      <m:r>
                        <a:rPr lang="ar-AE" sz="1600">
                          <a:latin typeface="Cambria Math" panose="02040503050406030204" pitchFamily="18" charset="0"/>
                        </a:rPr>
                        <m:t>𝛽</m:t>
                      </m:r>
                      <m:r>
                        <m:rPr>
                          <m:nor/>
                        </m:rPr>
                        <a:rPr lang="ar-AE" sz="1600">
                          <a:latin typeface="Times New Roman" panose="02020603050405020304" pitchFamily="18" charset="0"/>
                          <a:cs typeface="Times New Roman" panose="02020603050405020304" pitchFamily="18" charset="0"/>
                        </a:rPr>
                        <m:t> </m:t>
                      </m:r>
                      <m:r>
                        <a:rPr lang="ar-AE" sz="1600" b="1">
                          <a:latin typeface="Cambria Math" panose="02040503050406030204" pitchFamily="18" charset="0"/>
                        </a:rPr>
                        <m:t>𝟏</m:t>
                      </m:r>
                      <m:d>
                        <m:dPr>
                          <m:begChr m:val="["/>
                          <m:endChr m:val="]"/>
                          <m:ctrlPr>
                            <a:rPr lang="ar-AE" sz="1600" b="1" i="1">
                              <a:latin typeface="Cambria Math" panose="02040503050406030204" pitchFamily="18" charset="0"/>
                            </a:rPr>
                          </m:ctrlPr>
                        </m:dPr>
                        <m:e>
                          <m:acc>
                            <m:accPr>
                              <m:chr m:val="̂"/>
                              <m:ctrlPr>
                                <a:rPr lang="ar-AE" sz="1600" b="1" i="1">
                                  <a:latin typeface="Cambria Math" panose="02040503050406030204" pitchFamily="18" charset="0"/>
                                </a:rPr>
                              </m:ctrlPr>
                            </m:accPr>
                            <m:e>
                              <m:r>
                                <a:rPr lang="ar-AE" sz="1600">
                                  <a:latin typeface="Cambria Math" panose="02040503050406030204" pitchFamily="18" charset="0"/>
                                </a:rPr>
                                <m:t>𝑦</m:t>
                              </m:r>
                            </m:e>
                          </m:acc>
                          <m:r>
                            <a:rPr lang="ar-AE" sz="1600">
                              <a:latin typeface="Cambria Math" panose="02040503050406030204" pitchFamily="18" charset="0"/>
                            </a:rPr>
                            <m:t>≠</m:t>
                          </m:r>
                          <m:r>
                            <m:rPr>
                              <m:nor/>
                            </m:rPr>
                            <a:rPr lang="en-IN" sz="1600">
                              <a:latin typeface="Times New Roman" panose="02020603050405020304" pitchFamily="18" charset="0"/>
                              <a:cs typeface="Times New Roman" panose="02020603050405020304" pitchFamily="18" charset="0"/>
                            </a:rPr>
                            <m:t>normal</m:t>
                          </m:r>
                        </m:e>
                      </m:d>
                    </m:oMath>
                  </m:oMathPara>
                </a14:m>
                <a:endParaRPr lang="ar-AE" sz="1600" dirty="0">
                  <a:latin typeface="Times New Roman" panose="02020603050405020304" pitchFamily="18" charset="0"/>
                  <a:cs typeface="Times New Roman" panose="02020603050405020304" pitchFamily="18" charset="0"/>
                </a:endParaRPr>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Adaptive PoW Engine: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14:m>
                  <m:oMath xmlns:m="http://schemas.openxmlformats.org/officeDocument/2006/math">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𝑑</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 = </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𝑐𝑙𝑎𝑚𝑝</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0</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65</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𝑟</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 + </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0</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25</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1</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𝜌</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 + </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0</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10</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𝛿</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 </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0</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 </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1</m:t>
                    </m:r>
                    <m:r>
                      <a:rPr lang="en-IN" sz="2000" b="0" i="1" u="none" strike="noStrike" cap="none" dirty="0" smtClean="0">
                        <a:solidFill>
                          <a:schemeClr val="dk1"/>
                        </a:solidFill>
                        <a:latin typeface="Cambria Math" panose="02040503050406030204" pitchFamily="18" charset="0"/>
                        <a:ea typeface="Times New Roman"/>
                        <a:cs typeface="Times New Roman"/>
                        <a:sym typeface="Times New Roman"/>
                      </a:rPr>
                      <m:t>) </m:t>
                    </m:r>
                  </m:oMath>
                </a14:m>
                <a:r>
                  <a:rPr lang="en-IN" sz="2000" b="0" i="0" u="none" strike="noStrike" cap="none" dirty="0">
                    <a:solidFill>
                      <a:schemeClr val="dk1"/>
                    </a:solidFill>
                    <a:latin typeface="Times New Roman"/>
                    <a:ea typeface="Times New Roman"/>
                    <a:cs typeface="Times New Roman"/>
                    <a:sym typeface="Times New Roman"/>
                  </a:rPr>
                  <a:t>   </a:t>
                </a:r>
                <a:endParaRPr sz="2000" dirty="0"/>
              </a:p>
              <a:p>
                <a:pPr marL="800100" lvl="1" indent="-342900">
                  <a:buClr>
                    <a:schemeClr val="dk1"/>
                  </a:buClr>
                  <a:buSzPts val="2400"/>
                  <a:buFont typeface="Arial" panose="020B0604020202020204" pitchFamily="34" charset="0"/>
                  <a:buChar char="•"/>
                </a:pPr>
                <a14:m>
                  <m:oMath xmlns:m="http://schemas.openxmlformats.org/officeDocument/2006/math">
                    <m:r>
                      <a:rPr lang="ar-AE" sz="2000">
                        <a:latin typeface="Cambria Math" panose="02040503050406030204" pitchFamily="18" charset="0"/>
                      </a:rPr>
                      <m:t>𝐿</m:t>
                    </m:r>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a:latin typeface="Cambria Math" panose="02040503050406030204" pitchFamily="18" charset="0"/>
                          </a:rPr>
                          <m:t>𝐿</m:t>
                        </m:r>
                      </m:e>
                      <m:sub>
                        <m:r>
                          <m:rPr>
                            <m:nor/>
                          </m:rPr>
                          <a:rPr lang="en-IN" sz="2000">
                            <a:latin typeface="Times New Roman" panose="02020603050405020304" pitchFamily="18" charset="0"/>
                            <a:cs typeface="Times New Roman" panose="02020603050405020304" pitchFamily="18" charset="0"/>
                          </a:rPr>
                          <m:t>base</m:t>
                        </m:r>
                      </m:sub>
                    </m:sSub>
                    <m:r>
                      <a:rPr lang="ar-AE" sz="2000">
                        <a:latin typeface="Cambria Math" panose="02040503050406030204" pitchFamily="18" charset="0"/>
                      </a:rPr>
                      <m:t>+</m:t>
                    </m:r>
                    <m:d>
                      <m:dPr>
                        <m:begChr m:val="⌊"/>
                        <m:end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a:latin typeface="Cambria Math" panose="02040503050406030204" pitchFamily="18" charset="0"/>
                              </a:rPr>
                              <m:t>𝐿</m:t>
                            </m:r>
                          </m:e>
                          <m:sub>
                            <m:r>
                              <m:rPr>
                                <m:nor/>
                              </m:rPr>
                              <a:rPr lang="en-IN" sz="2000">
                                <a:latin typeface="Times New Roman" panose="02020603050405020304" pitchFamily="18" charset="0"/>
                                <a:cs typeface="Times New Roman" panose="02020603050405020304" pitchFamily="18" charset="0"/>
                              </a:rPr>
                              <m:t>ext</m:t>
                            </m:r>
                          </m:sub>
                        </m:sSub>
                        <m:r>
                          <a:rPr lang="ar-AE" sz="2000">
                            <a:latin typeface="Cambria Math" panose="02040503050406030204" pitchFamily="18" charset="0"/>
                          </a:rPr>
                          <m:t>⋅</m:t>
                        </m:r>
                        <m:r>
                          <a:rPr lang="ar-AE" sz="2000">
                            <a:latin typeface="Cambria Math" panose="02040503050406030204" pitchFamily="18" charset="0"/>
                          </a:rPr>
                          <m:t>𝑑</m:t>
                        </m:r>
                      </m:e>
                    </m:d>
                  </m:oMath>
                </a14:m>
                <a:r>
                  <a:rPr lang="en-US" sz="2000" dirty="0">
                    <a:latin typeface="Times New Roman" panose="02020603050405020304" pitchFamily="18" charset="0"/>
                    <a:ea typeface="Times New Roman"/>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a:latin typeface="Cambria Math" panose="02040503050406030204" pitchFamily="18" charset="0"/>
                          </a:rPr>
                          <m:t>𝐿</m:t>
                        </m:r>
                      </m:e>
                      <m:sub>
                        <m:r>
                          <m:rPr>
                            <m:nor/>
                          </m:rPr>
                          <a:rPr lang="en-IN" sz="2000">
                            <a:latin typeface="Times New Roman" panose="02020603050405020304" pitchFamily="18" charset="0"/>
                            <a:cs typeface="Times New Roman" panose="02020603050405020304" pitchFamily="18" charset="0"/>
                          </a:rPr>
                          <m:t>base</m:t>
                        </m:r>
                      </m:sub>
                    </m:sSub>
                    <m:r>
                      <a:rPr lang="en-IN" sz="2000" i="1">
                        <a:latin typeface="Cambria Math" panose="02040503050406030204" pitchFamily="18" charset="0"/>
                        <a:cs typeface="Times New Roman" panose="02020603050405020304" pitchFamily="18" charset="0"/>
                      </a:rPr>
                      <m:t> </m:t>
                    </m:r>
                  </m:oMath>
                </a14:m>
                <a:r>
                  <a:rPr lang="en-IN" sz="2000" b="0" i="0" u="none" strike="noStrike" cap="none" dirty="0">
                    <a:solidFill>
                      <a:schemeClr val="dk1"/>
                    </a:solidFill>
                    <a:latin typeface="Times New Roman"/>
                    <a:ea typeface="Times New Roman"/>
                    <a:cs typeface="Times New Roman"/>
                    <a:sym typeface="Times New Roman"/>
                  </a:rPr>
                  <a:t>=32 bytes, </a:t>
                </a:r>
                <a14:m>
                  <m:oMath xmlns:m="http://schemas.openxmlformats.org/officeDocument/2006/math">
                    <m:sSub>
                      <m:sSubPr>
                        <m:ctrlPr>
                          <a:rPr lang="ar-AE" sz="2000" i="1">
                            <a:latin typeface="Cambria Math" panose="02040503050406030204" pitchFamily="18" charset="0"/>
                          </a:rPr>
                        </m:ctrlPr>
                      </m:sSubPr>
                      <m:e>
                        <m:r>
                          <a:rPr lang="ar-AE" sz="2000">
                            <a:latin typeface="Cambria Math" panose="02040503050406030204" pitchFamily="18" charset="0"/>
                          </a:rPr>
                          <m:t>𝐿</m:t>
                        </m:r>
                      </m:e>
                      <m:sub>
                        <m:r>
                          <m:rPr>
                            <m:nor/>
                          </m:rPr>
                          <a:rPr lang="en-IN" sz="2000">
                            <a:latin typeface="Times New Roman" panose="02020603050405020304" pitchFamily="18" charset="0"/>
                            <a:cs typeface="Times New Roman" panose="02020603050405020304" pitchFamily="18" charset="0"/>
                          </a:rPr>
                          <m:t>ext</m:t>
                        </m:r>
                      </m:sub>
                    </m:sSub>
                    <m:r>
                      <a:rPr lang="en-IN" sz="2000" i="1">
                        <a:latin typeface="Cambria Math" panose="02040503050406030204" pitchFamily="18" charset="0"/>
                        <a:cs typeface="Times New Roman" panose="02020603050405020304" pitchFamily="18" charset="0"/>
                      </a:rPr>
                      <m:t> </m:t>
                    </m:r>
                  </m:oMath>
                </a14:m>
                <a:r>
                  <a:rPr lang="en-IN" sz="2000" b="0" i="0" u="none" strike="noStrike" cap="none" dirty="0">
                    <a:solidFill>
                      <a:schemeClr val="dk1"/>
                    </a:solidFill>
                    <a:latin typeface="Times New Roman"/>
                    <a:ea typeface="Times New Roman"/>
                    <a:cs typeface="Times New Roman"/>
                    <a:sym typeface="Times New Roman"/>
                  </a:rPr>
                  <a:t>=160 bytes → range 32–192 bytes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Range: 32 to 192 bytes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Policy Engine: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ALLOW (r &lt; 0.50)</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RATE_LIMIT (0.50 ≤ r &lt; 0.80) </a:t>
                </a:r>
                <a:endParaRPr sz="2000" dirty="0"/>
              </a:p>
              <a:p>
                <a:pPr marL="800100" marR="0" lvl="1"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BLOCK (r ≥ 0.80) </a:t>
                </a:r>
                <a:endParaRPr sz="2000" dirty="0"/>
              </a:p>
              <a:p>
                <a:pPr marL="342900" marR="0" lvl="0" indent="-342900" algn="l" rtl="0">
                  <a:spcBef>
                    <a:spcPts val="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Decisions cached in Redis; detection provides transient risk estimate, policy engine maps to immediate enforcement, reputation manager preserves long-term conduct history</a:t>
                </a:r>
                <a:endParaRPr sz="2000" dirty="0"/>
              </a:p>
            </p:txBody>
          </p:sp>
        </mc:Choice>
        <mc:Fallback>
          <p:sp>
            <p:nvSpPr>
              <p:cNvPr id="197" name="Google Shape;197;p13"/>
              <p:cNvSpPr txBox="1">
                <a:spLocks noRot="1" noChangeAspect="1" noMove="1" noResize="1" noEditPoints="1" noAdjustHandles="1" noChangeArrowheads="1" noChangeShapeType="1" noTextEdit="1"/>
              </p:cNvSpPr>
              <p:nvPr/>
            </p:nvSpPr>
            <p:spPr>
              <a:xfrm>
                <a:off x="838199" y="1418127"/>
                <a:ext cx="11157155" cy="4669700"/>
              </a:xfrm>
              <a:prstGeom prst="rect">
                <a:avLst/>
              </a:prstGeom>
              <a:blipFill>
                <a:blip r:embed="rId3"/>
                <a:stretch>
                  <a:fillRect l="-710" t="-1567" r="-874" b="-1436"/>
                </a:stretch>
              </a:blipFill>
              <a:ln>
                <a:noFill/>
              </a:ln>
            </p:spPr>
            <p:txBody>
              <a:bodyPr/>
              <a:lstStyle/>
              <a:p>
                <a:r>
                  <a:rPr lang="en-IN">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
          <p:cNvSpPr txBox="1">
            <a:spLocks noGrp="1"/>
          </p:cNvSpPr>
          <p:nvPr>
            <p:ph type="title"/>
          </p:nvPr>
        </p:nvSpPr>
        <p:spPr>
          <a:xfrm>
            <a:off x="105451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BEHAVIOUR DETECTION MODULE</a:t>
            </a:r>
            <a:br>
              <a:rPr lang="en-IN" sz="2800" b="1" dirty="0">
                <a:latin typeface="Times New Roman"/>
                <a:ea typeface="Times New Roman"/>
                <a:cs typeface="Times New Roman"/>
                <a:sym typeface="Times New Roman"/>
              </a:rPr>
            </a:br>
            <a:endParaRPr sz="2800" dirty="0">
              <a:latin typeface="Times New Roman"/>
              <a:ea typeface="Times New Roman"/>
              <a:cs typeface="Times New Roman"/>
              <a:sym typeface="Times New Roman"/>
            </a:endParaRPr>
          </a:p>
        </p:txBody>
      </p:sp>
      <p:sp>
        <p:nvSpPr>
          <p:cNvPr id="203" name="Google Shape;20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204" name="Google Shape;20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mc:AlternateContent xmlns:mc="http://schemas.openxmlformats.org/markup-compatibility/2006">
        <mc:Choice xmlns:a14="http://schemas.microsoft.com/office/drawing/2010/main" Requires="a14">
          <p:sp>
            <p:nvSpPr>
              <p:cNvPr id="205" name="Google Shape;205;p14"/>
              <p:cNvSpPr txBox="1"/>
              <p:nvPr/>
            </p:nvSpPr>
            <p:spPr>
              <a:xfrm>
                <a:off x="938981" y="908220"/>
                <a:ext cx="11110452" cy="570825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Transforms raw request logs into 12 structured behavioural feature dimensions in four categories; observes deduplication request semantics rather than packet-level signatures: </a:t>
                </a:r>
                <a:endParaRPr dirty="0"/>
              </a:p>
              <a:p>
                <a:pPr marL="342900" marR="0" lvl="0"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Frequency Features (x4): </a:t>
                </a:r>
                <a:endParaRPr dirty="0"/>
              </a:p>
              <a:p>
                <a:pPr marL="800100" marR="0" lvl="1"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Request rate </a:t>
                </a:r>
                <a:endParaRPr dirty="0"/>
              </a:p>
              <a:p>
                <a:pPr marL="800100" marR="0" lvl="1"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Duplicate ratio </a:t>
                </a:r>
                <a:endParaRPr dirty="0"/>
              </a:p>
              <a:p>
                <a:pPr marL="800100" marR="0" lvl="1"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PoW attempt rate </a:t>
                </a:r>
                <a:endParaRPr dirty="0"/>
              </a:p>
              <a:p>
                <a:pPr marL="800100" marR="0" lvl="1"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Unique hash count </a:t>
                </a:r>
                <a:endParaRPr dirty="0"/>
              </a:p>
              <a:p>
                <a:pPr marL="927100" marR="0" lvl="1" indent="-342900" algn="l" rtl="0">
                  <a:spcBef>
                    <a:spcPts val="0"/>
                  </a:spcBef>
                  <a:spcAft>
                    <a:spcPts val="0"/>
                  </a:spcAft>
                  <a:buClr>
                    <a:schemeClr val="dk1"/>
                  </a:buClr>
                  <a:buSzPts val="2000"/>
                  <a:buFont typeface="Arial" panose="020B0604020202020204" pitchFamily="34" charset="0"/>
                  <a:buChar char="•"/>
                </a:pPr>
                <a:endParaRPr sz="2000" b="0" i="0" u="none" strike="noStrike" cap="none" dirty="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Two detection paths: </a:t>
                </a:r>
                <a:endParaRPr dirty="0"/>
              </a:p>
              <a:p>
                <a:pPr marL="800100" marR="0" lvl="1"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Supervised: Random Forest (120 estimators, max depth 4); maps 12-feature vector to 4 classes: normal, </a:t>
                </a:r>
                <a:r>
                  <a:rPr lang="en-IN" sz="2000" b="0" i="0" u="none" strike="noStrike" cap="none" dirty="0" err="1">
                    <a:solidFill>
                      <a:schemeClr val="dk1"/>
                    </a:solidFill>
                    <a:latin typeface="Times New Roman"/>
                    <a:ea typeface="Times New Roman"/>
                    <a:cs typeface="Times New Roman"/>
                    <a:sym typeface="Times New Roman"/>
                  </a:rPr>
                  <a:t>hash_probing</a:t>
                </a:r>
                <a:r>
                  <a:rPr lang="en-IN" sz="2000" b="0" i="0" u="none" strike="noStrike" cap="none" dirty="0">
                    <a:solidFill>
                      <a:schemeClr val="dk1"/>
                    </a:solidFill>
                    <a:latin typeface="Times New Roman"/>
                    <a:ea typeface="Times New Roman"/>
                    <a:cs typeface="Times New Roman"/>
                    <a:sym typeface="Times New Roman"/>
                  </a:rPr>
                  <a:t>, </a:t>
                </a:r>
                <a:r>
                  <a:rPr lang="en-IN" sz="2000" b="0" i="0" u="none" strike="noStrike" cap="none" dirty="0" err="1">
                    <a:solidFill>
                      <a:schemeClr val="dk1"/>
                    </a:solidFill>
                    <a:latin typeface="Times New Roman"/>
                    <a:ea typeface="Times New Roman"/>
                    <a:cs typeface="Times New Roman"/>
                    <a:sym typeface="Times New Roman"/>
                  </a:rPr>
                  <a:t>ownership_fraud</a:t>
                </a:r>
                <a:r>
                  <a:rPr lang="en-IN" sz="2000" b="0" i="0" u="none" strike="noStrike" cap="none" dirty="0">
                    <a:solidFill>
                      <a:schemeClr val="dk1"/>
                    </a:solidFill>
                    <a:latin typeface="Times New Roman"/>
                    <a:ea typeface="Times New Roman"/>
                    <a:cs typeface="Times New Roman"/>
                    <a:sym typeface="Times New Roman"/>
                  </a:rPr>
                  <a:t>, </a:t>
                </a:r>
                <a:r>
                  <a:rPr lang="en-IN" sz="2000" b="0" i="0" u="none" strike="noStrike" cap="none" dirty="0" err="1">
                    <a:solidFill>
                      <a:schemeClr val="dk1"/>
                    </a:solidFill>
                    <a:latin typeface="Times New Roman"/>
                    <a:ea typeface="Times New Roman"/>
                    <a:cs typeface="Times New Roman"/>
                    <a:sym typeface="Times New Roman"/>
                  </a:rPr>
                  <a:t>dedup_dos</a:t>
                </a:r>
                <a:r>
                  <a:rPr lang="en-IN" sz="2000" b="0" i="0" u="none" strike="noStrike" cap="none" dirty="0">
                    <a:solidFill>
                      <a:schemeClr val="dk1"/>
                    </a:solidFill>
                    <a:latin typeface="Times New Roman"/>
                    <a:ea typeface="Times New Roman"/>
                    <a:cs typeface="Times New Roman"/>
                    <a:sym typeface="Times New Roman"/>
                  </a:rPr>
                  <a:t> </a:t>
                </a:r>
                <a:endParaRPr dirty="0"/>
              </a:p>
              <a:p>
                <a:pPr marL="800100" marR="0" lvl="1"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Unsupervised (cold-start): One-Class SVM trained on benign windows; </a:t>
                </a:r>
              </a:p>
              <a:p>
                <a:pPr marL="457200" lvl="1">
                  <a:buClr>
                    <a:schemeClr val="dk1"/>
                  </a:buClr>
                  <a:buSzPts val="2000"/>
                </a:pPr>
                <a:r>
                  <a:rPr lang="en-IN" sz="2000" dirty="0">
                    <a:solidFill>
                      <a:schemeClr val="dk1"/>
                    </a:solidFill>
                    <a:latin typeface="Times New Roman"/>
                    <a:ea typeface="Times New Roman"/>
                    <a:cs typeface="Times New Roman"/>
                    <a:sym typeface="Times New Roman"/>
                  </a:rPr>
                  <a:t>	</a:t>
                </a:r>
                <a:r>
                  <a:rPr lang="ar-AE" sz="2000" dirty="0"/>
                  <a:t> </a:t>
                </a:r>
                <a14:m>
                  <m:oMath xmlns:m="http://schemas.openxmlformats.org/officeDocument/2006/math">
                    <m:r>
                      <a:rPr lang="ar-AE" sz="2000">
                        <a:latin typeface="Cambria Math" panose="02040503050406030204" pitchFamily="18" charset="0"/>
                      </a:rPr>
                      <m:t>𝑟</m:t>
                    </m:r>
                    <m:r>
                      <a:rPr lang="ar-AE" sz="2000">
                        <a:latin typeface="Cambria Math" panose="02040503050406030204" pitchFamily="18" charset="0"/>
                      </a:rPr>
                      <m:t>=</m:t>
                    </m:r>
                    <m:r>
                      <m:rPr>
                        <m:sty m:val="p"/>
                      </m:rPr>
                      <a:rPr lang="en-IN" sz="2000" i="1" dirty="0">
                        <a:latin typeface="Cambria Math" panose="02040503050406030204" pitchFamily="18" charset="0"/>
                        <a:cs typeface="Times New Roman" panose="02020603050405020304" pitchFamily="18" charset="0"/>
                      </a:rPr>
                      <m:t>min</m:t>
                    </m:r>
                    <m:r>
                      <a:rPr lang="en-IN" sz="2000" i="1" dirty="0">
                        <a:latin typeface="Cambria Math" panose="02040503050406030204" pitchFamily="18" charset="0"/>
                        <a:cs typeface="Times New Roman" panose="02020603050405020304" pitchFamily="18" charset="0"/>
                      </a:rPr>
                      <m:t>⁡</m:t>
                    </m:r>
                  </m:oMath>
                </a14:m>
                <a:r>
                  <a:rPr lang="en-IN" sz="2000" dirty="0">
                    <a:latin typeface="Times New Roman" panose="02020603050405020304" pitchFamily="18" charset="0"/>
                    <a:cs typeface="Times New Roman" panose="02020603050405020304" pitchFamily="18" charset="0"/>
                  </a:rPr>
                  <a:t>⁡</a:t>
                </a:r>
                <a14:m>
                  <m:oMath xmlns:m="http://schemas.openxmlformats.org/officeDocument/2006/math">
                    <m:d>
                      <m:dPr>
                        <m:sepChr m:val=","/>
                        <m:ctrlPr>
                          <a:rPr lang="ar-AE" sz="2000" i="1">
                            <a:latin typeface="Cambria Math" panose="02040503050406030204" pitchFamily="18" charset="0"/>
                          </a:rPr>
                        </m:ctrlPr>
                      </m:dPr>
                      <m:e>
                        <m:r>
                          <a:rPr lang="ar-AE" sz="2000">
                            <a:latin typeface="Cambria Math" panose="02040503050406030204" pitchFamily="18" charset="0"/>
                          </a:rPr>
                          <m:t>1</m:t>
                        </m:r>
                      </m:e>
                      <m:e>
                        <m:r>
                          <m:rPr>
                            <m:nor/>
                          </m:rPr>
                          <a:rPr lang="ar-AE" sz="2000">
                            <a:latin typeface="Times New Roman" panose="02020603050405020304" pitchFamily="18" charset="0"/>
                            <a:cs typeface="Times New Roman" panose="02020603050405020304" pitchFamily="18" charset="0"/>
                          </a:rPr>
                          <m:t> </m:t>
                        </m:r>
                        <m:f>
                          <m:fPr>
                            <m:ctrlPr>
                              <a:rPr lang="ar-AE" sz="2000" i="1">
                                <a:latin typeface="Cambria Math" panose="02040503050406030204" pitchFamily="18" charset="0"/>
                              </a:rPr>
                            </m:ctrlPr>
                          </m:fPr>
                          <m:num>
                            <m:sSub>
                              <m:sSubPr>
                                <m:ctrlPr>
                                  <a:rPr lang="ar-AE" sz="2000" i="1">
                                    <a:latin typeface="Cambria Math" panose="02040503050406030204" pitchFamily="18" charset="0"/>
                                  </a:rPr>
                                </m:ctrlPr>
                              </m:sSubPr>
                              <m:e>
                                <m:r>
                                  <a:rPr lang="ar-AE" sz="2000">
                                    <a:latin typeface="Cambria Math" panose="02040503050406030204" pitchFamily="18" charset="0"/>
                                  </a:rPr>
                                  <m:t>𝑠</m:t>
                                </m:r>
                              </m:e>
                              <m:sub>
                                <m:r>
                                  <m:rPr>
                                    <m:nor/>
                                  </m:rPr>
                                  <a:rPr lang="en-IN" sz="2000">
                                    <a:latin typeface="Times New Roman" panose="02020603050405020304" pitchFamily="18" charset="0"/>
                                    <a:cs typeface="Times New Roman" panose="02020603050405020304" pitchFamily="18" charset="0"/>
                                  </a:rPr>
                                  <m:t>OCSVM</m:t>
                                </m:r>
                              </m:sub>
                            </m:sSub>
                            <m:d>
                              <m:dPr>
                                <m:ctrlPr>
                                  <a:rPr lang="ar-AE" sz="2000" i="1">
                                    <a:latin typeface="Cambria Math" panose="02040503050406030204" pitchFamily="18" charset="0"/>
                                  </a:rPr>
                                </m:ctrlPr>
                              </m:dPr>
                              <m:e>
                                <m:r>
                                  <a:rPr lang="ar-AE" sz="2000">
                                    <a:latin typeface="Cambria Math" panose="02040503050406030204" pitchFamily="18" charset="0"/>
                                  </a:rPr>
                                  <m:t>𝑥</m:t>
                                </m:r>
                              </m:e>
                            </m:d>
                          </m:num>
                          <m:den>
                            <m:sSub>
                              <m:sSubPr>
                                <m:ctrlPr>
                                  <a:rPr lang="ar-AE" sz="2000" i="1">
                                    <a:latin typeface="Cambria Math" panose="02040503050406030204" pitchFamily="18" charset="0"/>
                                  </a:rPr>
                                </m:ctrlPr>
                              </m:sSubPr>
                              <m:e>
                                <m:r>
                                  <a:rPr lang="ar-AE" sz="2000">
                                    <a:latin typeface="Cambria Math" panose="02040503050406030204" pitchFamily="18" charset="0"/>
                                  </a:rPr>
                                  <m:t>𝜏</m:t>
                                </m:r>
                              </m:e>
                              <m:sub>
                                <m:r>
                                  <m:rPr>
                                    <m:nor/>
                                  </m:rPr>
                                  <a:rPr lang="en-IN" sz="2000">
                                    <a:latin typeface="Times New Roman" panose="02020603050405020304" pitchFamily="18" charset="0"/>
                                    <a:cs typeface="Times New Roman" panose="02020603050405020304" pitchFamily="18" charset="0"/>
                                  </a:rPr>
                                  <m:t>OCSVM</m:t>
                                </m:r>
                              </m:sub>
                            </m:sSub>
                          </m:den>
                        </m:f>
                      </m:e>
                    </m:d>
                    <m:r>
                      <a:rPr lang="en-IN" sz="2000" i="1">
                        <a:latin typeface="Cambria Math" panose="02040503050406030204" pitchFamily="18" charset="0"/>
                        <a:cs typeface="Times New Roman" panose="02020603050405020304" pitchFamily="18" charset="0"/>
                      </a:rPr>
                      <m:t> </m:t>
                    </m:r>
                  </m:oMath>
                </a14:m>
                <a:r>
                  <a:rPr lang="en-IN" sz="2000" b="0" i="0" u="none" strike="noStrike" cap="none" dirty="0">
                    <a:solidFill>
                      <a:schemeClr val="dk1"/>
                    </a:solidFill>
                    <a:latin typeface="Times New Roman"/>
                    <a:ea typeface="Times New Roman"/>
                    <a:cs typeface="Times New Roman"/>
                    <a:sym typeface="Times New Roman"/>
                  </a:rPr>
                  <a:t>where τ is 75th percentile of benign scores </a:t>
                </a:r>
                <a:endParaRPr dirty="0"/>
              </a:p>
              <a:p>
                <a:pPr marL="342900" marR="0" lvl="0"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Trace alignment module compares synthetic sessions vs Azure trace windows using KS and Wasserstein distance metrics: </a:t>
                </a:r>
                <a:endParaRPr dirty="0"/>
              </a:p>
              <a:p>
                <a:pPr marL="800100" marR="0" lvl="1" indent="-342900" algn="l" rtl="0">
                  <a:spcBef>
                    <a:spcPts val="0"/>
                  </a:spcBef>
                  <a:spcAft>
                    <a:spcPts val="0"/>
                  </a:spcAft>
                  <a:buClr>
                    <a:schemeClr val="dk1"/>
                  </a:buClr>
                  <a:buSzPts val="2000"/>
                  <a:buFont typeface="Arial" panose="020B0604020202020204" pitchFamily="34" charset="0"/>
                  <a:buChar char="•"/>
                </a:pPr>
                <a:r>
                  <a:rPr lang="en-IN" sz="2000" b="0" i="0" u="none" strike="noStrike" cap="none" dirty="0">
                    <a:solidFill>
                      <a:schemeClr val="dk1"/>
                    </a:solidFill>
                    <a:latin typeface="Times New Roman"/>
                    <a:ea typeface="Times New Roman"/>
                    <a:cs typeface="Times New Roman"/>
                    <a:sym typeface="Times New Roman"/>
                  </a:rPr>
                  <a:t>Benign workload calibrated against 347 Azure Functions trace windows (Jan 2021); synthetic generator captures general structure but not full statistical characteristics </a:t>
                </a:r>
                <a:endParaRPr dirty="0"/>
              </a:p>
            </p:txBody>
          </p:sp>
        </mc:Choice>
        <mc:Fallback>
          <p:sp>
            <p:nvSpPr>
              <p:cNvPr id="205" name="Google Shape;205;p14"/>
              <p:cNvSpPr txBox="1">
                <a:spLocks noRot="1" noChangeAspect="1" noMove="1" noResize="1" noEditPoints="1" noAdjustHandles="1" noChangeArrowheads="1" noChangeShapeType="1" noTextEdit="1"/>
              </p:cNvSpPr>
              <p:nvPr/>
            </p:nvSpPr>
            <p:spPr>
              <a:xfrm>
                <a:off x="938981" y="908220"/>
                <a:ext cx="11110452" cy="5708254"/>
              </a:xfrm>
              <a:prstGeom prst="rect">
                <a:avLst/>
              </a:prstGeom>
              <a:blipFill>
                <a:blip r:embed="rId3"/>
                <a:stretch>
                  <a:fillRect l="-494" t="-641" b="-1068"/>
                </a:stretch>
              </a:blipFill>
              <a:ln>
                <a:noFill/>
              </a:ln>
            </p:spPr>
            <p:txBody>
              <a:bodyPr/>
              <a:lstStyle/>
              <a:p>
                <a:r>
                  <a:rPr lang="en-IN">
                    <a:noFill/>
                  </a:rPr>
                  <a:t> </a:t>
                </a:r>
              </a:p>
            </p:txBody>
          </p:sp>
        </mc:Fallback>
      </mc:AlternateContent>
      <p:sp>
        <p:nvSpPr>
          <p:cNvPr id="206" name="Google Shape;206;p14"/>
          <p:cNvSpPr txBox="1"/>
          <p:nvPr/>
        </p:nvSpPr>
        <p:spPr>
          <a:xfrm>
            <a:off x="5638800" y="2979174"/>
            <a:ext cx="914400"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Open Sans"/>
              <a:ea typeface="Open Sans"/>
              <a:cs typeface="Open Sans"/>
              <a:sym typeface="Open Sans"/>
            </a:endParaRPr>
          </a:p>
        </p:txBody>
      </p:sp>
      <p:sp>
        <p:nvSpPr>
          <p:cNvPr id="207" name="Google Shape;207;p14"/>
          <p:cNvSpPr txBox="1"/>
          <p:nvPr/>
        </p:nvSpPr>
        <p:spPr>
          <a:xfrm>
            <a:off x="7742903" y="1538220"/>
            <a:ext cx="3510116" cy="193899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Temporal Features (x4):</a:t>
            </a:r>
            <a:endParaRPr dirty="0"/>
          </a:p>
          <a:p>
            <a:pPr marL="800100" marR="0" lvl="1" indent="-342900" algn="l" rtl="0">
              <a:spcBef>
                <a:spcPts val="0"/>
              </a:spcBef>
              <a:spcAft>
                <a:spcPts val="0"/>
              </a:spcAft>
              <a:buClr>
                <a:schemeClr val="dk1"/>
              </a:buClr>
              <a:buSzPts val="2000"/>
              <a:buFont typeface="Arial"/>
              <a:buChar char="•"/>
            </a:pPr>
            <a:r>
              <a:rPr lang="en-IN" sz="2000" b="0" i="0" u="none" strike="noStrike" cap="none" dirty="0">
                <a:solidFill>
                  <a:schemeClr val="dk1"/>
                </a:solidFill>
                <a:latin typeface="Times New Roman"/>
                <a:ea typeface="Times New Roman"/>
                <a:cs typeface="Times New Roman"/>
                <a:sym typeface="Times New Roman"/>
              </a:rPr>
              <a:t>Inter-request variance </a:t>
            </a:r>
            <a:endParaRPr dirty="0"/>
          </a:p>
          <a:p>
            <a:pPr marL="800100" marR="0" lvl="1" indent="-342900" algn="l" rtl="0">
              <a:spcBef>
                <a:spcPts val="0"/>
              </a:spcBef>
              <a:spcAft>
                <a:spcPts val="0"/>
              </a:spcAft>
              <a:buClr>
                <a:schemeClr val="dk1"/>
              </a:buClr>
              <a:buSzPts val="2000"/>
              <a:buFont typeface="Arial"/>
              <a:buChar char="•"/>
            </a:pPr>
            <a:r>
              <a:rPr lang="en-IN" sz="2000" b="0" i="0" u="none" strike="noStrike" cap="none" dirty="0">
                <a:solidFill>
                  <a:schemeClr val="dk1"/>
                </a:solidFill>
                <a:latin typeface="Times New Roman"/>
                <a:ea typeface="Times New Roman"/>
                <a:cs typeface="Times New Roman"/>
                <a:sym typeface="Times New Roman"/>
              </a:rPr>
              <a:t>Burst score </a:t>
            </a:r>
            <a:endParaRPr dirty="0"/>
          </a:p>
          <a:p>
            <a:pPr marL="800100" marR="0" lvl="1" indent="-342900" algn="l" rtl="0">
              <a:spcBef>
                <a:spcPts val="0"/>
              </a:spcBef>
              <a:spcAft>
                <a:spcPts val="0"/>
              </a:spcAft>
              <a:buClr>
                <a:schemeClr val="dk1"/>
              </a:buClr>
              <a:buSzPts val="2000"/>
              <a:buFont typeface="Arial"/>
              <a:buChar char="•"/>
            </a:pPr>
            <a:r>
              <a:rPr lang="en-IN" sz="2000" b="0" i="0" u="none" strike="noStrike" cap="none" dirty="0">
                <a:solidFill>
                  <a:schemeClr val="dk1"/>
                </a:solidFill>
                <a:latin typeface="Times New Roman"/>
                <a:ea typeface="Times New Roman"/>
                <a:cs typeface="Times New Roman"/>
                <a:sym typeface="Times New Roman"/>
              </a:rPr>
              <a:t>Session duration </a:t>
            </a:r>
            <a:endParaRPr dirty="0"/>
          </a:p>
          <a:p>
            <a:pPr marL="800100" marR="0" lvl="1" indent="-342900" algn="l" rtl="0">
              <a:spcBef>
                <a:spcPts val="0"/>
              </a:spcBef>
              <a:spcAft>
                <a:spcPts val="0"/>
              </a:spcAft>
              <a:buClr>
                <a:schemeClr val="dk1"/>
              </a:buClr>
              <a:buSzPts val="2000"/>
              <a:buFont typeface="Arial"/>
              <a:buChar char="•"/>
            </a:pPr>
            <a:r>
              <a:rPr lang="en-IN" sz="2000" b="0" i="0" u="none" strike="noStrike" cap="none" dirty="0">
                <a:solidFill>
                  <a:schemeClr val="dk1"/>
                </a:solidFill>
                <a:latin typeface="Times New Roman"/>
                <a:ea typeface="Times New Roman"/>
                <a:cs typeface="Times New Roman"/>
                <a:sym typeface="Times New Roman"/>
              </a:rPr>
              <a:t>Requests per hour</a:t>
            </a:r>
            <a:endParaRPr dirty="0"/>
          </a:p>
          <a:p>
            <a:pPr marL="0" marR="0" lvl="0" indent="0" algn="l" rtl="0">
              <a:spcBef>
                <a:spcPts val="0"/>
              </a:spcBef>
              <a:spcAft>
                <a:spcPts val="0"/>
              </a:spcAft>
              <a:buNone/>
            </a:pPr>
            <a:endParaRPr sz="2000" dirty="0">
              <a:solidFill>
                <a:schemeClr val="dk1"/>
              </a:solidFill>
              <a:latin typeface="Open Sans"/>
              <a:ea typeface="Open Sans"/>
              <a:cs typeface="Open Sans"/>
              <a:sym typeface="Open Sans"/>
            </a:endParaRPr>
          </a:p>
        </p:txBody>
      </p:sp>
      <p:sp>
        <p:nvSpPr>
          <p:cNvPr id="208" name="Google Shape;208;p14"/>
          <p:cNvSpPr txBox="1"/>
          <p:nvPr/>
        </p:nvSpPr>
        <p:spPr>
          <a:xfrm>
            <a:off x="4232787" y="1538220"/>
            <a:ext cx="3510116" cy="1938992"/>
          </a:xfrm>
          <a:prstGeom prst="rect">
            <a:avLst/>
          </a:prstGeom>
          <a:noFill/>
          <a:ln>
            <a:noFill/>
          </a:ln>
        </p:spPr>
        <p:txBody>
          <a:bodyPr spcFirstLastPara="1" wrap="square" lIns="91425" tIns="45700" rIns="91425" bIns="45700" anchor="t" anchorCtr="0">
            <a:spAutoFit/>
          </a:bodyPr>
          <a:lstStyle/>
          <a:p>
            <a:pPr marL="0" marR="0" lvl="0" indent="-1270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  Hash-Pattern Features (x4): </a:t>
            </a:r>
            <a:endParaRPr dirty="0"/>
          </a:p>
          <a:p>
            <a:pPr marL="742950" marR="0" lvl="1" indent="-285750" algn="l" rtl="0">
              <a:spcBef>
                <a:spcPts val="0"/>
              </a:spcBef>
              <a:spcAft>
                <a:spcPts val="0"/>
              </a:spcAft>
              <a:buClr>
                <a:schemeClr val="dk1"/>
              </a:buClr>
              <a:buSzPts val="2000"/>
              <a:buFont typeface="Arial"/>
              <a:buChar char="•"/>
            </a:pPr>
            <a:r>
              <a:rPr lang="en-IN" sz="2000" b="0" i="0" u="none" strike="noStrike" cap="none" dirty="0">
                <a:solidFill>
                  <a:schemeClr val="dk1"/>
                </a:solidFill>
                <a:latin typeface="Times New Roman"/>
                <a:ea typeface="Times New Roman"/>
                <a:cs typeface="Times New Roman"/>
                <a:sym typeface="Times New Roman"/>
              </a:rPr>
              <a:t>Hash diversity </a:t>
            </a:r>
            <a:endParaRPr dirty="0"/>
          </a:p>
          <a:p>
            <a:pPr marL="742950" marR="0" lvl="1" indent="-285750" algn="l" rtl="0">
              <a:spcBef>
                <a:spcPts val="0"/>
              </a:spcBef>
              <a:spcAft>
                <a:spcPts val="0"/>
              </a:spcAft>
              <a:buClr>
                <a:schemeClr val="dk1"/>
              </a:buClr>
              <a:buSzPts val="2000"/>
              <a:buFont typeface="Arial"/>
              <a:buChar char="•"/>
            </a:pPr>
            <a:r>
              <a:rPr lang="en-IN" sz="2000" b="0" i="0" u="none" strike="noStrike" cap="none" dirty="0">
                <a:solidFill>
                  <a:schemeClr val="dk1"/>
                </a:solidFill>
                <a:latin typeface="Times New Roman"/>
                <a:ea typeface="Times New Roman"/>
                <a:cs typeface="Times New Roman"/>
                <a:sym typeface="Times New Roman"/>
              </a:rPr>
              <a:t>Upload-to-query ratio </a:t>
            </a:r>
            <a:endParaRPr dirty="0"/>
          </a:p>
          <a:p>
            <a:pPr marL="742950" marR="0" lvl="1" indent="-285750" algn="l" rtl="0">
              <a:spcBef>
                <a:spcPts val="0"/>
              </a:spcBef>
              <a:spcAft>
                <a:spcPts val="0"/>
              </a:spcAft>
              <a:buClr>
                <a:schemeClr val="dk1"/>
              </a:buClr>
              <a:buSzPts val="2000"/>
              <a:buFont typeface="Arial"/>
              <a:buChar char="•"/>
            </a:pPr>
            <a:r>
              <a:rPr lang="en-IN" sz="2000" b="0" i="0" u="none" strike="noStrike" cap="none" dirty="0">
                <a:solidFill>
                  <a:schemeClr val="dk1"/>
                </a:solidFill>
                <a:latin typeface="Times New Roman"/>
                <a:ea typeface="Times New Roman"/>
                <a:cs typeface="Times New Roman"/>
                <a:sym typeface="Times New Roman"/>
              </a:rPr>
              <a:t>Cross-user overlap </a:t>
            </a:r>
            <a:endParaRPr dirty="0"/>
          </a:p>
          <a:p>
            <a:pPr marL="742950" marR="0" lvl="1" indent="-285750" algn="l" rtl="0">
              <a:spcBef>
                <a:spcPts val="0"/>
              </a:spcBef>
              <a:spcAft>
                <a:spcPts val="0"/>
              </a:spcAft>
              <a:buClr>
                <a:schemeClr val="dk1"/>
              </a:buClr>
              <a:buSzPts val="2000"/>
              <a:buFont typeface="Arial"/>
              <a:buChar char="•"/>
            </a:pPr>
            <a:r>
              <a:rPr lang="en-IN" sz="2000" b="0" i="0" u="none" strike="noStrike" cap="none" dirty="0">
                <a:solidFill>
                  <a:schemeClr val="dk1"/>
                </a:solidFill>
                <a:latin typeface="Times New Roman"/>
                <a:ea typeface="Times New Roman"/>
                <a:cs typeface="Times New Roman"/>
                <a:sym typeface="Times New Roman"/>
              </a:rPr>
              <a:t>Collision rate </a:t>
            </a:r>
            <a:endParaRPr dirty="0"/>
          </a:p>
          <a:p>
            <a:pPr marL="0" marR="0" lvl="0" indent="0" algn="l" rtl="0">
              <a:spcBef>
                <a:spcPts val="0"/>
              </a:spcBef>
              <a:spcAft>
                <a:spcPts val="0"/>
              </a:spcAft>
              <a:buNone/>
            </a:pPr>
            <a:endParaRPr sz="2000" dirty="0">
              <a:solidFill>
                <a:schemeClr val="dk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4" name="Google Shape;214;p15"/>
          <p:cNvSpPr txBox="1">
            <a:spLocks noGrp="1"/>
          </p:cNvSpPr>
          <p:nvPr>
            <p:ph type="ftr" idx="11"/>
          </p:nvPr>
        </p:nvSpPr>
        <p:spPr>
          <a:xfrm>
            <a:off x="399927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215" name="Google Shape;215;p15"/>
          <p:cNvSpPr txBox="1">
            <a:spLocks noGrp="1"/>
          </p:cNvSpPr>
          <p:nvPr>
            <p:ph type="sldNum" idx="12"/>
          </p:nvPr>
        </p:nvSpPr>
        <p:spPr>
          <a:xfrm>
            <a:off x="8571271"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4" name="Google Shape;213;p15">
            <a:extLst>
              <a:ext uri="{FF2B5EF4-FFF2-40B4-BE49-F238E27FC236}">
                <a16:creationId xmlns:a16="http://schemas.microsoft.com/office/drawing/2014/main" id="{8EA74F12-81AE-6382-0F20-6414721A696D}"/>
              </a:ext>
            </a:extLst>
          </p:cNvPr>
          <p:cNvSpPr txBox="1">
            <a:spLocks/>
          </p:cNvSpPr>
          <p:nvPr/>
        </p:nvSpPr>
        <p:spPr>
          <a:xfrm>
            <a:off x="798871" y="273050"/>
            <a:ext cx="10515600" cy="559107"/>
          </a:xfrm>
          <a:prstGeom prst="rect">
            <a:avLst/>
          </a:prstGeom>
          <a:noFill/>
          <a:ln>
            <a:noFill/>
          </a:ln>
        </p:spPr>
        <p:txBody>
          <a:bodyPr spcFirstLastPara="1" wrap="square" lIns="91425" tIns="45700" rIns="91425" bIns="45700" anchor="ctr" anchorCtr="0">
            <a:normAutofit fontScale="975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Open Sans"/>
              <a:buNone/>
              <a:defRPr sz="44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3600"/>
              <a:buFont typeface="Times New Roman"/>
              <a:buNone/>
            </a:pPr>
            <a:r>
              <a:rPr lang="en-IN" sz="3600" b="1" dirty="0">
                <a:latin typeface="Times New Roman"/>
                <a:ea typeface="Times New Roman"/>
                <a:cs typeface="Times New Roman"/>
                <a:sym typeface="Times New Roman"/>
              </a:rPr>
              <a:t>ALGORITHM – Complete Flow</a:t>
            </a:r>
            <a:endParaRPr lang="en-IN" sz="3600" dirty="0">
              <a:latin typeface="Times New Roman"/>
              <a:ea typeface="Times New Roman"/>
              <a:cs typeface="Times New Roman"/>
              <a:sym typeface="Times New Roman"/>
            </a:endParaRPr>
          </a:p>
        </p:txBody>
      </p:sp>
      <p:sp>
        <p:nvSpPr>
          <p:cNvPr id="5" name="Google Shape;214;p15">
            <a:extLst>
              <a:ext uri="{FF2B5EF4-FFF2-40B4-BE49-F238E27FC236}">
                <a16:creationId xmlns:a16="http://schemas.microsoft.com/office/drawing/2014/main" id="{58DC4AF6-A408-3E7D-1E86-AC2955CEBC2B}"/>
              </a:ext>
            </a:extLst>
          </p:cNvPr>
          <p:cNvSpPr txBox="1">
            <a:spLocks/>
          </p:cNvSpPr>
          <p:nvPr/>
        </p:nvSpPr>
        <p:spPr>
          <a:xfrm>
            <a:off x="3999271" y="6492875"/>
            <a:ext cx="41148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200" b="1"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pen Sans"/>
                <a:ea typeface="Open Sans"/>
                <a:cs typeface="Open Sans"/>
                <a:sym typeface="Open Sans"/>
              </a:defRPr>
            </a:lvl9pPr>
          </a:lstStyle>
          <a:p>
            <a:r>
              <a:rPr lang="en-US"/>
              <a:t>TEAM 44 - CS6811 - PROJECT WORK</a:t>
            </a:r>
          </a:p>
        </p:txBody>
      </p:sp>
      <p:sp>
        <p:nvSpPr>
          <p:cNvPr id="6" name="Google Shape;215;p15">
            <a:extLst>
              <a:ext uri="{FF2B5EF4-FFF2-40B4-BE49-F238E27FC236}">
                <a16:creationId xmlns:a16="http://schemas.microsoft.com/office/drawing/2014/main" id="{7EB64688-6E7C-C1F3-561E-BDDF3719364A}"/>
              </a:ext>
            </a:extLst>
          </p:cNvPr>
          <p:cNvSpPr txBox="1">
            <a:spLocks/>
          </p:cNvSpPr>
          <p:nvPr/>
        </p:nvSpPr>
        <p:spPr>
          <a:xfrm>
            <a:off x="8571271" y="6492875"/>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1pPr>
            <a:lvl2pPr marL="0" marR="0" lvl="1"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2pPr>
            <a:lvl3pPr marL="0" marR="0" lvl="2"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3pPr>
            <a:lvl4pPr marL="0" marR="0" lvl="3"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4pPr>
            <a:lvl5pPr marL="0" marR="0" lvl="4"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5pPr>
            <a:lvl6pPr marL="0" marR="0" lvl="5"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6pPr>
            <a:lvl7pPr marL="0" marR="0" lvl="6"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7pPr>
            <a:lvl8pPr marL="0" marR="0" lvl="7"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8pPr>
            <a:lvl9pPr marL="0" marR="0" lvl="8" indent="0" algn="r" rtl="0">
              <a:lnSpc>
                <a:spcPct val="100000"/>
              </a:lnSpc>
              <a:spcBef>
                <a:spcPts val="0"/>
              </a:spcBef>
              <a:spcAft>
                <a:spcPts val="0"/>
              </a:spcAft>
              <a:buClr>
                <a:srgbClr val="000000"/>
              </a:buClr>
              <a:buFont typeface="Arial"/>
              <a:buNone/>
              <a:defRPr sz="1200" b="1" i="0" u="none" strike="noStrike" cap="none">
                <a:solidFill>
                  <a:srgbClr val="888888"/>
                </a:solidFill>
                <a:latin typeface="Open Sans"/>
                <a:ea typeface="Open Sans"/>
                <a:cs typeface="Open Sans"/>
                <a:sym typeface="Open Sans"/>
              </a:defRPr>
            </a:lvl9pPr>
          </a:lstStyle>
          <a:p>
            <a:fld id="{00000000-1234-1234-1234-123412341234}" type="slidenum">
              <a:rPr lang="en-IN" smtClean="0"/>
              <a:pPr/>
              <a:t>15</a:t>
            </a:fld>
            <a:endParaRPr lang="en-IN"/>
          </a:p>
        </p:txBody>
      </p:sp>
      <p:pic>
        <p:nvPicPr>
          <p:cNvPr id="10" name="Picture 9">
            <a:extLst>
              <a:ext uri="{FF2B5EF4-FFF2-40B4-BE49-F238E27FC236}">
                <a16:creationId xmlns:a16="http://schemas.microsoft.com/office/drawing/2014/main" id="{3C2BC725-57C6-A15C-0900-58416A28DC35}"/>
              </a:ext>
            </a:extLst>
          </p:cNvPr>
          <p:cNvPicPr>
            <a:picLocks noChangeAspect="1"/>
          </p:cNvPicPr>
          <p:nvPr/>
        </p:nvPicPr>
        <p:blipFill>
          <a:blip r:embed="rId3"/>
          <a:stretch>
            <a:fillRect/>
          </a:stretch>
        </p:blipFill>
        <p:spPr>
          <a:xfrm>
            <a:off x="6418693" y="951122"/>
            <a:ext cx="8180270" cy="5361188"/>
          </a:xfrm>
          <a:prstGeom prst="rect">
            <a:avLst/>
          </a:prstGeom>
        </p:spPr>
      </p:pic>
      <p:pic>
        <p:nvPicPr>
          <p:cNvPr id="12" name="Picture 11">
            <a:extLst>
              <a:ext uri="{FF2B5EF4-FFF2-40B4-BE49-F238E27FC236}">
                <a16:creationId xmlns:a16="http://schemas.microsoft.com/office/drawing/2014/main" id="{C093D005-2BB2-B629-2CAD-D5DFFE2A398E}"/>
              </a:ext>
            </a:extLst>
          </p:cNvPr>
          <p:cNvPicPr>
            <a:picLocks noChangeAspect="1"/>
          </p:cNvPicPr>
          <p:nvPr/>
        </p:nvPicPr>
        <p:blipFill>
          <a:blip r:embed="rId4"/>
          <a:srcRect r="24484"/>
          <a:stretch>
            <a:fillRect/>
          </a:stretch>
        </p:blipFill>
        <p:spPr>
          <a:xfrm>
            <a:off x="798870" y="832157"/>
            <a:ext cx="5619823" cy="59127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0B32CF-A78A-74BE-5EF2-947C81FA6D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16</a:t>
            </a:fld>
            <a:endParaRPr lang="en-IN"/>
          </a:p>
        </p:txBody>
      </p:sp>
      <p:sp>
        <p:nvSpPr>
          <p:cNvPr id="5" name="Google Shape;213;p15">
            <a:extLst>
              <a:ext uri="{FF2B5EF4-FFF2-40B4-BE49-F238E27FC236}">
                <a16:creationId xmlns:a16="http://schemas.microsoft.com/office/drawing/2014/main" id="{8F1A062D-1D88-5B55-74EC-1562EEF0E9C3}"/>
              </a:ext>
            </a:extLst>
          </p:cNvPr>
          <p:cNvSpPr txBox="1">
            <a:spLocks noGrp="1"/>
          </p:cNvSpPr>
          <p:nvPr>
            <p:ph type="title"/>
          </p:nvPr>
        </p:nvSpPr>
        <p:spPr>
          <a:xfrm>
            <a:off x="838200" y="136525"/>
            <a:ext cx="10515600" cy="470617"/>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Open Sans"/>
              <a:buNone/>
              <a:defRPr sz="44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3600"/>
              <a:buFont typeface="Times New Roman"/>
              <a:buNone/>
            </a:pPr>
            <a:r>
              <a:rPr lang="en-IN" sz="3600" b="1" dirty="0">
                <a:latin typeface="Times New Roman"/>
                <a:ea typeface="Times New Roman"/>
                <a:cs typeface="Times New Roman"/>
                <a:sym typeface="Times New Roman"/>
              </a:rPr>
              <a:t>ALGORITHM – Core Deduplication and Adaptive PoW</a:t>
            </a:r>
            <a:endParaRPr lang="en-IN" sz="3600" dirty="0">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EA6C7694-CC26-CF7D-7E7C-4208B55BEEAC}"/>
              </a:ext>
            </a:extLst>
          </p:cNvPr>
          <p:cNvPicPr>
            <a:picLocks noChangeAspect="1"/>
          </p:cNvPicPr>
          <p:nvPr/>
        </p:nvPicPr>
        <p:blipFill>
          <a:blip r:embed="rId2"/>
          <a:srcRect t="6151" b="507"/>
          <a:stretch>
            <a:fillRect/>
          </a:stretch>
        </p:blipFill>
        <p:spPr>
          <a:xfrm>
            <a:off x="1168269" y="533400"/>
            <a:ext cx="7346466" cy="6324600"/>
          </a:xfrm>
          <a:prstGeom prst="rect">
            <a:avLst/>
          </a:prstGeom>
        </p:spPr>
      </p:pic>
    </p:spTree>
    <p:extLst>
      <p:ext uri="{BB962C8B-B14F-4D97-AF65-F5344CB8AC3E}">
        <p14:creationId xmlns:p14="http://schemas.microsoft.com/office/powerpoint/2010/main" val="1055669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0E2E3-B342-3B3A-4B04-F825DD2718A4}"/>
              </a:ext>
            </a:extLst>
          </p:cNvPr>
          <p:cNvSpPr>
            <a:spLocks noGrp="1"/>
          </p:cNvSpPr>
          <p:nvPr>
            <p:ph type="title"/>
          </p:nvPr>
        </p:nvSpPr>
        <p:spPr>
          <a:xfrm>
            <a:off x="838200" y="-247727"/>
            <a:ext cx="10515600" cy="1325563"/>
          </a:xfrm>
        </p:spPr>
        <p:txBody>
          <a:bodyPr/>
          <a:lstStyle/>
          <a:p>
            <a:r>
              <a:rPr lang="en-US" b="1" dirty="0">
                <a:latin typeface="Times New Roman" panose="02020603050405020304" pitchFamily="18" charset="0"/>
                <a:cs typeface="Times New Roman" panose="02020603050405020304" pitchFamily="18" charset="0"/>
              </a:rPr>
              <a:t>SAMPLE UI</a:t>
            </a:r>
            <a:endParaRPr lang="en-IN" b="1"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238C9EC8-5CF1-64EC-F3CE-D637DE03E4B0}"/>
              </a:ext>
            </a:extLst>
          </p:cNvPr>
          <p:cNvSpPr>
            <a:spLocks noGrp="1"/>
          </p:cNvSpPr>
          <p:nvPr>
            <p:ph type="body" idx="1"/>
          </p:nvPr>
        </p:nvSpPr>
        <p:spPr/>
        <p:txBody>
          <a:bodyPr/>
          <a:lstStyle/>
          <a:p>
            <a:endParaRPr lang="en-IN" dirty="0"/>
          </a:p>
        </p:txBody>
      </p:sp>
      <p:sp>
        <p:nvSpPr>
          <p:cNvPr id="6" name="Text Placeholder 5">
            <a:extLst>
              <a:ext uri="{FF2B5EF4-FFF2-40B4-BE49-F238E27FC236}">
                <a16:creationId xmlns:a16="http://schemas.microsoft.com/office/drawing/2014/main" id="{6375FC16-65B2-F138-7D7C-B23A5DE2563C}"/>
              </a:ext>
            </a:extLst>
          </p:cNvPr>
          <p:cNvSpPr>
            <a:spLocks noGrp="1"/>
          </p:cNvSpPr>
          <p:nvPr>
            <p:ph type="body" idx="2"/>
          </p:nvPr>
        </p:nvSpPr>
        <p:spPr>
          <a:xfrm>
            <a:off x="7391400" y="2764761"/>
            <a:ext cx="5181600" cy="4351338"/>
          </a:xfrm>
        </p:spPr>
        <p:txBody>
          <a:bodyPr/>
          <a:lstStyle/>
          <a:p>
            <a:endParaRPr lang="en-IN" dirty="0"/>
          </a:p>
        </p:txBody>
      </p:sp>
      <p:sp>
        <p:nvSpPr>
          <p:cNvPr id="4" name="Slide Number Placeholder 3">
            <a:extLst>
              <a:ext uri="{FF2B5EF4-FFF2-40B4-BE49-F238E27FC236}">
                <a16:creationId xmlns:a16="http://schemas.microsoft.com/office/drawing/2014/main" id="{48F1F4FC-67BE-7D5E-8614-4F8E39F0C2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17</a:t>
            </a:fld>
            <a:endParaRPr lang="en-IN"/>
          </a:p>
        </p:txBody>
      </p:sp>
      <p:pic>
        <p:nvPicPr>
          <p:cNvPr id="8" name="Picture 7">
            <a:extLst>
              <a:ext uri="{FF2B5EF4-FFF2-40B4-BE49-F238E27FC236}">
                <a16:creationId xmlns:a16="http://schemas.microsoft.com/office/drawing/2014/main" id="{485420EA-4E7F-A739-70B3-F4B6F69ACA8F}"/>
              </a:ext>
            </a:extLst>
          </p:cNvPr>
          <p:cNvPicPr>
            <a:picLocks noChangeAspect="1"/>
          </p:cNvPicPr>
          <p:nvPr/>
        </p:nvPicPr>
        <p:blipFill>
          <a:blip r:embed="rId2"/>
          <a:srcRect r="41447"/>
          <a:stretch>
            <a:fillRect/>
          </a:stretch>
        </p:blipFill>
        <p:spPr>
          <a:xfrm>
            <a:off x="6019800" y="977185"/>
            <a:ext cx="6656103" cy="5237561"/>
          </a:xfrm>
          <a:prstGeom prst="rect">
            <a:avLst/>
          </a:prstGeom>
        </p:spPr>
      </p:pic>
      <p:pic>
        <p:nvPicPr>
          <p:cNvPr id="10" name="Picture 9">
            <a:extLst>
              <a:ext uri="{FF2B5EF4-FFF2-40B4-BE49-F238E27FC236}">
                <a16:creationId xmlns:a16="http://schemas.microsoft.com/office/drawing/2014/main" id="{DE4537C1-6D51-E0CA-9EDB-35888BEE7A55}"/>
              </a:ext>
            </a:extLst>
          </p:cNvPr>
          <p:cNvPicPr>
            <a:picLocks noChangeAspect="1"/>
          </p:cNvPicPr>
          <p:nvPr/>
        </p:nvPicPr>
        <p:blipFill>
          <a:blip r:embed="rId3"/>
          <a:stretch>
            <a:fillRect/>
          </a:stretch>
        </p:blipFill>
        <p:spPr>
          <a:xfrm>
            <a:off x="0" y="977185"/>
            <a:ext cx="6309275" cy="5237561"/>
          </a:xfrm>
          <a:prstGeom prst="rect">
            <a:avLst/>
          </a:prstGeom>
        </p:spPr>
      </p:pic>
    </p:spTree>
    <p:extLst>
      <p:ext uri="{BB962C8B-B14F-4D97-AF65-F5344CB8AC3E}">
        <p14:creationId xmlns:p14="http://schemas.microsoft.com/office/powerpoint/2010/main" val="3903227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4"/>
          <p:cNvSpPr txBox="1">
            <a:spLocks noGrp="1"/>
          </p:cNvSpPr>
          <p:nvPr>
            <p:ph type="title"/>
          </p:nvPr>
        </p:nvSpPr>
        <p:spPr>
          <a:xfrm>
            <a:off x="838200" y="22747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IN" sz="3600" b="1" dirty="0">
                <a:latin typeface="Times New Roman"/>
                <a:ea typeface="Times New Roman"/>
                <a:cs typeface="Times New Roman"/>
                <a:sym typeface="Times New Roman"/>
              </a:rPr>
              <a:t>EXPERIMENTAL SETUP</a:t>
            </a:r>
            <a:endParaRPr sz="3600" dirty="0">
              <a:latin typeface="Times New Roman"/>
              <a:ea typeface="Times New Roman"/>
              <a:cs typeface="Times New Roman"/>
              <a:sym typeface="Times New Roman"/>
            </a:endParaRPr>
          </a:p>
        </p:txBody>
      </p:sp>
      <p:sp>
        <p:nvSpPr>
          <p:cNvPr id="238" name="Google Shape;23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239" name="Google Shape;23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sp>
        <p:nvSpPr>
          <p:cNvPr id="240" name="Google Shape;240;p24"/>
          <p:cNvSpPr txBox="1"/>
          <p:nvPr/>
        </p:nvSpPr>
        <p:spPr>
          <a:xfrm>
            <a:off x="838200" y="1214377"/>
            <a:ext cx="11009671" cy="5016718"/>
          </a:xfrm>
          <a:prstGeom prst="rect">
            <a:avLst/>
          </a:prstGeom>
          <a:noFill/>
          <a:ln>
            <a:noFill/>
          </a:ln>
        </p:spPr>
        <p:txBody>
          <a:bodyPr spcFirstLastPara="1" wrap="square" lIns="91425" tIns="45700" rIns="91425" bIns="45700" anchor="t" anchorCtr="0">
            <a:spAutoFit/>
          </a:bodyPr>
          <a:lstStyle/>
          <a:p>
            <a:r>
              <a:rPr lang="en-IN" sz="2000" b="1" dirty="0">
                <a:latin typeface="Times New Roman" panose="02020603050405020304" pitchFamily="18" charset="0"/>
                <a:cs typeface="Times New Roman" panose="02020603050405020304" pitchFamily="18" charset="0"/>
              </a:rPr>
              <a:t>System Environment</a:t>
            </a:r>
          </a:p>
          <a:p>
            <a:r>
              <a:rPr lang="en-IN" sz="2000" dirty="0">
                <a:latin typeface="Times New Roman" panose="02020603050405020304" pitchFamily="18" charset="0"/>
                <a:cs typeface="Times New Roman" panose="02020603050405020304" pitchFamily="18" charset="0"/>
              </a:rPr>
              <a:t>Implemented in Python 3.12 on ASUS ROG Strix G513RC (</a:t>
            </a:r>
            <a:r>
              <a:rPr lang="en-IN" sz="2000" dirty="0" err="1">
                <a:latin typeface="Times New Roman" panose="02020603050405020304" pitchFamily="18" charset="0"/>
                <a:cs typeface="Times New Roman" panose="02020603050405020304" pitchFamily="18" charset="0"/>
              </a:rPr>
              <a:t>Ryzen</a:t>
            </a:r>
            <a:r>
              <a:rPr lang="en-IN" sz="2000" dirty="0">
                <a:latin typeface="Times New Roman" panose="02020603050405020304" pitchFamily="18" charset="0"/>
                <a:cs typeface="Times New Roman" panose="02020603050405020304" pitchFamily="18" charset="0"/>
              </a:rPr>
              <a:t> 7 6800H, 16 GB RAM, Windows 11). A cloud-simulated setup ensures realistic yet reproducible deployment.</a:t>
            </a:r>
          </a:p>
          <a:p>
            <a:pPr marL="34290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Uvicorn</a:t>
            </a:r>
            <a:r>
              <a:rPr lang="en-IN" sz="2000" dirty="0">
                <a:latin typeface="Times New Roman" panose="02020603050405020304" pitchFamily="18" charset="0"/>
                <a:cs typeface="Times New Roman" panose="02020603050405020304" pitchFamily="18" charset="0"/>
              </a:rPr>
              <a:t> (API layer)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NumPy, Pandas, Scikit-learn (ML &amp; analysis)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Ristretto255 OPRF (</a:t>
            </a:r>
            <a:r>
              <a:rPr lang="en-IN" sz="2000" dirty="0" err="1">
                <a:latin typeface="Times New Roman" panose="02020603050405020304" pitchFamily="18" charset="0"/>
                <a:cs typeface="Times New Roman" panose="02020603050405020304" pitchFamily="18" charset="0"/>
              </a:rPr>
              <a:t>libsodium</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rbcl</a:t>
            </a:r>
            <a:r>
              <a:rPr lang="en-IN" sz="2000" dirty="0">
                <a:latin typeface="Times New Roman" panose="02020603050405020304" pitchFamily="18" charset="0"/>
                <a:cs typeface="Times New Roman" panose="02020603050405020304" pitchFamily="18" charset="0"/>
              </a:rPr>
              <a:t>) for secure key derivation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Redis (deduplication index &amp; control state)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AWS </a:t>
            </a:r>
            <a:r>
              <a:rPr lang="en-IN" sz="2000" dirty="0" err="1">
                <a:latin typeface="Times New Roman" panose="02020603050405020304" pitchFamily="18" charset="0"/>
                <a:cs typeface="Times New Roman" panose="02020603050405020304" pitchFamily="18" charset="0"/>
              </a:rPr>
              <a:t>LocalStack</a:t>
            </a:r>
            <a:r>
              <a:rPr lang="en-IN" sz="2000" dirty="0">
                <a:latin typeface="Times New Roman" panose="02020603050405020304" pitchFamily="18" charset="0"/>
                <a:cs typeface="Times New Roman" panose="02020603050405020304" pitchFamily="18" charset="0"/>
              </a:rPr>
              <a:t> (S3 simulation) </a:t>
            </a:r>
          </a:p>
          <a:p>
            <a:pPr marL="34290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pytest</a:t>
            </a:r>
            <a:r>
              <a:rPr lang="en-IN" sz="2000" dirty="0">
                <a:latin typeface="Times New Roman" panose="02020603050405020304" pitchFamily="18" charset="0"/>
                <a:cs typeface="Times New Roman" panose="02020603050405020304" pitchFamily="18" charset="0"/>
              </a:rPr>
              <a:t>: 46 tests across crypto, behavioural, and integration layers </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Cloud &amp; Storage Configuration</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S3 simulated via </a:t>
            </a:r>
            <a:r>
              <a:rPr lang="en-IN" sz="2000" dirty="0" err="1">
                <a:latin typeface="Times New Roman" panose="02020603050405020304" pitchFamily="18" charset="0"/>
                <a:cs typeface="Times New Roman" panose="02020603050405020304" pitchFamily="18" charset="0"/>
              </a:rPr>
              <a:t>LocalStack</a:t>
            </a:r>
            <a:r>
              <a:rPr lang="en-IN" sz="2000" dirty="0">
                <a:latin typeface="Times New Roman" panose="02020603050405020304" pitchFamily="18" charset="0"/>
                <a:cs typeface="Times New Roman" panose="02020603050405020304" pitchFamily="18" charset="0"/>
              </a:rPr>
              <a:t>; backend abstraction supports S3, </a:t>
            </a:r>
            <a:r>
              <a:rPr lang="en-IN" sz="2000" dirty="0" err="1">
                <a:latin typeface="Times New Roman" panose="02020603050405020304" pitchFamily="18" charset="0"/>
                <a:cs typeface="Times New Roman" panose="02020603050405020304" pitchFamily="18" charset="0"/>
              </a:rPr>
              <a:t>MinIO</a:t>
            </a:r>
            <a:r>
              <a:rPr lang="en-IN" sz="2000" dirty="0">
                <a:latin typeface="Times New Roman" panose="02020603050405020304" pitchFamily="18" charset="0"/>
                <a:cs typeface="Times New Roman" panose="02020603050405020304" pitchFamily="18" charset="0"/>
              </a:rPr>
              <a:t>, and local storage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2200-window dataset (1400 benign, 800 attack: hash probing, ownership fraud, DoS)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Chunks stored using HMAC-based locators instead of raw SHA-256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Redis for low-latency state; SQLite for telemetry &amp; feature extraction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Ristretto255 OPRF overhead: ~0.646 </a:t>
            </a:r>
            <a:r>
              <a:rPr lang="en-IN" sz="2000" dirty="0" err="1">
                <a:latin typeface="Times New Roman" panose="02020603050405020304" pitchFamily="18" charset="0"/>
                <a:cs typeface="Times New Roman" panose="02020603050405020304" pitchFamily="18" charset="0"/>
              </a:rPr>
              <a:t>ms</a:t>
            </a:r>
            <a:r>
              <a:rPr lang="en-IN" sz="2000" dirty="0">
                <a:latin typeface="Times New Roman" panose="02020603050405020304" pitchFamily="18" charset="0"/>
                <a:cs typeface="Times New Roman" panose="02020603050405020304" pitchFamily="18" charset="0"/>
              </a:rPr>
              <a:t> per chunk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5"/>
          <p:cNvSpPr txBox="1">
            <a:spLocks noGrp="1"/>
          </p:cNvSpPr>
          <p:nvPr>
            <p:ph type="title"/>
          </p:nvPr>
        </p:nvSpPr>
        <p:spPr>
          <a:xfrm>
            <a:off x="907026" y="-9146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IN" sz="3600" b="1" dirty="0">
                <a:latin typeface="Times New Roman"/>
                <a:ea typeface="Times New Roman"/>
                <a:cs typeface="Times New Roman"/>
                <a:sym typeface="Times New Roman"/>
              </a:rPr>
              <a:t>DATASET PREPARATION</a:t>
            </a:r>
            <a:endParaRPr sz="3600" dirty="0">
              <a:latin typeface="Times New Roman"/>
              <a:ea typeface="Times New Roman"/>
              <a:cs typeface="Times New Roman"/>
              <a:sym typeface="Times New Roman"/>
            </a:endParaRPr>
          </a:p>
        </p:txBody>
      </p:sp>
      <p:sp>
        <p:nvSpPr>
          <p:cNvPr id="246" name="Google Shape;24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247" name="Google Shape;24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19</a:t>
            </a:fld>
            <a:endParaRPr/>
          </a:p>
        </p:txBody>
      </p:sp>
      <p:sp>
        <p:nvSpPr>
          <p:cNvPr id="248" name="Google Shape;248;p25"/>
          <p:cNvSpPr txBox="1"/>
          <p:nvPr/>
        </p:nvSpPr>
        <p:spPr>
          <a:xfrm>
            <a:off x="838200" y="917953"/>
            <a:ext cx="11019503" cy="50167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Two complementary data categories: prototype-generated operational measurements and a structured behavioural evaluation dataset:</a:t>
            </a:r>
            <a:endParaRPr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Prototype measurements: deduplication outcomes, storage reduction, lookup latency, encryption/OPRF overhead, throughput, and adaptive PoW challenge statistics</a:t>
            </a:r>
            <a:endParaRPr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Behavioural evaluation dataset: 2200-window simulated stress-test using same 12-feature schema as live telemetry pipeline</a:t>
            </a:r>
            <a:endParaRPr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Benign windows: 1400 (63.6%) calibrated against 347 Azure Functions trace windows (Jan 2021). Attack windows: 800 (36.4%) — rule-generated synthetic traces; explicitly labelled as rule-derived not real attacker traces</a:t>
            </a:r>
            <a:endParaRPr dirty="0"/>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Dataset composition (2200 total windows):</a:t>
            </a:r>
            <a:endParaRPr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Normal (trace-aligned synthetic benign): 1400 (63.6%)</a:t>
            </a:r>
            <a:endParaRPr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Ownership Fraud: 260 (11.8%)</a:t>
            </a:r>
            <a:endParaRPr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Hash Probing: 270 (12.3%)</a:t>
            </a:r>
            <a:endParaRPr dirty="0"/>
          </a:p>
          <a:p>
            <a:pPr marL="342900" marR="0" lvl="0" indent="-215900" algn="l" rtl="0">
              <a:spcBef>
                <a:spcPts val="0"/>
              </a:spcBef>
              <a:spcAft>
                <a:spcPts val="0"/>
              </a:spcAft>
              <a:buClr>
                <a:schemeClr val="dk1"/>
              </a:buClr>
              <a:buSzPts val="2000"/>
              <a:buFont typeface="Arial"/>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Deduplication DoS: 270 (12.3%). Total Anomalies: 800 (36.4%). 70/30 stratified train-test split used for supervised evaluation</a:t>
            </a:r>
            <a:r>
              <a:rPr lang="en-IN" sz="2000" dirty="0">
                <a:solidFill>
                  <a:schemeClr val="dk1"/>
                </a:solidFill>
                <a:latin typeface="Open Sans"/>
                <a:ea typeface="Open Sans"/>
                <a:cs typeface="Open Sans"/>
                <a:sym typeface="Open Sans"/>
              </a:rPr>
              <a: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8"/>
          <p:cNvSpPr txBox="1">
            <a:spLocks noGrp="1"/>
          </p:cNvSpPr>
          <p:nvPr>
            <p:ph type="title"/>
          </p:nvPr>
        </p:nvSpPr>
        <p:spPr>
          <a:xfrm>
            <a:off x="779585"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3600" b="1" dirty="0">
                <a:latin typeface="Times New Roman"/>
                <a:ea typeface="Times New Roman"/>
                <a:cs typeface="Times New Roman"/>
                <a:sym typeface="Times New Roman"/>
              </a:rPr>
              <a:t>RESULTS AND DISCUSSION</a:t>
            </a:r>
            <a:endParaRPr sz="3600" dirty="0">
              <a:latin typeface="Times New Roman"/>
              <a:ea typeface="Times New Roman"/>
              <a:cs typeface="Times New Roman"/>
              <a:sym typeface="Times New Roman"/>
            </a:endParaRPr>
          </a:p>
        </p:txBody>
      </p:sp>
      <p:sp>
        <p:nvSpPr>
          <p:cNvPr id="254" name="Google Shape;25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255" name="Google Shape;25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20</a:t>
            </a:fld>
            <a:endParaRPr/>
          </a:p>
        </p:txBody>
      </p:sp>
      <p:sp>
        <p:nvSpPr>
          <p:cNvPr id="256" name="Google Shape;256;p18"/>
          <p:cNvSpPr txBox="1"/>
          <p:nvPr/>
        </p:nvSpPr>
        <p:spPr>
          <a:xfrm>
            <a:off x="779585" y="1325563"/>
            <a:ext cx="11110452" cy="1486777"/>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Clr>
                <a:schemeClr val="dk1"/>
              </a:buClr>
              <a:buSzPts val="2400"/>
              <a:buFont typeface="Times New Roman"/>
              <a:buNone/>
            </a:pPr>
            <a:r>
              <a:rPr lang="en-IN" sz="2400" b="1" dirty="0">
                <a:solidFill>
                  <a:schemeClr val="dk1"/>
                </a:solidFill>
                <a:latin typeface="Times New Roman"/>
                <a:ea typeface="Times New Roman"/>
                <a:cs typeface="Times New Roman"/>
                <a:sym typeface="Times New Roman"/>
              </a:rPr>
              <a:t>Comparison with base-paper</a:t>
            </a:r>
            <a:endParaRPr sz="1400" dirty="0">
              <a:solidFill>
                <a:schemeClr val="dk1"/>
              </a:solidFill>
              <a:latin typeface="Calibri"/>
              <a:ea typeface="Calibri"/>
              <a:cs typeface="Calibri"/>
              <a:sym typeface="Calibri"/>
            </a:endParaRPr>
          </a:p>
          <a:p>
            <a:pPr marL="342900" marR="0" lvl="0" indent="-279400" algn="just" rtl="0">
              <a:lnSpc>
                <a:spcPct val="107000"/>
              </a:lnSpc>
              <a:spcBef>
                <a:spcPts val="800"/>
              </a:spcBef>
              <a:spcAft>
                <a:spcPts val="0"/>
              </a:spcAft>
              <a:buClr>
                <a:schemeClr val="dk1"/>
              </a:buClr>
              <a:buSzPts val="1000"/>
              <a:buFont typeface="Noto Sans Symbols"/>
              <a:buNone/>
            </a:pPr>
            <a:endParaRPr sz="1400" dirty="0">
              <a:solidFill>
                <a:schemeClr val="dk1"/>
              </a:solidFill>
              <a:latin typeface="Calibri"/>
              <a:ea typeface="Calibri"/>
              <a:cs typeface="Calibri"/>
              <a:sym typeface="Calibri"/>
            </a:endParaRPr>
          </a:p>
          <a:p>
            <a:pPr marL="342900" marR="0" lvl="0" indent="-279400" algn="just" rtl="0">
              <a:lnSpc>
                <a:spcPct val="107000"/>
              </a:lnSpc>
              <a:spcBef>
                <a:spcPts val="800"/>
              </a:spcBef>
              <a:spcAft>
                <a:spcPts val="0"/>
              </a:spcAft>
              <a:buClr>
                <a:schemeClr val="dk1"/>
              </a:buClr>
              <a:buSzPts val="1000"/>
              <a:buFont typeface="Noto Sans Symbols"/>
              <a:buNone/>
            </a:pPr>
            <a:endParaRPr sz="1400" dirty="0">
              <a:solidFill>
                <a:schemeClr val="dk1"/>
              </a:solidFill>
              <a:latin typeface="Calibri"/>
              <a:ea typeface="Calibri"/>
              <a:cs typeface="Calibri"/>
              <a:sym typeface="Calibri"/>
            </a:endParaRPr>
          </a:p>
          <a:p>
            <a:pPr marL="342900" marR="0" lvl="0" indent="-279400" algn="just" rtl="0">
              <a:lnSpc>
                <a:spcPct val="107000"/>
              </a:lnSpc>
              <a:spcBef>
                <a:spcPts val="800"/>
              </a:spcBef>
              <a:spcAft>
                <a:spcPts val="0"/>
              </a:spcAft>
              <a:buClr>
                <a:schemeClr val="dk1"/>
              </a:buClr>
              <a:buSzPts val="1000"/>
              <a:buFont typeface="Noto Sans Symbols"/>
              <a:buNone/>
            </a:pPr>
            <a:endParaRPr sz="1400" dirty="0">
              <a:solidFill>
                <a:schemeClr val="dk1"/>
              </a:solidFill>
              <a:latin typeface="Calibri"/>
              <a:ea typeface="Calibri"/>
              <a:cs typeface="Calibri"/>
              <a:sym typeface="Calibri"/>
            </a:endParaRPr>
          </a:p>
        </p:txBody>
      </p:sp>
      <p:graphicFrame>
        <p:nvGraphicFramePr>
          <p:cNvPr id="257" name="Google Shape;257;p18"/>
          <p:cNvGraphicFramePr/>
          <p:nvPr>
            <p:extLst>
              <p:ext uri="{D42A27DB-BD31-4B8C-83A1-F6EECF244321}">
                <p14:modId xmlns:p14="http://schemas.microsoft.com/office/powerpoint/2010/main" val="813714526"/>
              </p:ext>
            </p:extLst>
          </p:nvPr>
        </p:nvGraphicFramePr>
        <p:xfrm>
          <a:off x="966019" y="1783962"/>
          <a:ext cx="10515600" cy="4754950"/>
        </p:xfrm>
        <a:graphic>
          <a:graphicData uri="http://schemas.openxmlformats.org/drawingml/2006/table">
            <a:tbl>
              <a:tblPr>
                <a:noFill/>
                <a:tableStyleId>{D2B9882C-E5B5-4DB5-A179-8E3F50196A67}</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Design Point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REFA (Wu et al., 2024)</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Proposed</a:t>
                      </a:r>
                      <a:endParaRPr/>
                    </a:p>
                  </a:txBody>
                  <a:tcPr marL="91450" marR="91450" marT="45725" marB="45725" anchor="ct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Token generation</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Blind GDH + external key server</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HMAC-SHA256, server-local K_server</a:t>
                      </a:r>
                      <a:endParaRPr/>
                    </a:p>
                  </a:txBody>
                  <a:tcPr marL="91450" marR="91450" marT="45725" marB="45725" anchor="ct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PoW difficulty</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Static (fixed challenge length)</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3-input adaptive function</a:t>
                      </a:r>
                      <a:endParaRPr/>
                    </a:p>
                  </a:txBody>
                  <a:tcPr marL="91450" marR="91450" marT="45725" marB="45725" anchor="ct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dirty="0">
                          <a:latin typeface="Times New Roman"/>
                          <a:ea typeface="Times New Roman"/>
                          <a:cs typeface="Times New Roman"/>
                          <a:sym typeface="Times New Roman"/>
                        </a:rPr>
                        <a:t>Runtime detection</a:t>
                      </a:r>
                      <a:endParaRPr dirty="0"/>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None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Supervised RF (PR-AUC 0.9686, F1 0.8990) + Cold-start OCSVM (PR-AUC 0.9191, F1 0.8134)</a:t>
                      </a:r>
                      <a:endParaRPr/>
                    </a:p>
                  </a:txBody>
                  <a:tcPr marL="91450" marR="91450" marT="45725" marB="45725" anchor="ct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Key derivation</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External key server manages keys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Ristretto255 OPRF blind-evaluate-unblind + HKDF-SHA256 per-chunk derivation (~0.646 ms overhead)</a:t>
                      </a:r>
                      <a:endParaRPr/>
                    </a:p>
                  </a:txBody>
                  <a:tcPr marL="91450" marR="91450" marT="45725" marB="45725" anchor="ct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Policy enforcement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Static rate limits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dirty="0">
                          <a:latin typeface="Times New Roman"/>
                          <a:ea typeface="Times New Roman"/>
                          <a:cs typeface="Times New Roman"/>
                          <a:sym typeface="Times New Roman"/>
                        </a:rPr>
                        <a:t>Risk-score-driven ALLOW/RATE_LIMIT/BLOCK</a:t>
                      </a:r>
                      <a:endParaRPr dirty="0"/>
                    </a:p>
                  </a:txBody>
                  <a:tcPr marL="91450" marR="91450" marT="45725" marB="45725" anchor="ctr"/>
                </a:tc>
                <a:extLst>
                  <a:ext uri="{0D108BD9-81ED-4DB2-BD59-A6C34878D82A}">
                    <a16:rowId xmlns:a16="http://schemas.microsoft.com/office/drawing/2014/main" val="10005"/>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Side-Channel Resistance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Partial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dirty="0">
                          <a:latin typeface="Times New Roman"/>
                          <a:ea typeface="Times New Roman"/>
                          <a:cs typeface="Times New Roman"/>
                          <a:sym typeface="Times New Roman"/>
                        </a:rPr>
                        <a:t>Yes (HMAC token opacity + OPRF + adaptive PoW)</a:t>
                      </a:r>
                      <a:endParaRPr dirty="0"/>
                    </a:p>
                  </a:txBody>
                  <a:tcPr marL="91450" marR="91450" marT="45725" marB="45725"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RESULTS</a:t>
            </a:r>
            <a:endParaRPr dirty="0"/>
          </a:p>
        </p:txBody>
      </p:sp>
      <p:graphicFrame>
        <p:nvGraphicFramePr>
          <p:cNvPr id="263" name="Google Shape;263;p23"/>
          <p:cNvGraphicFramePr/>
          <p:nvPr/>
        </p:nvGraphicFramePr>
        <p:xfrm>
          <a:off x="921774" y="2267867"/>
          <a:ext cx="4114800" cy="2926130"/>
        </p:xfrm>
        <a:graphic>
          <a:graphicData uri="http://schemas.openxmlformats.org/drawingml/2006/table">
            <a:tbl>
              <a:tblPr>
                <a:noFill/>
                <a:tableStyleId>{FCE49B7E-5F19-4CB0-BCE9-EA4782633ABD}</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Metric</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Value</a:t>
                      </a:r>
                      <a:endParaRPr/>
                    </a:p>
                  </a:txBody>
                  <a:tcPr marL="91450" marR="91450" marT="45725" marB="45725" anchor="ct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Static Baseline Proof Length</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32</a:t>
                      </a:r>
                      <a:endParaRPr/>
                    </a:p>
                  </a:txBody>
                  <a:tcPr marL="91450" marR="91450" marT="45725" marB="45725" anchor="ct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Adaptive Mean (All Users)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71.85</a:t>
                      </a:r>
                      <a:endParaRPr/>
                    </a:p>
                  </a:txBody>
                  <a:tcPr marL="91450" marR="91450" marT="45725" marB="45725" anchor="ct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Adaptive Mean (Normal Users)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dirty="0">
                          <a:latin typeface="Times New Roman"/>
                          <a:ea typeface="Times New Roman"/>
                          <a:cs typeface="Times New Roman"/>
                          <a:sym typeface="Times New Roman"/>
                        </a:rPr>
                        <a:t>49.58</a:t>
                      </a:r>
                      <a:endParaRPr dirty="0"/>
                    </a:p>
                  </a:txBody>
                  <a:tcPr marL="91450" marR="91450" marT="45725" marB="45725" anchor="ct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Adaptive Mean (Anomalous Users)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dirty="0">
                          <a:latin typeface="Times New Roman"/>
                          <a:ea typeface="Times New Roman"/>
                          <a:cs typeface="Times New Roman"/>
                          <a:sym typeface="Times New Roman"/>
                        </a:rPr>
                        <a:t>110.82</a:t>
                      </a:r>
                      <a:endParaRPr dirty="0"/>
                    </a:p>
                  </a:txBody>
                  <a:tcPr marL="91450" marR="91450" marT="45725" marB="45725" anchor="ctr"/>
                </a:tc>
                <a:extLst>
                  <a:ext uri="{0D108BD9-81ED-4DB2-BD59-A6C34878D82A}">
                    <a16:rowId xmlns:a16="http://schemas.microsoft.com/office/drawing/2014/main" val="10004"/>
                  </a:ext>
                </a:extLst>
              </a:tr>
            </a:tbl>
          </a:graphicData>
        </a:graphic>
      </p:graphicFrame>
      <p:sp>
        <p:nvSpPr>
          <p:cNvPr id="264" name="Google Shape;2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265" name="Google Shape;2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21</a:t>
            </a:fld>
            <a:endParaRPr/>
          </a:p>
        </p:txBody>
      </p:sp>
      <p:sp>
        <p:nvSpPr>
          <p:cNvPr id="266" name="Google Shape;266;p23"/>
          <p:cNvSpPr txBox="1"/>
          <p:nvPr/>
        </p:nvSpPr>
        <p:spPr>
          <a:xfrm>
            <a:off x="921774" y="1506022"/>
            <a:ext cx="3048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Times New Roman"/>
                <a:ea typeface="Times New Roman"/>
                <a:cs typeface="Times New Roman"/>
                <a:sym typeface="Times New Roman"/>
              </a:rPr>
              <a:t>Adaptive PoW Results</a:t>
            </a:r>
            <a:endParaRPr/>
          </a:p>
        </p:txBody>
      </p:sp>
      <p:graphicFrame>
        <p:nvGraphicFramePr>
          <p:cNvPr id="267" name="Google Shape;267;p23"/>
          <p:cNvGraphicFramePr/>
          <p:nvPr>
            <p:extLst>
              <p:ext uri="{D42A27DB-BD31-4B8C-83A1-F6EECF244321}">
                <p14:modId xmlns:p14="http://schemas.microsoft.com/office/powerpoint/2010/main" val="4160166614"/>
              </p:ext>
            </p:extLst>
          </p:nvPr>
        </p:nvGraphicFramePr>
        <p:xfrm>
          <a:off x="5761704" y="2267867"/>
          <a:ext cx="5508525" cy="2712290"/>
        </p:xfrm>
        <a:graphic>
          <a:graphicData uri="http://schemas.openxmlformats.org/drawingml/2006/table">
            <a:tbl>
              <a:tblPr>
                <a:noFill/>
                <a:tableStyleId>{FCE49B7E-5F19-4CB0-BCE9-EA4782633ABD}</a:tableStyleId>
              </a:tblPr>
              <a:tblGrid>
                <a:gridCol w="1836175">
                  <a:extLst>
                    <a:ext uri="{9D8B030D-6E8A-4147-A177-3AD203B41FA5}">
                      <a16:colId xmlns:a16="http://schemas.microsoft.com/office/drawing/2014/main" val="20000"/>
                    </a:ext>
                  </a:extLst>
                </a:gridCol>
                <a:gridCol w="1836175">
                  <a:extLst>
                    <a:ext uri="{9D8B030D-6E8A-4147-A177-3AD203B41FA5}">
                      <a16:colId xmlns:a16="http://schemas.microsoft.com/office/drawing/2014/main" val="20001"/>
                    </a:ext>
                  </a:extLst>
                </a:gridCol>
                <a:gridCol w="1836175">
                  <a:extLst>
                    <a:ext uri="{9D8B030D-6E8A-4147-A177-3AD203B41FA5}">
                      <a16:colId xmlns:a16="http://schemas.microsoft.com/office/drawing/2014/main" val="20002"/>
                    </a:ext>
                  </a:extLst>
                </a:gridCol>
              </a:tblGrid>
              <a:tr h="518050">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Metric</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Supervised</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Cold-Start OCSVM</a:t>
                      </a:r>
                      <a:endParaRPr/>
                    </a:p>
                  </a:txBody>
                  <a:tcPr marL="91450" marR="91450" marT="45725" marB="45725" anchor="ctr"/>
                </a:tc>
                <a:extLst>
                  <a:ext uri="{0D108BD9-81ED-4DB2-BD59-A6C34878D82A}">
                    <a16:rowId xmlns:a16="http://schemas.microsoft.com/office/drawing/2014/main" val="10000"/>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PR-AUC</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dirty="0">
                          <a:latin typeface="Times New Roman"/>
                          <a:ea typeface="Times New Roman"/>
                          <a:cs typeface="Times New Roman"/>
                          <a:sym typeface="Times New Roman"/>
                        </a:rPr>
                        <a:t>0.9686</a:t>
                      </a:r>
                      <a:endParaRPr sz="1800" b="0" dirty="0">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0.9191</a:t>
                      </a:r>
                      <a:endParaRPr/>
                    </a:p>
                  </a:txBody>
                  <a:tcPr marL="91450" marR="91450" marT="45725" marB="45725" anchor="ctr"/>
                </a:tc>
                <a:extLst>
                  <a:ext uri="{0D108BD9-81ED-4DB2-BD59-A6C34878D82A}">
                    <a16:rowId xmlns:a16="http://schemas.microsoft.com/office/drawing/2014/main" val="10001"/>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F1 (Binary)</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a:latin typeface="Times New Roman"/>
                          <a:ea typeface="Times New Roman"/>
                          <a:cs typeface="Times New Roman"/>
                          <a:sym typeface="Times New Roman"/>
                        </a:rPr>
                        <a:t>0.8990</a:t>
                      </a:r>
                      <a:endParaRPr sz="1800" b="0">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0.8134</a:t>
                      </a:r>
                      <a:endParaRPr/>
                    </a:p>
                  </a:txBody>
                  <a:tcPr marL="91450" marR="91450" marT="45725" marB="45725" anchor="ctr"/>
                </a:tc>
                <a:extLst>
                  <a:ext uri="{0D108BD9-81ED-4DB2-BD59-A6C34878D82A}">
                    <a16:rowId xmlns:a16="http://schemas.microsoft.com/office/drawing/2014/main" val="10002"/>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Precision</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dirty="0">
                          <a:latin typeface="Times New Roman"/>
                          <a:ea typeface="Times New Roman"/>
                          <a:cs typeface="Times New Roman"/>
                          <a:sym typeface="Times New Roman"/>
                        </a:rPr>
                        <a:t>0.8898</a:t>
                      </a:r>
                      <a:endParaRPr b="0" dirty="0"/>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0.7043</a:t>
                      </a:r>
                      <a:endParaRPr/>
                    </a:p>
                  </a:txBody>
                  <a:tcPr marL="91450" marR="91450" marT="45725" marB="45725" anchor="ctr"/>
                </a:tc>
                <a:extLst>
                  <a:ext uri="{0D108BD9-81ED-4DB2-BD59-A6C34878D82A}">
                    <a16:rowId xmlns:a16="http://schemas.microsoft.com/office/drawing/2014/main" val="10003"/>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Recall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dirty="0">
                          <a:latin typeface="Times New Roman"/>
                          <a:ea typeface="Times New Roman"/>
                          <a:cs typeface="Times New Roman"/>
                          <a:sym typeface="Times New Roman"/>
                        </a:rPr>
                        <a:t>0.9083</a:t>
                      </a:r>
                      <a:endParaRPr sz="1800" b="0" dirty="0">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dirty="0">
                          <a:latin typeface="Times New Roman"/>
                          <a:ea typeface="Times New Roman"/>
                          <a:cs typeface="Times New Roman"/>
                          <a:sym typeface="Times New Roman"/>
                        </a:rPr>
                        <a:t>0.9625</a:t>
                      </a:r>
                      <a:endParaRPr dirty="0"/>
                    </a:p>
                  </a:txBody>
                  <a:tcPr marL="91450" marR="91450" marT="45725" marB="45725" anchor="ctr"/>
                </a:tc>
                <a:extLst>
                  <a:ext uri="{0D108BD9-81ED-4DB2-BD59-A6C34878D82A}">
                    <a16:rowId xmlns:a16="http://schemas.microsoft.com/office/drawing/2014/main" val="10004"/>
                  </a:ext>
                </a:extLst>
              </a:tr>
            </a:tbl>
          </a:graphicData>
        </a:graphic>
      </p:graphicFrame>
      <p:sp>
        <p:nvSpPr>
          <p:cNvPr id="268" name="Google Shape;268;p23"/>
          <p:cNvSpPr txBox="1"/>
          <p:nvPr/>
        </p:nvSpPr>
        <p:spPr>
          <a:xfrm>
            <a:off x="5761704" y="1506022"/>
            <a:ext cx="34019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Times New Roman"/>
                <a:ea typeface="Times New Roman"/>
                <a:cs typeface="Times New Roman"/>
                <a:sym typeface="Times New Roman"/>
              </a:rPr>
              <a:t>Model Comparison Table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6"/>
          <p:cNvSpPr txBox="1">
            <a:spLocks noGrp="1"/>
          </p:cNvSpPr>
          <p:nvPr>
            <p:ph type="title"/>
          </p:nvPr>
        </p:nvSpPr>
        <p:spPr>
          <a:xfrm>
            <a:off x="838200" y="23708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DEDUPLICATION PERFORMANCE RESULTS</a:t>
            </a:r>
            <a:endParaRPr dirty="0"/>
          </a:p>
        </p:txBody>
      </p:sp>
      <p:graphicFrame>
        <p:nvGraphicFramePr>
          <p:cNvPr id="274" name="Google Shape;274;p26"/>
          <p:cNvGraphicFramePr/>
          <p:nvPr/>
        </p:nvGraphicFramePr>
        <p:xfrm>
          <a:off x="921774" y="2338987"/>
          <a:ext cx="4114800" cy="2926130"/>
        </p:xfrm>
        <a:graphic>
          <a:graphicData uri="http://schemas.openxmlformats.org/drawingml/2006/table">
            <a:tbl>
              <a:tblPr>
                <a:noFill/>
                <a:tableStyleId>{FCE49B7E-5F19-4CB0-BCE9-EA4782633ABD}</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Operation</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Value</a:t>
                      </a:r>
                      <a:endParaRPr/>
                    </a:p>
                  </a:txBody>
                  <a:tcPr marL="91450" marR="91450" marT="45725" marB="45725" anchor="ct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Storage Reduction Ratio (SRR)</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65% – 80%</a:t>
                      </a:r>
                      <a:endParaRPr/>
                    </a:p>
                  </a:txBody>
                  <a:tcPr marL="91450" marR="91450" marT="45725" marB="45725" anchor="ct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Index Lookup Complexity</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O(1) — Redis hash map</a:t>
                      </a:r>
                      <a:endParaRPr/>
                    </a:p>
                  </a:txBody>
                  <a:tcPr marL="91450" marR="91450" marT="45725" marB="45725" anchor="ct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System Throughput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50,000 chunks/second</a:t>
                      </a:r>
                      <a:endParaRPr/>
                    </a:p>
                  </a:txBody>
                  <a:tcPr marL="91450" marR="91450" marT="45725" marB="45725" anchor="ct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Storage Backend</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AWS S3 / MinIO / Filesystem</a:t>
                      </a:r>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275" name="Google Shape;27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276" name="Google Shape;27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22</a:t>
            </a:fld>
            <a:endParaRPr/>
          </a:p>
        </p:txBody>
      </p:sp>
      <p:sp>
        <p:nvSpPr>
          <p:cNvPr id="277" name="Google Shape;277;p26"/>
          <p:cNvSpPr txBox="1"/>
          <p:nvPr/>
        </p:nvSpPr>
        <p:spPr>
          <a:xfrm>
            <a:off x="921774" y="1506022"/>
            <a:ext cx="3048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Times New Roman"/>
                <a:ea typeface="Times New Roman"/>
                <a:cs typeface="Times New Roman"/>
                <a:sym typeface="Times New Roman"/>
              </a:rPr>
              <a:t>Storage and Throughput Metrics</a:t>
            </a:r>
            <a:endParaRPr/>
          </a:p>
        </p:txBody>
      </p:sp>
      <p:graphicFrame>
        <p:nvGraphicFramePr>
          <p:cNvPr id="278" name="Google Shape;278;p26"/>
          <p:cNvGraphicFramePr/>
          <p:nvPr>
            <p:extLst>
              <p:ext uri="{D42A27DB-BD31-4B8C-83A1-F6EECF244321}">
                <p14:modId xmlns:p14="http://schemas.microsoft.com/office/powerpoint/2010/main" val="256072733"/>
              </p:ext>
            </p:extLst>
          </p:nvPr>
        </p:nvGraphicFramePr>
        <p:xfrm>
          <a:off x="5761704" y="2338987"/>
          <a:ext cx="5508525" cy="2956370"/>
        </p:xfrm>
        <a:graphic>
          <a:graphicData uri="http://schemas.openxmlformats.org/drawingml/2006/table">
            <a:tbl>
              <a:tblPr>
                <a:noFill/>
                <a:tableStyleId>{FCE49B7E-5F19-4CB0-BCE9-EA4782633ABD}</a:tableStyleId>
              </a:tblPr>
              <a:tblGrid>
                <a:gridCol w="1836175">
                  <a:extLst>
                    <a:ext uri="{9D8B030D-6E8A-4147-A177-3AD203B41FA5}">
                      <a16:colId xmlns:a16="http://schemas.microsoft.com/office/drawing/2014/main" val="20000"/>
                    </a:ext>
                  </a:extLst>
                </a:gridCol>
                <a:gridCol w="1836175">
                  <a:extLst>
                    <a:ext uri="{9D8B030D-6E8A-4147-A177-3AD203B41FA5}">
                      <a16:colId xmlns:a16="http://schemas.microsoft.com/office/drawing/2014/main" val="20001"/>
                    </a:ext>
                  </a:extLst>
                </a:gridCol>
                <a:gridCol w="1836175">
                  <a:extLst>
                    <a:ext uri="{9D8B030D-6E8A-4147-A177-3AD203B41FA5}">
                      <a16:colId xmlns:a16="http://schemas.microsoft.com/office/drawing/2014/main" val="20002"/>
                    </a:ext>
                  </a:extLst>
                </a:gridCol>
              </a:tblGrid>
              <a:tr h="518050">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Metric</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Latency (ms)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Contribution</a:t>
                      </a:r>
                      <a:endParaRPr/>
                    </a:p>
                  </a:txBody>
                  <a:tcPr marL="91450" marR="91450" marT="45725" marB="45725" anchor="ctr"/>
                </a:tc>
                <a:extLst>
                  <a:ext uri="{0D108BD9-81ED-4DB2-BD59-A6C34878D82A}">
                    <a16:rowId xmlns:a16="http://schemas.microsoft.com/office/drawing/2014/main" val="10000"/>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HMAC-SHA256 Token</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dirty="0">
                          <a:latin typeface="Times New Roman"/>
                          <a:ea typeface="Times New Roman"/>
                          <a:cs typeface="Times New Roman"/>
                          <a:sym typeface="Times New Roman"/>
                        </a:rPr>
                        <a:t>&lt; 0.02 </a:t>
                      </a:r>
                      <a:r>
                        <a:rPr lang="en-IN" sz="1800" b="0" dirty="0" err="1">
                          <a:latin typeface="Times New Roman"/>
                          <a:ea typeface="Times New Roman"/>
                          <a:cs typeface="Times New Roman"/>
                          <a:sym typeface="Times New Roman"/>
                        </a:rPr>
                        <a:t>ms</a:t>
                      </a:r>
                      <a:endParaRPr sz="1800" b="0" dirty="0">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Security layer</a:t>
                      </a:r>
                      <a:endParaRPr/>
                    </a:p>
                  </a:txBody>
                  <a:tcPr marL="91450" marR="91450" marT="45725" marB="45725" anchor="ctr"/>
                </a:tc>
                <a:extLst>
                  <a:ext uri="{0D108BD9-81ED-4DB2-BD59-A6C34878D82A}">
                    <a16:rowId xmlns:a16="http://schemas.microsoft.com/office/drawing/2014/main" val="10001"/>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Redis Index Lookup</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dirty="0">
                          <a:latin typeface="Times New Roman"/>
                          <a:ea typeface="Times New Roman"/>
                          <a:cs typeface="Times New Roman"/>
                          <a:sym typeface="Times New Roman"/>
                        </a:rPr>
                        <a:t>&lt; 0.50 </a:t>
                      </a:r>
                      <a:r>
                        <a:rPr lang="en-IN" sz="1800" b="0" dirty="0" err="1">
                          <a:latin typeface="Times New Roman"/>
                          <a:ea typeface="Times New Roman"/>
                          <a:cs typeface="Times New Roman"/>
                          <a:sym typeface="Times New Roman"/>
                        </a:rPr>
                        <a:t>ms</a:t>
                      </a:r>
                      <a:endParaRPr sz="1800" b="0" dirty="0">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Dedup engine</a:t>
                      </a:r>
                      <a:endParaRPr/>
                    </a:p>
                  </a:txBody>
                  <a:tcPr marL="91450" marR="91450" marT="45725" marB="45725" anchor="ctr"/>
                </a:tc>
                <a:extLst>
                  <a:ext uri="{0D108BD9-81ED-4DB2-BD59-A6C34878D82A}">
                    <a16:rowId xmlns:a16="http://schemas.microsoft.com/office/drawing/2014/main" val="10002"/>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AES-256-GCM Encrypt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dirty="0">
                          <a:latin typeface="Times New Roman"/>
                          <a:ea typeface="Times New Roman"/>
                          <a:cs typeface="Times New Roman"/>
                          <a:sym typeface="Times New Roman"/>
                        </a:rPr>
                        <a:t>&lt; 0.10 </a:t>
                      </a:r>
                      <a:r>
                        <a:rPr lang="en-IN" sz="1800" b="0" dirty="0" err="1">
                          <a:latin typeface="Times New Roman"/>
                          <a:ea typeface="Times New Roman"/>
                          <a:cs typeface="Times New Roman"/>
                          <a:sym typeface="Times New Roman"/>
                        </a:rPr>
                        <a:t>ms</a:t>
                      </a:r>
                      <a:endParaRPr b="0" dirty="0"/>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Encryption layer</a:t>
                      </a:r>
                      <a:endParaRPr/>
                    </a:p>
                  </a:txBody>
                  <a:tcPr marL="91450" marR="91450" marT="45725" marB="45725" anchor="ctr"/>
                </a:tc>
                <a:extLst>
                  <a:ext uri="{0D108BD9-81ED-4DB2-BD59-A6C34878D82A}">
                    <a16:rowId xmlns:a16="http://schemas.microsoft.com/office/drawing/2014/main" val="10003"/>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PoW Verify</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dirty="0">
                          <a:latin typeface="Times New Roman"/>
                          <a:ea typeface="Times New Roman"/>
                          <a:cs typeface="Times New Roman"/>
                          <a:sym typeface="Times New Roman"/>
                        </a:rPr>
                        <a:t>2.5 </a:t>
                      </a:r>
                      <a:r>
                        <a:rPr lang="en-IN" sz="1800" b="0" dirty="0" err="1">
                          <a:latin typeface="Times New Roman"/>
                          <a:ea typeface="Times New Roman"/>
                          <a:cs typeface="Times New Roman"/>
                          <a:sym typeface="Times New Roman"/>
                        </a:rPr>
                        <a:t>ms</a:t>
                      </a:r>
                      <a:endParaRPr sz="1800" b="0" dirty="0">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dirty="0">
                          <a:latin typeface="Times New Roman"/>
                          <a:ea typeface="Times New Roman"/>
                          <a:cs typeface="Times New Roman"/>
                          <a:sym typeface="Times New Roman"/>
                        </a:rPr>
                        <a:t>Security gate</a:t>
                      </a:r>
                      <a:endParaRPr dirty="0"/>
                    </a:p>
                  </a:txBody>
                  <a:tcPr marL="91450" marR="91450" marT="45725" marB="45725" anchor="ctr"/>
                </a:tc>
                <a:extLst>
                  <a:ext uri="{0D108BD9-81ED-4DB2-BD59-A6C34878D82A}">
                    <a16:rowId xmlns:a16="http://schemas.microsoft.com/office/drawing/2014/main" val="10004"/>
                  </a:ext>
                </a:extLst>
              </a:tr>
            </a:tbl>
          </a:graphicData>
        </a:graphic>
      </p:graphicFrame>
      <p:sp>
        <p:nvSpPr>
          <p:cNvPr id="279" name="Google Shape;279;p26"/>
          <p:cNvSpPr txBox="1"/>
          <p:nvPr/>
        </p:nvSpPr>
        <p:spPr>
          <a:xfrm>
            <a:off x="5761704" y="1564991"/>
            <a:ext cx="34019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Times New Roman"/>
                <a:ea typeface="Times New Roman"/>
                <a:cs typeface="Times New Roman"/>
                <a:sym typeface="Times New Roman"/>
              </a:rPr>
              <a:t>Per-Operation Latency Breakdown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COMPARATIVE ANALYSIS</a:t>
            </a:r>
            <a:endParaRPr dirty="0"/>
          </a:p>
        </p:txBody>
      </p:sp>
      <p:graphicFrame>
        <p:nvGraphicFramePr>
          <p:cNvPr id="285" name="Google Shape;285;p27"/>
          <p:cNvGraphicFramePr/>
          <p:nvPr/>
        </p:nvGraphicFramePr>
        <p:xfrm>
          <a:off x="921774" y="2820110"/>
          <a:ext cx="4114800" cy="1828850"/>
        </p:xfrm>
        <a:graphic>
          <a:graphicData uri="http://schemas.openxmlformats.org/drawingml/2006/table">
            <a:tbl>
              <a:tblPr>
                <a:noFill/>
                <a:tableStyleId>{FCE49B7E-5F19-4CB0-BCE9-EA4782633ABD}</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Metric</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Value</a:t>
                      </a:r>
                      <a:endParaRPr/>
                    </a:p>
                  </a:txBody>
                  <a:tcPr marL="91450" marR="91450" marT="45725" marB="45725" anchor="ct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Normal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1.0000</a:t>
                      </a:r>
                      <a:endParaRPr/>
                    </a:p>
                  </a:txBody>
                  <a:tcPr marL="91450" marR="91450" marT="45725" marB="45725" anchor="ct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Hash Probing</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0.8810</a:t>
                      </a:r>
                      <a:endParaRPr/>
                    </a:p>
                  </a:txBody>
                  <a:tcPr marL="91450" marR="91450" marT="45725" marB="45725" anchor="ct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Ownership Fraud</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0.7763</a:t>
                      </a:r>
                      <a:endParaRPr/>
                    </a:p>
                  </a:txBody>
                  <a:tcPr marL="91450" marR="91450" marT="45725" marB="45725" anchor="ct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Dedup DoS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0.9048</a:t>
                      </a:r>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286" name="Google Shape;28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287" name="Google Shape;28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23</a:t>
            </a:fld>
            <a:endParaRPr/>
          </a:p>
        </p:txBody>
      </p:sp>
      <p:sp>
        <p:nvSpPr>
          <p:cNvPr id="288" name="Google Shape;288;p27"/>
          <p:cNvSpPr txBox="1"/>
          <p:nvPr/>
        </p:nvSpPr>
        <p:spPr>
          <a:xfrm>
            <a:off x="921774" y="1690688"/>
            <a:ext cx="3048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Times New Roman"/>
                <a:ea typeface="Times New Roman"/>
                <a:cs typeface="Times New Roman"/>
                <a:sym typeface="Times New Roman"/>
              </a:rPr>
              <a:t>Per-Class F1-Scores (Supervised RF)</a:t>
            </a:r>
            <a:endParaRPr/>
          </a:p>
        </p:txBody>
      </p:sp>
      <p:graphicFrame>
        <p:nvGraphicFramePr>
          <p:cNvPr id="289" name="Google Shape;289;p27"/>
          <p:cNvGraphicFramePr/>
          <p:nvPr/>
        </p:nvGraphicFramePr>
        <p:xfrm>
          <a:off x="5615857" y="2828937"/>
          <a:ext cx="5508525" cy="2712290"/>
        </p:xfrm>
        <a:graphic>
          <a:graphicData uri="http://schemas.openxmlformats.org/drawingml/2006/table">
            <a:tbl>
              <a:tblPr>
                <a:noFill/>
                <a:tableStyleId>{FCE49B7E-5F19-4CB0-BCE9-EA4782633ABD}</a:tableStyleId>
              </a:tblPr>
              <a:tblGrid>
                <a:gridCol w="1836175">
                  <a:extLst>
                    <a:ext uri="{9D8B030D-6E8A-4147-A177-3AD203B41FA5}">
                      <a16:colId xmlns:a16="http://schemas.microsoft.com/office/drawing/2014/main" val="20000"/>
                    </a:ext>
                  </a:extLst>
                </a:gridCol>
                <a:gridCol w="1836175">
                  <a:extLst>
                    <a:ext uri="{9D8B030D-6E8A-4147-A177-3AD203B41FA5}">
                      <a16:colId xmlns:a16="http://schemas.microsoft.com/office/drawing/2014/main" val="20001"/>
                    </a:ext>
                  </a:extLst>
                </a:gridCol>
                <a:gridCol w="1836175">
                  <a:extLst>
                    <a:ext uri="{9D8B030D-6E8A-4147-A177-3AD203B41FA5}">
                      <a16:colId xmlns:a16="http://schemas.microsoft.com/office/drawing/2014/main" val="20002"/>
                    </a:ext>
                  </a:extLst>
                </a:gridCol>
              </a:tblGrid>
              <a:tr h="518050">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Metric</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Supervised (RF)</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1">
                          <a:latin typeface="Times New Roman"/>
                          <a:ea typeface="Times New Roman"/>
                          <a:cs typeface="Times New Roman"/>
                          <a:sym typeface="Times New Roman"/>
                        </a:rPr>
                        <a:t>Cold-Start OCSVM</a:t>
                      </a:r>
                      <a:endParaRPr/>
                    </a:p>
                  </a:txBody>
                  <a:tcPr marL="91450" marR="91450" marT="45725" marB="45725" anchor="ctr"/>
                </a:tc>
                <a:extLst>
                  <a:ext uri="{0D108BD9-81ED-4DB2-BD59-A6C34878D82A}">
                    <a16:rowId xmlns:a16="http://schemas.microsoft.com/office/drawing/2014/main" val="10000"/>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PR-AUC</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a:latin typeface="Times New Roman"/>
                          <a:ea typeface="Times New Roman"/>
                          <a:cs typeface="Times New Roman"/>
                          <a:sym typeface="Times New Roman"/>
                        </a:rPr>
                        <a:t>0.9686</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0.9191</a:t>
                      </a:r>
                      <a:endParaRPr/>
                    </a:p>
                  </a:txBody>
                  <a:tcPr marL="91450" marR="91450" marT="45725" marB="45725" anchor="ctr"/>
                </a:tc>
                <a:extLst>
                  <a:ext uri="{0D108BD9-81ED-4DB2-BD59-A6C34878D82A}">
                    <a16:rowId xmlns:a16="http://schemas.microsoft.com/office/drawing/2014/main" val="10001"/>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F1 (Binary)</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a:latin typeface="Times New Roman"/>
                          <a:ea typeface="Times New Roman"/>
                          <a:cs typeface="Times New Roman"/>
                          <a:sym typeface="Times New Roman"/>
                        </a:rPr>
                        <a:t>0.8990</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0.8134</a:t>
                      </a:r>
                      <a:endParaRPr/>
                    </a:p>
                  </a:txBody>
                  <a:tcPr marL="91450" marR="91450" marT="45725" marB="45725" anchor="ctr"/>
                </a:tc>
                <a:extLst>
                  <a:ext uri="{0D108BD9-81ED-4DB2-BD59-A6C34878D82A}">
                    <a16:rowId xmlns:a16="http://schemas.microsoft.com/office/drawing/2014/main" val="10002"/>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Precision</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0.8898</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0.7043</a:t>
                      </a:r>
                      <a:endParaRPr/>
                    </a:p>
                  </a:txBody>
                  <a:tcPr marL="91450" marR="91450" marT="45725" marB="45725" anchor="ctr"/>
                </a:tc>
                <a:extLst>
                  <a:ext uri="{0D108BD9-81ED-4DB2-BD59-A6C34878D82A}">
                    <a16:rowId xmlns:a16="http://schemas.microsoft.com/office/drawing/2014/main" val="10003"/>
                  </a:ext>
                </a:extLst>
              </a:tr>
              <a:tr h="518050">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Recall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a:latin typeface="Times New Roman"/>
                          <a:ea typeface="Times New Roman"/>
                          <a:cs typeface="Times New Roman"/>
                          <a:sym typeface="Times New Roman"/>
                        </a:rPr>
                        <a:t>0.9083</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a:latin typeface="Times New Roman"/>
                          <a:ea typeface="Times New Roman"/>
                          <a:cs typeface="Times New Roman"/>
                          <a:sym typeface="Times New Roman"/>
                        </a:rPr>
                        <a:t>0.9625</a:t>
                      </a:r>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290" name="Google Shape;290;p27"/>
          <p:cNvSpPr txBox="1"/>
          <p:nvPr/>
        </p:nvSpPr>
        <p:spPr>
          <a:xfrm>
            <a:off x="5615857" y="1690688"/>
            <a:ext cx="340196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Times New Roman"/>
                <a:ea typeface="Times New Roman"/>
                <a:cs typeface="Times New Roman"/>
                <a:sym typeface="Times New Roman"/>
              </a:rPr>
              <a:t>Supervised vs. Unsupervised - Full Comparison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IN" sz="3600" b="1" dirty="0">
                <a:latin typeface="Times New Roman"/>
                <a:ea typeface="Times New Roman"/>
                <a:cs typeface="Times New Roman"/>
                <a:sym typeface="Times New Roman"/>
              </a:rPr>
              <a:t>EVALUATION METRICS</a:t>
            </a:r>
            <a:endParaRPr sz="3600" dirty="0">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3200"/>
              <a:buFont typeface="Open Sans"/>
              <a:buNone/>
            </a:pPr>
            <a:endParaRPr sz="3600" dirty="0">
              <a:latin typeface="Times New Roman"/>
              <a:ea typeface="Times New Roman"/>
              <a:cs typeface="Times New Roman"/>
              <a:sym typeface="Times New Roman"/>
            </a:endParaRPr>
          </a:p>
        </p:txBody>
      </p:sp>
      <p:sp>
        <p:nvSpPr>
          <p:cNvPr id="296" name="Google Shape;296;p28"/>
          <p:cNvSpPr txBox="1">
            <a:spLocks noGrp="1"/>
          </p:cNvSpPr>
          <p:nvPr>
            <p:ph type="ftr" idx="11"/>
          </p:nvPr>
        </p:nvSpPr>
        <p:spPr>
          <a:xfrm>
            <a:off x="4038600" y="6582952"/>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TEAM 44 - CS6811 - PROJECT WORK</a:t>
            </a:r>
            <a:endParaRPr dirty="0"/>
          </a:p>
        </p:txBody>
      </p:sp>
      <p:sp>
        <p:nvSpPr>
          <p:cNvPr id="297" name="Google Shape;29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24</a:t>
            </a:fld>
            <a:endParaRPr/>
          </a:p>
        </p:txBody>
      </p:sp>
      <p:sp>
        <p:nvSpPr>
          <p:cNvPr id="298" name="Google Shape;298;p28"/>
          <p:cNvSpPr txBox="1"/>
          <p:nvPr/>
        </p:nvSpPr>
        <p:spPr>
          <a:xfrm>
            <a:off x="808700" y="1245571"/>
            <a:ext cx="11166987" cy="59092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DEDUPLICATION PERFORMANCE METRICS</a:t>
            </a: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Storage Reduction Ratio:</a:t>
            </a: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Measures physical vs. logical storage; SRR = 1 − (Physical Size / Logical Size). Achieved 65%–80% across workloads; cross-user </a:t>
            </a:r>
            <a:r>
              <a:rPr lang="en-IN" sz="2000" dirty="0" err="1">
                <a:solidFill>
                  <a:schemeClr val="dk1"/>
                </a:solidFill>
                <a:latin typeface="Times New Roman"/>
                <a:ea typeface="Times New Roman"/>
                <a:cs typeface="Times New Roman"/>
                <a:sym typeface="Times New Roman"/>
              </a:rPr>
              <a:t>dedup</a:t>
            </a:r>
            <a:r>
              <a:rPr lang="en-IN" sz="2000" dirty="0">
                <a:solidFill>
                  <a:schemeClr val="dk1"/>
                </a:solidFill>
                <a:latin typeface="Times New Roman"/>
                <a:ea typeface="Times New Roman"/>
                <a:cs typeface="Times New Roman"/>
                <a:sym typeface="Times New Roman"/>
              </a:rPr>
              <a:t> confirmed with 0 new entries on 2nd upload. </a:t>
            </a:r>
            <a:endParaRPr dirty="0"/>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lang="en-IN"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Higher values indicate better deduplication efficiency.</a:t>
            </a: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Deduplication Ratio:</a:t>
            </a:r>
            <a:endParaRPr dirty="0"/>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Indicates the level of redundancy in uploaded data.</a:t>
            </a:r>
          </a:p>
          <a:p>
            <a:pPr marL="3429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Synthetic Zipf workload (1000 chunks): 91.6% savings </a:t>
            </a:r>
          </a:p>
          <a:p>
            <a:pPr marL="3429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REFA envelope overhead: </a:t>
            </a:r>
          </a:p>
          <a:p>
            <a:pPr marL="342900" lvl="2"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~3.9% (4 KB), ~2.0% (8 KB), ~1.0% (16 KB) </a:t>
            </a:r>
          </a:p>
          <a:p>
            <a:pPr marL="342900" lvl="1"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FastCDC</a:t>
            </a:r>
            <a:r>
              <a:rPr lang="en-IN" sz="2000" dirty="0">
                <a:latin typeface="Times New Roman" panose="02020603050405020304" pitchFamily="18" charset="0"/>
                <a:cs typeface="Times New Roman" panose="02020603050405020304" pitchFamily="18" charset="0"/>
              </a:rPr>
              <a:t>: ~4 KB </a:t>
            </a:r>
            <a:r>
              <a:rPr lang="en-IN" sz="2000" dirty="0" err="1">
                <a:latin typeface="Times New Roman" panose="02020603050405020304" pitchFamily="18" charset="0"/>
                <a:cs typeface="Times New Roman" panose="02020603050405020304" pitchFamily="18" charset="0"/>
              </a:rPr>
              <a:t>avg</a:t>
            </a:r>
            <a:r>
              <a:rPr lang="en-IN" sz="2000" dirty="0">
                <a:latin typeface="Times New Roman" panose="02020603050405020304" pitchFamily="18" charset="0"/>
                <a:cs typeface="Times New Roman" panose="02020603050405020304" pitchFamily="18" charset="0"/>
              </a:rPr>
              <a:t> chunk, ~50,000 chunks/sec throughput </a:t>
            </a:r>
          </a:p>
          <a:p>
            <a:pPr marL="342900" lvl="1" indent="-342900">
              <a:buFont typeface="Arial" panose="020B0604020202020204" pitchFamily="34" charset="0"/>
              <a:buChar char="•"/>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299" name="Google Shape;299;p28"/>
          <p:cNvPicPr preferRelativeResize="0"/>
          <p:nvPr/>
        </p:nvPicPr>
        <p:blipFill rotWithShape="1">
          <a:blip r:embed="rId3">
            <a:alphaModFix/>
          </a:blip>
          <a:srcRect/>
          <a:stretch/>
        </p:blipFill>
        <p:spPr>
          <a:xfrm>
            <a:off x="2704129" y="2605353"/>
            <a:ext cx="6444858" cy="776664"/>
          </a:xfrm>
          <a:prstGeom prst="rect">
            <a:avLst/>
          </a:prstGeom>
          <a:noFill/>
          <a:ln>
            <a:noFill/>
          </a:ln>
        </p:spPr>
      </p:pic>
      <p:pic>
        <p:nvPicPr>
          <p:cNvPr id="300" name="Google Shape;300;p28"/>
          <p:cNvPicPr preferRelativeResize="0"/>
          <p:nvPr/>
        </p:nvPicPr>
        <p:blipFill rotWithShape="1">
          <a:blip r:embed="rId4">
            <a:alphaModFix/>
          </a:blip>
          <a:srcRect/>
          <a:stretch/>
        </p:blipFill>
        <p:spPr>
          <a:xfrm>
            <a:off x="3214246" y="4088684"/>
            <a:ext cx="3915039" cy="7766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0"/>
          <p:cNvSpPr txBox="1">
            <a:spLocks noGrp="1"/>
          </p:cNvSpPr>
          <p:nvPr>
            <p:ph type="title"/>
          </p:nvPr>
        </p:nvSpPr>
        <p:spPr>
          <a:xfrm>
            <a:off x="838200" y="5004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EVALUATION METRICS</a:t>
            </a:r>
            <a:endParaRPr sz="3600" dirty="0">
              <a:latin typeface="Times New Roman"/>
              <a:ea typeface="Times New Roman"/>
              <a:cs typeface="Times New Roman"/>
              <a:sym typeface="Times New Roman"/>
            </a:endParaRPr>
          </a:p>
        </p:txBody>
      </p:sp>
      <p:sp>
        <p:nvSpPr>
          <p:cNvPr id="315" name="Google Shape;315;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16" name="Google Shape;31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25</a:t>
            </a:fld>
            <a:endParaRPr/>
          </a:p>
        </p:txBody>
      </p:sp>
      <p:sp>
        <p:nvSpPr>
          <p:cNvPr id="317" name="Google Shape;317;p30"/>
          <p:cNvSpPr txBox="1"/>
          <p:nvPr/>
        </p:nvSpPr>
        <p:spPr>
          <a:xfrm>
            <a:off x="838200" y="1200060"/>
            <a:ext cx="11107994" cy="56322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Verification Success Rate</a:t>
            </a:r>
            <a:endParaRPr dirty="0"/>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Measures correctness for legitimate users; adaptive PoW imposes mean challenge length of 49.58 bytes on normal users vs 110.82 bytes on anomalous users - 54.93% overhead vs static baseline.</a:t>
            </a:r>
            <a:endParaRPr dirty="0"/>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Fraud Detection Rate</a:t>
            </a:r>
            <a:br>
              <a:rPr lang="en-IN" sz="2000" b="1" dirty="0">
                <a:solidFill>
                  <a:schemeClr val="dk1"/>
                </a:solidFill>
                <a:latin typeface="Times New Roman"/>
                <a:ea typeface="Times New Roman"/>
                <a:cs typeface="Times New Roman"/>
                <a:sym typeface="Times New Roman"/>
              </a:rPr>
            </a:br>
            <a:br>
              <a:rPr lang="en-IN" sz="2000" b="1" dirty="0">
                <a:solidFill>
                  <a:schemeClr val="dk1"/>
                </a:solidFill>
                <a:latin typeface="Times New Roman"/>
                <a:ea typeface="Times New Roman"/>
                <a:cs typeface="Times New Roman"/>
                <a:sym typeface="Times New Roman"/>
              </a:rPr>
            </a:br>
            <a:br>
              <a:rPr lang="en-IN" sz="2000" b="1" dirty="0">
                <a:solidFill>
                  <a:schemeClr val="dk1"/>
                </a:solidFill>
                <a:latin typeface="Times New Roman"/>
                <a:ea typeface="Times New Roman"/>
                <a:cs typeface="Times New Roman"/>
                <a:sym typeface="Times New Roman"/>
              </a:rPr>
            </a:br>
            <a:br>
              <a:rPr lang="en-IN" sz="2000" b="1" dirty="0">
                <a:solidFill>
                  <a:schemeClr val="dk1"/>
                </a:solidFill>
                <a:latin typeface="Times New Roman"/>
                <a:ea typeface="Times New Roman"/>
                <a:cs typeface="Times New Roman"/>
                <a:sym typeface="Times New Roman"/>
              </a:rPr>
            </a:br>
            <a:r>
              <a:rPr lang="en-IN" sz="2000" dirty="0">
                <a:solidFill>
                  <a:schemeClr val="dk1"/>
                </a:solidFill>
                <a:latin typeface="Times New Roman"/>
                <a:ea typeface="Times New Roman"/>
                <a:cs typeface="Times New Roman"/>
                <a:sym typeface="Times New Roman"/>
              </a:rPr>
              <a:t>Measures ability to prevent unauthorized ownership claims.</a:t>
            </a:r>
            <a:endParaRPr dirty="0"/>
          </a:p>
          <a:p>
            <a:pPr marL="342900" marR="0" lvl="0" indent="-342900" algn="l" rtl="0">
              <a:spcBef>
                <a:spcPts val="0"/>
              </a:spcBef>
              <a:spcAft>
                <a:spcPts val="0"/>
              </a:spcAft>
              <a:buFont typeface="Arial" panose="020B0604020202020204" pitchFamily="34" charset="0"/>
              <a:buChar char="•"/>
            </a:pPr>
            <a:r>
              <a:rPr lang="en-IN" sz="2000" dirty="0">
                <a:solidFill>
                  <a:schemeClr val="dk1"/>
                </a:solidFill>
                <a:latin typeface="Times New Roman"/>
                <a:ea typeface="Times New Roman"/>
                <a:cs typeface="Times New Roman"/>
                <a:sym typeface="Times New Roman"/>
              </a:rPr>
              <a:t>Achieved: Ownership Fraud Supervised F1=0.7671 (59/78 detected); Multiclass Macro-F1=0.8924. </a:t>
            </a:r>
            <a:endParaRPr dirty="0"/>
          </a:p>
          <a:p>
            <a:pPr marL="342900" marR="0" lvl="0" indent="-342900" algn="l" rtl="0">
              <a:spcBef>
                <a:spcPts val="0"/>
              </a:spcBef>
              <a:spcAft>
                <a:spcPts val="0"/>
              </a:spcAft>
              <a:buFont typeface="Arial" panose="020B0604020202020204" pitchFamily="34" charset="0"/>
              <a:buChar char="•"/>
            </a:pPr>
            <a:r>
              <a:rPr lang="en-IN" sz="2000" dirty="0">
                <a:solidFill>
                  <a:schemeClr val="dk1"/>
                </a:solidFill>
                <a:latin typeface="Times New Roman"/>
                <a:ea typeface="Times New Roman"/>
                <a:cs typeface="Times New Roman"/>
                <a:sym typeface="Times New Roman"/>
              </a:rPr>
              <a:t>Adaptive PoW: attacker success reduced from 0.8647 to 0.4713 (45.49% relative reduction under fixed-budget solver model). </a:t>
            </a:r>
            <a:endParaRPr dirty="0"/>
          </a:p>
          <a:p>
            <a:pPr marL="342900" marR="0" lvl="0" indent="-342900" algn="l" rtl="0">
              <a:spcBef>
                <a:spcPts val="0"/>
              </a:spcBef>
              <a:spcAft>
                <a:spcPts val="0"/>
              </a:spcAft>
              <a:buFont typeface="Arial" panose="020B0604020202020204" pitchFamily="34" charset="0"/>
              <a:buChar char="•"/>
            </a:pPr>
            <a:r>
              <a:rPr lang="en-IN" sz="2000" dirty="0">
                <a:solidFill>
                  <a:schemeClr val="dk1"/>
                </a:solidFill>
                <a:latin typeface="Times New Roman"/>
                <a:ea typeface="Times New Roman"/>
                <a:cs typeface="Times New Roman"/>
                <a:sym typeface="Times New Roman"/>
              </a:rPr>
              <a:t>Supervised FP=27; OCSVM cold-start FP=97 (high recall trade-off: detects 231/240 attack windows).</a:t>
            </a:r>
            <a:endParaRPr dirty="0"/>
          </a:p>
          <a:p>
            <a:pPr marL="342900" marR="0" lvl="0" indent="-342900" algn="l" rtl="0">
              <a:spcBef>
                <a:spcPts val="0"/>
              </a:spcBef>
              <a:spcAft>
                <a:spcPts val="0"/>
              </a:spcAft>
              <a:buFont typeface="Arial" panose="020B0604020202020204" pitchFamily="34" charset="0"/>
              <a:buChar char="•"/>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p:txBody>
      </p:sp>
      <p:pic>
        <p:nvPicPr>
          <p:cNvPr id="318" name="Google Shape;318;p30"/>
          <p:cNvPicPr preferRelativeResize="0"/>
          <p:nvPr/>
        </p:nvPicPr>
        <p:blipFill rotWithShape="1">
          <a:blip r:embed="rId3">
            <a:alphaModFix/>
          </a:blip>
          <a:srcRect/>
          <a:stretch/>
        </p:blipFill>
        <p:spPr>
          <a:xfrm>
            <a:off x="3601612" y="1616655"/>
            <a:ext cx="5687054" cy="876962"/>
          </a:xfrm>
          <a:prstGeom prst="rect">
            <a:avLst/>
          </a:prstGeom>
          <a:noFill/>
          <a:ln>
            <a:noFill/>
          </a:ln>
        </p:spPr>
      </p:pic>
      <p:pic>
        <p:nvPicPr>
          <p:cNvPr id="319" name="Google Shape;319;p30"/>
          <p:cNvPicPr preferRelativeResize="0"/>
          <p:nvPr/>
        </p:nvPicPr>
        <p:blipFill rotWithShape="1">
          <a:blip r:embed="rId4">
            <a:alphaModFix/>
          </a:blip>
          <a:srcRect/>
          <a:stretch/>
        </p:blipFill>
        <p:spPr>
          <a:xfrm>
            <a:off x="3454128" y="3645457"/>
            <a:ext cx="5687054" cy="86553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EVALUATION METRICS</a:t>
            </a:r>
            <a:endParaRPr sz="3600" dirty="0"/>
          </a:p>
        </p:txBody>
      </p:sp>
      <p:sp>
        <p:nvSpPr>
          <p:cNvPr id="349" name="Google Shape;349;p34"/>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50" name="Google Shape;35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26</a:t>
            </a:fld>
            <a:endParaRPr/>
          </a:p>
        </p:txBody>
      </p:sp>
      <p:sp>
        <p:nvSpPr>
          <p:cNvPr id="351" name="Google Shape;351;p34"/>
          <p:cNvSpPr txBox="1"/>
          <p:nvPr/>
        </p:nvSpPr>
        <p:spPr>
          <a:xfrm>
            <a:off x="838200" y="1132205"/>
            <a:ext cx="12000932" cy="53244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For sequence-based detection:</a:t>
            </a:r>
            <a:endParaRPr sz="2000" dirty="0"/>
          </a:p>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Sequence Detection Rate</a:t>
            </a:r>
            <a:endParaRPr sz="2000" dirty="0"/>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Used to evaluate stealth and slow-rate attack detection. </a:t>
            </a: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Achieved: </a:t>
            </a:r>
            <a:endParaRPr sz="2000" dirty="0"/>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	12-feature vectors (frequency x4, hash x4, temporal x4, user x2). HMAC 0.014ms, Redis 0.5ms,                   AES 0.082ms, PoW 2.5ms, total 3.2ms at 50K chunks/sec.</a:t>
            </a:r>
            <a:endParaRPr sz="2000" dirty="0"/>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System Overhead Metrics</a:t>
            </a: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To ensure security does not degrade performance:</a:t>
            </a:r>
            <a:endParaRPr sz="2000"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Logging Overhead (</a:t>
            </a:r>
            <a:r>
              <a:rPr lang="en-IN" sz="2000" dirty="0" err="1">
                <a:solidFill>
                  <a:schemeClr val="dk1"/>
                </a:solidFill>
                <a:latin typeface="Times New Roman"/>
                <a:ea typeface="Times New Roman"/>
                <a:cs typeface="Times New Roman"/>
                <a:sym typeface="Times New Roman"/>
              </a:rPr>
              <a:t>ms</a:t>
            </a:r>
            <a:r>
              <a:rPr lang="en-IN" sz="2000" dirty="0">
                <a:solidFill>
                  <a:schemeClr val="dk1"/>
                </a:solidFill>
                <a:latin typeface="Times New Roman"/>
                <a:ea typeface="Times New Roman"/>
                <a:cs typeface="Times New Roman"/>
                <a:sym typeface="Times New Roman"/>
              </a:rPr>
              <a:t> per request)</a:t>
            </a:r>
            <a:endParaRPr sz="2000"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Feature Extraction Time (</a:t>
            </a:r>
            <a:r>
              <a:rPr lang="en-IN" sz="2000" dirty="0" err="1">
                <a:solidFill>
                  <a:schemeClr val="dk1"/>
                </a:solidFill>
                <a:latin typeface="Times New Roman"/>
                <a:ea typeface="Times New Roman"/>
                <a:cs typeface="Times New Roman"/>
                <a:sym typeface="Times New Roman"/>
              </a:rPr>
              <a:t>ms</a:t>
            </a:r>
            <a:r>
              <a:rPr lang="en-IN" sz="2000" dirty="0">
                <a:solidFill>
                  <a:schemeClr val="dk1"/>
                </a:solidFill>
                <a:latin typeface="Times New Roman"/>
                <a:ea typeface="Times New Roman"/>
                <a:cs typeface="Times New Roman"/>
                <a:sym typeface="Times New Roman"/>
              </a:rPr>
              <a:t> per client)</a:t>
            </a:r>
            <a:endParaRPr sz="2000"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Model Inference Time (</a:t>
            </a:r>
            <a:r>
              <a:rPr lang="en-IN" sz="2000" dirty="0" err="1">
                <a:solidFill>
                  <a:schemeClr val="dk1"/>
                </a:solidFill>
                <a:latin typeface="Times New Roman"/>
                <a:ea typeface="Times New Roman"/>
                <a:cs typeface="Times New Roman"/>
                <a:sym typeface="Times New Roman"/>
              </a:rPr>
              <a:t>ms</a:t>
            </a:r>
            <a:r>
              <a:rPr lang="en-IN" sz="2000" dirty="0">
                <a:solidFill>
                  <a:schemeClr val="dk1"/>
                </a:solidFill>
                <a:latin typeface="Times New Roman"/>
                <a:ea typeface="Times New Roman"/>
                <a:cs typeface="Times New Roman"/>
                <a:sym typeface="Times New Roman"/>
              </a:rPr>
              <a:t> per prediction)</a:t>
            </a:r>
            <a:endParaRPr sz="2000" dirty="0"/>
          </a:p>
          <a:p>
            <a:pPr marL="342900" marR="0" lvl="0" indent="-342900" algn="l" rtl="0">
              <a:spcBef>
                <a:spcPts val="0"/>
              </a:spcBef>
              <a:spcAft>
                <a:spcPts val="0"/>
              </a:spcAft>
              <a:buClr>
                <a:schemeClr val="dk1"/>
              </a:buClr>
              <a:buSzPts val="2000"/>
              <a:buFont typeface="Arial"/>
              <a:buChar char="•"/>
            </a:pPr>
            <a:r>
              <a:rPr lang="en-IN" sz="2000" dirty="0">
                <a:solidFill>
                  <a:schemeClr val="dk1"/>
                </a:solidFill>
                <a:latin typeface="Times New Roman"/>
                <a:ea typeface="Times New Roman"/>
                <a:cs typeface="Times New Roman"/>
                <a:sym typeface="Times New Roman"/>
              </a:rPr>
              <a:t>PoW Challenge Latency (</a:t>
            </a:r>
            <a:r>
              <a:rPr lang="en-IN" sz="2000" dirty="0" err="1">
                <a:solidFill>
                  <a:schemeClr val="dk1"/>
                </a:solidFill>
                <a:latin typeface="Times New Roman"/>
                <a:ea typeface="Times New Roman"/>
                <a:cs typeface="Times New Roman"/>
                <a:sym typeface="Times New Roman"/>
              </a:rPr>
              <a:t>ms</a:t>
            </a:r>
            <a:r>
              <a:rPr lang="en-IN" sz="2000" dirty="0">
                <a:solidFill>
                  <a:schemeClr val="dk1"/>
                </a:solidFill>
                <a:latin typeface="Times New Roman"/>
                <a:ea typeface="Times New Roman"/>
                <a:cs typeface="Times New Roman"/>
                <a:sym typeface="Times New Roman"/>
              </a:rPr>
              <a:t>)</a:t>
            </a:r>
            <a:endParaRPr sz="2000" dirty="0"/>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p:txBody>
      </p:sp>
      <p:pic>
        <p:nvPicPr>
          <p:cNvPr id="352" name="Google Shape;352;p34"/>
          <p:cNvPicPr preferRelativeResize="0"/>
          <p:nvPr/>
        </p:nvPicPr>
        <p:blipFill rotWithShape="1">
          <a:blip r:embed="rId3">
            <a:alphaModFix/>
          </a:blip>
          <a:srcRect/>
          <a:stretch/>
        </p:blipFill>
        <p:spPr>
          <a:xfrm>
            <a:off x="2516551" y="1898314"/>
            <a:ext cx="7158898" cy="83980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1"/>
          <p:cNvSpPr txBox="1">
            <a:spLocks noGrp="1"/>
          </p:cNvSpPr>
          <p:nvPr>
            <p:ph type="title"/>
          </p:nvPr>
        </p:nvSpPr>
        <p:spPr>
          <a:xfrm>
            <a:off x="767080" y="-1225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FORMULAS- CRYPTOGRAPHIC PATH</a:t>
            </a:r>
            <a:endParaRPr sz="3600" dirty="0">
              <a:latin typeface="Times New Roman"/>
              <a:ea typeface="Times New Roman"/>
              <a:cs typeface="Times New Roman"/>
              <a:sym typeface="Times New Roman"/>
            </a:endParaRPr>
          </a:p>
        </p:txBody>
      </p:sp>
      <p:sp>
        <p:nvSpPr>
          <p:cNvPr id="325" name="Google Shape;325;p31"/>
          <p:cNvSpPr txBox="1">
            <a:spLocks noGrp="1"/>
          </p:cNvSpPr>
          <p:nvPr>
            <p:ph type="ftr" idx="11"/>
          </p:nvPr>
        </p:nvSpPr>
        <p:spPr>
          <a:xfrm>
            <a:off x="4038600" y="6596062"/>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26" name="Google Shape;326;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27</a:t>
            </a:fld>
            <a:endParaRPr/>
          </a:p>
        </p:txBody>
      </p:sp>
      <p:sp>
        <p:nvSpPr>
          <p:cNvPr id="9021" name="FormulaBox_9021"/>
          <p:cNvSpPr txBox="1"/>
          <p:nvPr/>
        </p:nvSpPr>
        <p:spPr>
          <a:xfrm>
            <a:off x="1782777" y="1299535"/>
            <a:ext cx="11200000" cy="5200000"/>
          </a:xfrm>
          <a:prstGeom prst="rect">
            <a:avLst/>
          </a:prstGeom>
          <a:noFill/>
          <a:ln>
            <a:noFill/>
          </a:ln>
        </p:spPr>
        <p:txBody>
          <a:bodyPr spcFirstLastPara="1" wrap="square" lIns="91425" tIns="45700" rIns="91425" bIns="45700" anchor="t" anchorCtr="0">
            <a:normAutofit/>
          </a:bodyPr>
          <a:lstStyle/>
          <a:p>
            <a:pPr marL="0" lvl="0" indent="0" algn="l" rtl="0">
              <a:lnSpc>
                <a:spcPts val="1150"/>
              </a:lnSpc>
              <a:spcBef>
                <a:spcPts val="0"/>
              </a:spcBef>
              <a:spcAft>
                <a:spcPts val="0"/>
              </a:spcAft>
              <a:buNone/>
            </a:pPr>
            <a:endParaRPr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AD6D74C-7D6E-0DBA-BC3B-48A5248FFAB8}"/>
                  </a:ext>
                </a:extLst>
              </p:cNvPr>
              <p:cNvGraphicFramePr>
                <a:graphicFrameLocks noGrp="1"/>
              </p:cNvGraphicFramePr>
              <p:nvPr>
                <p:extLst>
                  <p:ext uri="{D42A27DB-BD31-4B8C-83A1-F6EECF244321}">
                    <p14:modId xmlns:p14="http://schemas.microsoft.com/office/powerpoint/2010/main" val="16245259"/>
                  </p:ext>
                </p:extLst>
              </p:nvPr>
            </p:nvGraphicFramePr>
            <p:xfrm>
              <a:off x="767080" y="1413290"/>
              <a:ext cx="11353800" cy="4482275"/>
            </p:xfrm>
            <a:graphic>
              <a:graphicData uri="http://schemas.openxmlformats.org/drawingml/2006/table">
                <a:tbl>
                  <a:tblPr>
                    <a:tableStyleId>{FCE49B7E-5F19-4CB0-BCE9-EA4782633ABD}</a:tableStyleId>
                  </a:tblPr>
                  <a:tblGrid>
                    <a:gridCol w="2605385">
                      <a:extLst>
                        <a:ext uri="{9D8B030D-6E8A-4147-A177-3AD203B41FA5}">
                          <a16:colId xmlns:a16="http://schemas.microsoft.com/office/drawing/2014/main" val="1419653076"/>
                        </a:ext>
                      </a:extLst>
                    </a:gridCol>
                    <a:gridCol w="4963815">
                      <a:extLst>
                        <a:ext uri="{9D8B030D-6E8A-4147-A177-3AD203B41FA5}">
                          <a16:colId xmlns:a16="http://schemas.microsoft.com/office/drawing/2014/main" val="2335786808"/>
                        </a:ext>
                      </a:extLst>
                    </a:gridCol>
                    <a:gridCol w="3784600">
                      <a:extLst>
                        <a:ext uri="{9D8B030D-6E8A-4147-A177-3AD203B41FA5}">
                          <a16:colId xmlns:a16="http://schemas.microsoft.com/office/drawing/2014/main" val="1810669898"/>
                        </a:ext>
                      </a:extLst>
                    </a:gridCol>
                  </a:tblGrid>
                  <a:tr h="387663">
                    <a:tc>
                      <a:txBody>
                        <a:bodyPr/>
                        <a:lstStyle/>
                        <a:p>
                          <a:pPr>
                            <a:buNone/>
                          </a:pPr>
                          <a:r>
                            <a:rPr lang="en-IN" sz="1600" b="1">
                              <a:latin typeface="Times New Roman" panose="02020603050405020304" pitchFamily="18" charset="0"/>
                              <a:cs typeface="Times New Roman" panose="02020603050405020304" pitchFamily="18" charset="0"/>
                            </a:rPr>
                            <a:t>Section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Formula / Expression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Key Details</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44855814"/>
                      </a:ext>
                    </a:extLst>
                  </a:tr>
                  <a:tr h="930392">
                    <a:tc>
                      <a:txBody>
                        <a:bodyPr/>
                        <a:lstStyle/>
                        <a:p>
                          <a:pPr>
                            <a:buNone/>
                          </a:pPr>
                          <a:r>
                            <a:rPr lang="en-IN" sz="1600" b="1">
                              <a:latin typeface="Times New Roman" panose="02020603050405020304" pitchFamily="18" charset="0"/>
                              <a:cs typeface="Times New Roman" panose="02020603050405020304" pitchFamily="18" charset="0"/>
                            </a:rPr>
                            <a:t>Dedup Token Generation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𝑇</m:t>
                                    </m:r>
                                  </m:e>
                                  <m:sub>
                                    <m:r>
                                      <a:rPr lang="ar-AE" sz="1600">
                                        <a:latin typeface="Cambria Math" panose="02040503050406030204" pitchFamily="18" charset="0"/>
                                      </a:rPr>
                                      <m:t>𝑖</m:t>
                                    </m:r>
                                  </m:sub>
                                </m:sSub>
                                <m:r>
                                  <a:rPr lang="ar-AE" sz="1600">
                                    <a:latin typeface="Cambria Math" panose="02040503050406030204" pitchFamily="18" charset="0"/>
                                  </a:rPr>
                                  <m:t>=</m:t>
                                </m:r>
                                <m:r>
                                  <m:rPr>
                                    <m:nor/>
                                  </m:rPr>
                                  <a:rPr lang="en-IN" sz="1600" b="0">
                                    <a:latin typeface="Times New Roman" panose="02020603050405020304" pitchFamily="18" charset="0"/>
                                    <a:cs typeface="Times New Roman" panose="02020603050405020304" pitchFamily="18" charset="0"/>
                                  </a:rPr>
                                  <m:t>HMAC</m:t>
                                </m:r>
                                <m:r>
                                  <m:rPr>
                                    <m:nor/>
                                  </m:rPr>
                                  <a:rPr lang="en-IN" sz="1600" b="0">
                                    <a:latin typeface="Times New Roman" panose="02020603050405020304" pitchFamily="18" charset="0"/>
                                    <a:cs typeface="Times New Roman" panose="02020603050405020304" pitchFamily="18" charset="0"/>
                                  </a:rPr>
                                  <m:t>−</m:t>
                                </m:r>
                                <m:r>
                                  <m:rPr>
                                    <m:nor/>
                                  </m:rPr>
                                  <a:rPr lang="en-IN" sz="1600" b="0">
                                    <a:latin typeface="Times New Roman" panose="02020603050405020304" pitchFamily="18" charset="0"/>
                                    <a:cs typeface="Times New Roman" panose="02020603050405020304" pitchFamily="18" charset="0"/>
                                  </a:rPr>
                                  <m:t>SHA</m:t>
                                </m:r>
                                <m:r>
                                  <m:rPr>
                                    <m:nor/>
                                  </m:rPr>
                                  <a:rPr lang="en-IN" sz="1600" b="0">
                                    <a:latin typeface="Times New Roman" panose="02020603050405020304" pitchFamily="18" charset="0"/>
                                    <a:cs typeface="Times New Roman" panose="02020603050405020304" pitchFamily="18" charset="0"/>
                                  </a:rPr>
                                  <m:t>256</m:t>
                                </m:r>
                                <m:d>
                                  <m:dPr>
                                    <m:sepChr m:val=","/>
                                    <m:ctrlPr>
                                      <a:rPr lang="ar-AE" sz="1600" b="0" i="1">
                                        <a:latin typeface="Cambria Math" panose="02040503050406030204" pitchFamily="18" charset="0"/>
                                      </a:rPr>
                                    </m:ctrlPr>
                                  </m:dPr>
                                  <m:e>
                                    <m:sSub>
                                      <m:sSubPr>
                                        <m:ctrlPr>
                                          <a:rPr lang="ar-AE" sz="1600" b="0" i="1">
                                            <a:latin typeface="Cambria Math" panose="02040503050406030204" pitchFamily="18" charset="0"/>
                                          </a:rPr>
                                        </m:ctrlPr>
                                      </m:sSubPr>
                                      <m:e>
                                        <m:r>
                                          <a:rPr lang="ar-AE" sz="1600" b="0">
                                            <a:latin typeface="Cambria Math" panose="02040503050406030204" pitchFamily="18" charset="0"/>
                                          </a:rPr>
                                          <m:t>𝐾</m:t>
                                        </m:r>
                                      </m:e>
                                      <m:sub>
                                        <m:r>
                                          <m:rPr>
                                            <m:nor/>
                                          </m:rPr>
                                          <a:rPr lang="en-IN" sz="1600" b="0">
                                            <a:latin typeface="Times New Roman" panose="02020603050405020304" pitchFamily="18" charset="0"/>
                                            <a:cs typeface="Times New Roman" panose="02020603050405020304" pitchFamily="18" charset="0"/>
                                          </a:rPr>
                                          <m:t>server</m:t>
                                        </m:r>
                                      </m:sub>
                                    </m:sSub>
                                  </m:e>
                                  <m:e>
                                    <m:sSub>
                                      <m:sSubPr>
                                        <m:ctrlPr>
                                          <a:rPr lang="ar-AE" sz="1600" b="0" i="1">
                                            <a:latin typeface="Cambria Math" panose="02040503050406030204" pitchFamily="18" charset="0"/>
                                          </a:rPr>
                                        </m:ctrlPr>
                                      </m:sSubPr>
                                      <m:e>
                                        <m:r>
                                          <a:rPr lang="ar-AE" sz="1600" b="0">
                                            <a:latin typeface="Cambria Math" panose="02040503050406030204" pitchFamily="18" charset="0"/>
                                          </a:rPr>
                                          <m:t>𝐶</m:t>
                                        </m:r>
                                      </m:e>
                                      <m:sub>
                                        <m:r>
                                          <a:rPr lang="ar-AE" sz="1600" b="0">
                                            <a:latin typeface="Cambria Math" panose="02040503050406030204" pitchFamily="18" charset="0"/>
                                          </a:rPr>
                                          <m:t>𝑖</m:t>
                                        </m:r>
                                      </m:sub>
                                    </m:sSub>
                                  </m:e>
                                </m:d>
                              </m:oMath>
                            </m:oMathPara>
                          </a14:m>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𝑇</m:t>
                                  </m:r>
                                </m:e>
                                <m:sub>
                                  <m:r>
                                    <a:rPr lang="ar-AE" sz="1600">
                                      <a:latin typeface="Cambria Math" panose="02040503050406030204" pitchFamily="18" charset="0"/>
                                    </a:rPr>
                                    <m:t>𝑖</m:t>
                                  </m:r>
                                </m:sub>
                              </m:sSub>
                            </m:oMath>
                          </a14:m>
                          <a:r>
                            <a:rPr lang="ar-AE" sz="1600">
                              <a:latin typeface="Times New Roman" panose="02020603050405020304" pitchFamily="18" charset="0"/>
                              <a:cs typeface="Times New Roman" panose="02020603050405020304" pitchFamily="18" charset="0"/>
                            </a:rPr>
                            <a:t>: </a:t>
                          </a:r>
                          <a:r>
                            <a:rPr lang="en-IN" sz="1600">
                              <a:latin typeface="Times New Roman" panose="02020603050405020304" pitchFamily="18" charset="0"/>
                              <a:cs typeface="Times New Roman" panose="02020603050405020304" pitchFamily="18" charset="0"/>
                            </a:rPr>
                            <a:t>chunk identity </a:t>
                          </a:r>
                          <a:br>
                            <a:rPr lang="en-IN" sz="1600">
                              <a:latin typeface="Times New Roman" panose="02020603050405020304" pitchFamily="18" charset="0"/>
                              <a:cs typeface="Times New Roman" panose="02020603050405020304" pitchFamily="18" charset="0"/>
                            </a:rPr>
                          </a:b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𝐾</m:t>
                                  </m:r>
                                </m:e>
                                <m:sub>
                                  <m:r>
                                    <m:rPr>
                                      <m:nor/>
                                    </m:rPr>
                                    <a:rPr lang="en-IN" sz="1600" b="0">
                                      <a:latin typeface="Times New Roman" panose="02020603050405020304" pitchFamily="18" charset="0"/>
                                      <a:cs typeface="Times New Roman" panose="02020603050405020304" pitchFamily="18" charset="0"/>
                                    </a:rPr>
                                    <m:t>server</m:t>
                                  </m:r>
                                </m:sub>
                              </m:sSub>
                            </m:oMath>
                          </a14:m>
                          <a:r>
                            <a:rPr lang="ar-AE" sz="1600">
                              <a:latin typeface="Times New Roman" panose="02020603050405020304" pitchFamily="18" charset="0"/>
                              <a:cs typeface="Times New Roman" panose="02020603050405020304" pitchFamily="18" charset="0"/>
                            </a:rPr>
                            <a:t>: </a:t>
                          </a:r>
                          <a:r>
                            <a:rPr lang="en-IN" sz="1600">
                              <a:latin typeface="Times New Roman" panose="02020603050405020304" pitchFamily="18" charset="0"/>
                              <a:cs typeface="Times New Roman" panose="02020603050405020304" pitchFamily="18" charset="0"/>
                            </a:rPr>
                            <a:t>secret key </a:t>
                          </a:r>
                          <a:br>
                            <a:rPr lang="en-IN" sz="1600">
                              <a:latin typeface="Times New Roman" panose="02020603050405020304" pitchFamily="18" charset="0"/>
                              <a:cs typeface="Times New Roman" panose="02020603050405020304" pitchFamily="18" charset="0"/>
                            </a:rPr>
                          </a:br>
                          <a:r>
                            <a:rPr lang="en-IN" sz="1600">
                              <a:latin typeface="Times New Roman" panose="02020603050405020304" pitchFamily="18" charset="0"/>
                              <a:cs typeface="Times New Roman" panose="02020603050405020304" pitchFamily="18" charset="0"/>
                            </a:rPr>
                            <a:t>Prevents frequency &amp; confirmation attacks</a:t>
                          </a:r>
                        </a:p>
                      </a:txBody>
                      <a:tcPr anchor="ctr"/>
                    </a:tc>
                    <a:extLst>
                      <a:ext uri="{0D108BD9-81ED-4DB2-BD59-A6C34878D82A}">
                        <a16:rowId xmlns:a16="http://schemas.microsoft.com/office/drawing/2014/main" val="3079701832"/>
                      </a:ext>
                    </a:extLst>
                  </a:tr>
                  <a:tr h="659027">
                    <a:tc>
                      <a:txBody>
                        <a:bodyPr/>
                        <a:lstStyle/>
                        <a:p>
                          <a:pPr>
                            <a:buNone/>
                          </a:pPr>
                          <a:r>
                            <a:rPr lang="en-IN" sz="1600" b="1">
                              <a:latin typeface="Times New Roman" panose="02020603050405020304" pitchFamily="18" charset="0"/>
                              <a:cs typeface="Times New Roman" panose="02020603050405020304" pitchFamily="18" charset="0"/>
                            </a:rPr>
                            <a:t>OPRF – Blinding</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limUpp>
                                  <m:limUppPr>
                                    <m:ctrlPr>
                                      <a:rPr lang="ar-AE" sz="1600" i="1" smtClean="0">
                                        <a:latin typeface="Cambria Math" panose="02040503050406030204" pitchFamily="18" charset="0"/>
                                      </a:rPr>
                                    </m:ctrlPr>
                                  </m:limUppPr>
                                  <m:e>
                                    <m:r>
                                      <a:rPr lang="ar-AE" sz="1600">
                                        <a:latin typeface="Cambria Math" panose="02040503050406030204" pitchFamily="18" charset="0"/>
                                      </a:rPr>
                                      <m:t>𝑀</m:t>
                                    </m:r>
                                  </m:e>
                                  <m:lim>
                                    <m:r>
                                      <a:rPr lang="en-IN" sz="1600" b="0" i="0" smtClean="0">
                                        <a:latin typeface="Cambria Math" panose="02040503050406030204" pitchFamily="18" charset="0"/>
                                      </a:rPr>
                                      <m:t>_</m:t>
                                    </m:r>
                                  </m:lim>
                                </m:limUpp>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𝐻</m:t>
                                    </m:r>
                                  </m:e>
                                  <m:sub>
                                    <m:r>
                                      <a:rPr lang="ar-AE" sz="1600">
                                        <a:latin typeface="Cambria Math" panose="02040503050406030204" pitchFamily="18" charset="0"/>
                                      </a:rPr>
                                      <m:t>1</m:t>
                                    </m:r>
                                  </m:sub>
                                </m:sSub>
                                <m:d>
                                  <m:dPr>
                                    <m:ctrlPr>
                                      <a:rPr lang="ar-AE" sz="1600" i="1">
                                        <a:latin typeface="Cambria Math" panose="02040503050406030204" pitchFamily="18" charset="0"/>
                                      </a:rPr>
                                    </m:ctrlPr>
                                  </m:dPr>
                                  <m:e>
                                    <m:r>
                                      <a:rPr lang="ar-AE" sz="1600">
                                        <a:latin typeface="Cambria Math" panose="02040503050406030204" pitchFamily="18" charset="0"/>
                                      </a:rPr>
                                      <m:t>𝑚</m:t>
                                    </m:r>
                                  </m:e>
                                </m:d>
                                <m:r>
                                  <a:rPr lang="ar-AE" sz="1600">
                                    <a:latin typeface="Cambria Math" panose="02040503050406030204" pitchFamily="18" charset="0"/>
                                  </a:rPr>
                                  <m:t>+</m:t>
                                </m:r>
                                <m:sSup>
                                  <m:sSupPr>
                                    <m:ctrlPr>
                                      <a:rPr lang="ar-AE" sz="1600" i="1">
                                        <a:latin typeface="Cambria Math" panose="02040503050406030204" pitchFamily="18" charset="0"/>
                                      </a:rPr>
                                    </m:ctrlPr>
                                  </m:sSupPr>
                                  <m:e>
                                    <m:r>
                                      <a:rPr lang="ar-AE" sz="1600">
                                        <a:latin typeface="Cambria Math" panose="02040503050406030204" pitchFamily="18" charset="0"/>
                                      </a:rPr>
                                      <m:t>𝑔</m:t>
                                    </m:r>
                                  </m:e>
                                  <m:sup>
                                    <m:r>
                                      <a:rPr lang="ar-AE" sz="1600">
                                        <a:latin typeface="Cambria Math" panose="02040503050406030204" pitchFamily="18" charset="0"/>
                                      </a:rPr>
                                      <m:t>𝑟</m:t>
                                    </m:r>
                                  </m:sup>
                                </m:sSup>
                              </m:oMath>
                            </m:oMathPara>
                          </a14:m>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𝐻</m:t>
                                  </m:r>
                                </m:e>
                                <m:sub>
                                  <m:r>
                                    <a:rPr lang="ar-AE" sz="1600">
                                      <a:latin typeface="Cambria Math" panose="02040503050406030204" pitchFamily="18" charset="0"/>
                                    </a:rPr>
                                    <m:t>1</m:t>
                                  </m:r>
                                </m:sub>
                              </m:sSub>
                            </m:oMath>
                          </a14:m>
                          <a:r>
                            <a:rPr lang="ar-AE" sz="1600">
                              <a:latin typeface="Times New Roman" panose="02020603050405020304" pitchFamily="18" charset="0"/>
                              <a:cs typeface="Times New Roman" panose="02020603050405020304" pitchFamily="18" charset="0"/>
                            </a:rPr>
                            <a:t>: </a:t>
                          </a:r>
                          <a:r>
                            <a:rPr lang="en-IN" sz="1600">
                              <a:latin typeface="Times New Roman" panose="02020603050405020304" pitchFamily="18" charset="0"/>
                              <a:cs typeface="Times New Roman" panose="02020603050405020304" pitchFamily="18" charset="0"/>
                            </a:rPr>
                            <a:t>hash-to-group </a:t>
                          </a:r>
                          <a:br>
                            <a:rPr lang="en-IN" sz="1600">
                              <a:latin typeface="Times New Roman" panose="02020603050405020304" pitchFamily="18" charset="0"/>
                              <a:cs typeface="Times New Roman" panose="02020603050405020304" pitchFamily="18" charset="0"/>
                            </a:rPr>
                          </a:br>
                          <a14:m>
                            <m:oMath xmlns:m="http://schemas.openxmlformats.org/officeDocument/2006/math">
                              <m:r>
                                <a:rPr lang="en-IN" sz="1600">
                                  <a:latin typeface="Cambria Math" panose="02040503050406030204" pitchFamily="18" charset="0"/>
                                </a:rPr>
                                <m:t>𝑟</m:t>
                              </m:r>
                            </m:oMath>
                          </a14:m>
                          <a:r>
                            <a:rPr lang="en-IN" sz="1600">
                              <a:latin typeface="Times New Roman" panose="02020603050405020304" pitchFamily="18" charset="0"/>
                              <a:cs typeface="Times New Roman" panose="02020603050405020304" pitchFamily="18" charset="0"/>
                            </a:rPr>
                            <a:t>: random scalar</a:t>
                          </a:r>
                        </a:p>
                      </a:txBody>
                      <a:tcPr anchor="ctr"/>
                    </a:tc>
                    <a:extLst>
                      <a:ext uri="{0D108BD9-81ED-4DB2-BD59-A6C34878D82A}">
                        <a16:rowId xmlns:a16="http://schemas.microsoft.com/office/drawing/2014/main" val="2311796232"/>
                      </a:ext>
                    </a:extLst>
                  </a:tr>
                  <a:tr h="659027">
                    <a:tc>
                      <a:txBody>
                        <a:bodyPr/>
                        <a:lstStyle/>
                        <a:p>
                          <a:pPr>
                            <a:buNone/>
                          </a:pPr>
                          <a:r>
                            <a:rPr lang="en-IN" sz="1600" b="1">
                              <a:latin typeface="Times New Roman" panose="02020603050405020304" pitchFamily="18" charset="0"/>
                              <a:cs typeface="Times New Roman" panose="02020603050405020304" pitchFamily="18" charset="0"/>
                            </a:rPr>
                            <a:t>OPRF – Evaluation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d>
                                  <m:dPr>
                                    <m:sepChr m:val=","/>
                                    <m:ctrlPr>
                                      <a:rPr lang="ar-AE" sz="1600" i="1" smtClean="0">
                                        <a:latin typeface="Cambria Math" panose="02040503050406030204" pitchFamily="18" charset="0"/>
                                      </a:rPr>
                                    </m:ctrlPr>
                                  </m:dPr>
                                  <m:e>
                                    <m:sSup>
                                      <m:sSupPr>
                                        <m:ctrlPr>
                                          <a:rPr lang="ar-AE" sz="1600" i="1" smtClean="0">
                                            <a:latin typeface="Cambria Math" panose="02040503050406030204" pitchFamily="18" charset="0"/>
                                          </a:rPr>
                                        </m:ctrlPr>
                                      </m:sSupPr>
                                      <m:e>
                                        <m:r>
                                          <a:rPr lang="ar-AE" sz="1600">
                                            <a:latin typeface="Cambria Math" panose="02040503050406030204" pitchFamily="18" charset="0"/>
                                          </a:rPr>
                                          <m:t>𝑔</m:t>
                                        </m:r>
                                      </m:e>
                                      <m:sup>
                                        <m:r>
                                          <a:rPr lang="ar-AE" sz="1600">
                                            <a:latin typeface="Cambria Math" panose="02040503050406030204" pitchFamily="18" charset="0"/>
                                          </a:rPr>
                                          <m:t>𝑘</m:t>
                                        </m:r>
                                      </m:sup>
                                    </m:sSup>
                                  </m:e>
                                  <m:e>
                                    <m:r>
                                      <m:rPr>
                                        <m:nor/>
                                      </m:rPr>
                                      <a:rPr lang="ar-AE" sz="1600" b="0">
                                        <a:latin typeface="Times New Roman" panose="02020603050405020304" pitchFamily="18" charset="0"/>
                                        <a:cs typeface="Times New Roman" panose="02020603050405020304" pitchFamily="18" charset="0"/>
                                      </a:rPr>
                                      <m:t> </m:t>
                                    </m:r>
                                    <m:sSup>
                                      <m:sSupPr>
                                        <m:ctrlPr>
                                          <a:rPr lang="ar-AE" sz="1600" b="0" i="1">
                                            <a:latin typeface="Cambria Math" panose="02040503050406030204" pitchFamily="18" charset="0"/>
                                          </a:rPr>
                                        </m:ctrlPr>
                                      </m:sSupPr>
                                      <m:e>
                                        <m:limUpp>
                                          <m:limUppPr>
                                            <m:ctrlPr>
                                              <a:rPr lang="ar-AE" sz="1600" b="0" i="1">
                                                <a:latin typeface="Cambria Math" panose="02040503050406030204" pitchFamily="18" charset="0"/>
                                              </a:rPr>
                                            </m:ctrlPr>
                                          </m:limUppPr>
                                          <m:e>
                                            <m:r>
                                              <a:rPr lang="ar-AE" sz="1600" b="0">
                                                <a:latin typeface="Cambria Math" panose="02040503050406030204" pitchFamily="18" charset="0"/>
                                              </a:rPr>
                                              <m:t>𝑀</m:t>
                                            </m:r>
                                          </m:e>
                                          <m:lim>
                                            <m:r>
                                              <a:rPr lang="en-IN" sz="1600" b="0" i="0" smtClean="0">
                                                <a:latin typeface="Cambria Math" panose="02040503050406030204" pitchFamily="18" charset="0"/>
                                              </a:rPr>
                                              <m:t>−</m:t>
                                            </m:r>
                                          </m:lim>
                                        </m:limUpp>
                                      </m:e>
                                      <m:sup>
                                        <m:r>
                                          <a:rPr lang="ar-AE" sz="1600" b="0">
                                            <a:latin typeface="Cambria Math" panose="02040503050406030204" pitchFamily="18" charset="0"/>
                                          </a:rPr>
                                          <m:t>𝑘</m:t>
                                        </m:r>
                                      </m:sup>
                                    </m:sSup>
                                  </m:e>
                                </m:d>
                              </m:oMath>
                            </m:oMathPara>
                          </a14:m>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14:m>
                            <m:oMath xmlns:m="http://schemas.openxmlformats.org/officeDocument/2006/math">
                              <m:r>
                                <a:rPr lang="en-US" sz="1600">
                                  <a:latin typeface="Cambria Math" panose="02040503050406030204" pitchFamily="18" charset="0"/>
                                </a:rPr>
                                <m:t>𝑘</m:t>
                              </m:r>
                            </m:oMath>
                          </a14:m>
                          <a:r>
                            <a:rPr lang="en-US" sz="1600">
                              <a:latin typeface="Times New Roman" panose="02020603050405020304" pitchFamily="18" charset="0"/>
                              <a:cs typeface="Times New Roman" panose="02020603050405020304" pitchFamily="18" charset="0"/>
                            </a:rPr>
                            <a:t>: server secret </a:t>
                          </a:r>
                          <a:br>
                            <a:rPr lang="en-US" sz="1600">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Computation on blinded input</a:t>
                          </a:r>
                        </a:p>
                      </a:txBody>
                      <a:tcPr anchor="ctr"/>
                    </a:tc>
                    <a:extLst>
                      <a:ext uri="{0D108BD9-81ED-4DB2-BD59-A6C34878D82A}">
                        <a16:rowId xmlns:a16="http://schemas.microsoft.com/office/drawing/2014/main" val="3345666458"/>
                      </a:ext>
                    </a:extLst>
                  </a:tr>
                  <a:tr h="392429">
                    <a:tc>
                      <a:txBody>
                        <a:bodyPr/>
                        <a:lstStyle/>
                        <a:p>
                          <a:pPr>
                            <a:buNone/>
                          </a:pPr>
                          <a:r>
                            <a:rPr lang="en-IN" sz="1600" b="1">
                              <a:latin typeface="Times New Roman" panose="02020603050405020304" pitchFamily="18" charset="0"/>
                              <a:cs typeface="Times New Roman" panose="02020603050405020304" pitchFamily="18" charset="0"/>
                            </a:rPr>
                            <a:t>OPRF – Unblinding</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r>
                                  <a:rPr lang="ar-AE" sz="1600">
                                    <a:latin typeface="Cambria Math" panose="02040503050406030204" pitchFamily="18" charset="0"/>
                                  </a:rPr>
                                  <m:t>𝑁</m:t>
                                </m:r>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𝐻</m:t>
                                    </m:r>
                                  </m:e>
                                  <m:sub>
                                    <m:r>
                                      <a:rPr lang="ar-AE" sz="1600">
                                        <a:latin typeface="Cambria Math" panose="02040503050406030204" pitchFamily="18" charset="0"/>
                                      </a:rPr>
                                      <m:t>1</m:t>
                                    </m:r>
                                  </m:sub>
                                </m:sSub>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r>
                                          <a:rPr lang="ar-AE" sz="1600">
                                            <a:latin typeface="Cambria Math" panose="02040503050406030204" pitchFamily="18" charset="0"/>
                                          </a:rPr>
                                          <m:t>𝑚</m:t>
                                        </m:r>
                                      </m:e>
                                    </m:d>
                                  </m:e>
                                  <m:sup>
                                    <m:r>
                                      <a:rPr lang="ar-AE" sz="1600">
                                        <a:latin typeface="Cambria Math" panose="02040503050406030204" pitchFamily="18" charset="0"/>
                                      </a:rPr>
                                      <m:t>𝑘</m:t>
                                    </m:r>
                                  </m:sup>
                                </m:sSup>
                              </m:oMath>
                            </m:oMathPara>
                          </a14:m>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Removes blinding factor</a:t>
                          </a:r>
                        </a:p>
                      </a:txBody>
                      <a:tcPr anchor="ctr"/>
                    </a:tc>
                    <a:extLst>
                      <a:ext uri="{0D108BD9-81ED-4DB2-BD59-A6C34878D82A}">
                        <a16:rowId xmlns:a16="http://schemas.microsoft.com/office/drawing/2014/main" val="1731401772"/>
                      </a:ext>
                    </a:extLst>
                  </a:tr>
                  <a:tr h="387663">
                    <a:tc>
                      <a:txBody>
                        <a:bodyPr/>
                        <a:lstStyle/>
                        <a:p>
                          <a:pPr>
                            <a:buNone/>
                          </a:pPr>
                          <a:r>
                            <a:rPr lang="en-IN" sz="1600" b="1">
                              <a:latin typeface="Times New Roman" panose="02020603050405020304" pitchFamily="18" charset="0"/>
                              <a:cs typeface="Times New Roman" panose="02020603050405020304" pitchFamily="18" charset="0"/>
                            </a:rPr>
                            <a:t>MLE Key Derivation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𝐾</m:t>
                                    </m:r>
                                  </m:e>
                                  <m:sub>
                                    <m:r>
                                      <a:rPr lang="ar-AE" sz="1600">
                                        <a:latin typeface="Cambria Math" panose="02040503050406030204" pitchFamily="18" charset="0"/>
                                      </a:rPr>
                                      <m:t>𝑀</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𝐻</m:t>
                                    </m:r>
                                  </m:e>
                                  <m:sub>
                                    <m:r>
                                      <a:rPr lang="ar-AE" sz="1600">
                                        <a:latin typeface="Cambria Math" panose="02040503050406030204" pitchFamily="18" charset="0"/>
                                      </a:rPr>
                                      <m:t>2</m:t>
                                    </m:r>
                                  </m:sub>
                                </m:sSub>
                                <m:r>
                                  <m:rPr>
                                    <m:nor/>
                                  </m:rPr>
                                  <a:rPr lang="ar-AE" sz="1600" b="0">
                                    <a:latin typeface="Times New Roman" panose="02020603050405020304" pitchFamily="18" charset="0"/>
                                    <a:cs typeface="Times New Roman" panose="02020603050405020304" pitchFamily="18" charset="0"/>
                                  </a:rPr>
                                  <m:t> </m:t>
                                </m:r>
                                <m:d>
                                  <m:dPr>
                                    <m:ctrlPr>
                                      <a:rPr lang="ar-AE" sz="1600" b="0" i="1">
                                        <a:latin typeface="Cambria Math" panose="02040503050406030204" pitchFamily="18" charset="0"/>
                                      </a:rPr>
                                    </m:ctrlPr>
                                  </m:dPr>
                                  <m:e>
                                    <m:r>
                                      <a:rPr lang="ar-AE" sz="1600" b="0">
                                        <a:latin typeface="Cambria Math" panose="02040503050406030204" pitchFamily="18" charset="0"/>
                                      </a:rPr>
                                      <m:t>𝑁</m:t>
                                    </m:r>
                                    <m:r>
                                      <a:rPr lang="ar-AE" sz="1600" b="0">
                                        <a:latin typeface="Cambria Math" panose="02040503050406030204" pitchFamily="18" charset="0"/>
                                      </a:rPr>
                                      <m:t>∥</m:t>
                                    </m:r>
                                    <m:r>
                                      <m:rPr>
                                        <m:nor/>
                                      </m:rPr>
                                      <a:rPr lang="en-IN" sz="1600" b="0">
                                        <a:latin typeface="Times New Roman" panose="02020603050405020304" pitchFamily="18" charset="0"/>
                                        <a:cs typeface="Times New Roman" panose="02020603050405020304" pitchFamily="18" charset="0"/>
                                      </a:rPr>
                                      <m:t>SHA</m:t>
                                    </m:r>
                                    <m:r>
                                      <m:rPr>
                                        <m:nor/>
                                      </m:rPr>
                                      <a:rPr lang="en-IN" sz="1600" b="0">
                                        <a:latin typeface="Times New Roman" panose="02020603050405020304" pitchFamily="18" charset="0"/>
                                        <a:cs typeface="Times New Roman" panose="02020603050405020304" pitchFamily="18" charset="0"/>
                                      </a:rPr>
                                      <m:t>256</m:t>
                                    </m:r>
                                    <m:d>
                                      <m:dPr>
                                        <m:ctrlPr>
                                          <a:rPr lang="ar-AE" sz="1600" b="0" i="1">
                                            <a:latin typeface="Cambria Math" panose="02040503050406030204" pitchFamily="18" charset="0"/>
                                          </a:rPr>
                                        </m:ctrlPr>
                                      </m:dPr>
                                      <m:e>
                                        <m:r>
                                          <a:rPr lang="ar-AE" sz="1600" b="0">
                                            <a:latin typeface="Cambria Math" panose="02040503050406030204" pitchFamily="18" charset="0"/>
                                          </a:rPr>
                                          <m:t>𝑚</m:t>
                                        </m:r>
                                      </m:e>
                                    </m:d>
                                    <m:r>
                                      <a:rPr lang="ar-AE" sz="1600" b="0">
                                        <a:latin typeface="Cambria Math" panose="02040503050406030204" pitchFamily="18" charset="0"/>
                                      </a:rPr>
                                      <m:t>∥</m:t>
                                    </m:r>
                                    <m:r>
                                      <m:rPr>
                                        <m:nor/>
                                      </m:rPr>
                                      <a:rPr lang="en-IN" sz="1600" b="0">
                                        <a:latin typeface="Times New Roman" panose="02020603050405020304" pitchFamily="18" charset="0"/>
                                        <a:cs typeface="Times New Roman" panose="02020603050405020304" pitchFamily="18" charset="0"/>
                                      </a:rPr>
                                      <m:t>epoch</m:t>
                                    </m:r>
                                  </m:e>
                                </m:d>
                              </m:oMath>
                            </m:oMathPara>
                          </a14:m>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Secure message-locked key</a:t>
                          </a:r>
                        </a:p>
                      </a:txBody>
                      <a:tcPr anchor="ctr"/>
                    </a:tc>
                    <a:extLst>
                      <a:ext uri="{0D108BD9-81ED-4DB2-BD59-A6C34878D82A}">
                        <a16:rowId xmlns:a16="http://schemas.microsoft.com/office/drawing/2014/main" val="2617034358"/>
                      </a:ext>
                    </a:extLst>
                  </a:tr>
                  <a:tr h="678411">
                    <a:tc>
                      <a:txBody>
                        <a:bodyPr/>
                        <a:lstStyle/>
                        <a:p>
                          <a:pPr>
                            <a:buNone/>
                          </a:pPr>
                          <a:r>
                            <a:rPr lang="en-IN" sz="1600" b="1">
                              <a:latin typeface="Times New Roman" panose="02020603050405020304" pitchFamily="18" charset="0"/>
                              <a:cs typeface="Times New Roman" panose="02020603050405020304" pitchFamily="18" charset="0"/>
                            </a:rPr>
                            <a:t>Per-Chunk Key Derivation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 xmlns:m="http://schemas.openxmlformats.org/officeDocument/2006/math">
                              <m:sSub>
                                <m:sSubPr>
                                  <m:ctrlPr>
                                    <a:rPr lang="ar-AE" sz="1600" i="1" smtClean="0">
                                      <a:latin typeface="Cambria Math" panose="02040503050406030204" pitchFamily="18" charset="0"/>
                                    </a:rPr>
                                  </m:ctrlPr>
                                </m:sSubPr>
                                <m:e>
                                  <m:r>
                                    <a:rPr lang="ar-AE" sz="1600">
                                      <a:latin typeface="Cambria Math" panose="02040503050406030204" pitchFamily="18" charset="0"/>
                                    </a:rPr>
                                    <m:t>𝐾</m:t>
                                  </m:r>
                                </m:e>
                                <m:sub>
                                  <m:r>
                                    <m:rPr>
                                      <m:nor/>
                                    </m:rPr>
                                    <a:rPr lang="en-IN" sz="1600" b="0">
                                      <a:latin typeface="Times New Roman" panose="02020603050405020304" pitchFamily="18" charset="0"/>
                                      <a:cs typeface="Times New Roman" panose="02020603050405020304" pitchFamily="18" charset="0"/>
                                    </a:rPr>
                                    <m:t>chunk</m:t>
                                  </m:r>
                                </m:sub>
                              </m:sSub>
                              <m:r>
                                <a:rPr lang="ar-AE" sz="1600" b="0">
                                  <a:latin typeface="Cambria Math" panose="02040503050406030204" pitchFamily="18" charset="0"/>
                                </a:rPr>
                                <m:t>=</m:t>
                              </m:r>
                              <m:r>
                                <m:rPr>
                                  <m:nor/>
                                </m:rPr>
                                <a:rPr lang="en-IN" sz="1600" b="0">
                                  <a:latin typeface="Times New Roman" panose="02020603050405020304" pitchFamily="18" charset="0"/>
                                  <a:cs typeface="Times New Roman" panose="02020603050405020304" pitchFamily="18" charset="0"/>
                                </a:rPr>
                                <m:t>HKDF</m:t>
                              </m:r>
                              <m:r>
                                <m:rPr>
                                  <m:nor/>
                                </m:rPr>
                                <a:rPr lang="en-IN" sz="1600" b="0">
                                  <a:latin typeface="Times New Roman" panose="02020603050405020304" pitchFamily="18" charset="0"/>
                                  <a:cs typeface="Times New Roman" panose="02020603050405020304" pitchFamily="18" charset="0"/>
                                </a:rPr>
                                <m:t>−</m:t>
                              </m:r>
                              <m:r>
                                <m:rPr>
                                  <m:nor/>
                                </m:rPr>
                                <a:rPr lang="en-IN" sz="1600" b="0">
                                  <a:latin typeface="Times New Roman" panose="02020603050405020304" pitchFamily="18" charset="0"/>
                                  <a:cs typeface="Times New Roman" panose="02020603050405020304" pitchFamily="18" charset="0"/>
                                </a:rPr>
                                <m:t>SH</m:t>
                              </m:r>
                              <m:r>
                                <m:rPr>
                                  <m:nor/>
                                </m:rPr>
                                <a:rPr lang="en-IN" sz="1600" b="0" smtClean="0">
                                  <a:latin typeface="Times New Roman" panose="02020603050405020304" pitchFamily="18" charset="0"/>
                                  <a:cs typeface="Times New Roman" panose="02020603050405020304" pitchFamily="18" charset="0"/>
                                </a:rPr>
                                <m:t>A</m:t>
                              </m:r>
                              <m:r>
                                <m:rPr>
                                  <m:nor/>
                                </m:rPr>
                                <a:rPr lang="en-IN" sz="1600" b="0" smtClean="0">
                                  <a:latin typeface="Times New Roman" panose="02020603050405020304" pitchFamily="18" charset="0"/>
                                  <a:cs typeface="Times New Roman" panose="02020603050405020304" pitchFamily="18" charset="0"/>
                                </a:rPr>
                                <m:t>256 </m:t>
                              </m:r>
                              <m:r>
                                <m:rPr>
                                  <m:nor/>
                                </m:rPr>
                                <a:rPr lang="en-IN" sz="1600" b="0" i="0" smtClean="0">
                                  <a:latin typeface="Times New Roman" panose="02020603050405020304" pitchFamily="18" charset="0"/>
                                  <a:cs typeface="Times New Roman" panose="02020603050405020304" pitchFamily="18" charset="0"/>
                                </a:rPr>
                                <m:t>(</m:t>
                              </m:r>
                              <m:sSub>
                                <m:sSubPr>
                                  <m:ctrlPr>
                                    <a:rPr lang="ar-AE" sz="1600" i="1" smtClean="0">
                                      <a:latin typeface="Cambria Math" panose="02040503050406030204" pitchFamily="18" charset="0"/>
                                    </a:rPr>
                                  </m:ctrlPr>
                                </m:sSubPr>
                                <m:e>
                                  <m:r>
                                    <a:rPr lang="ar-AE" sz="1600">
                                      <a:latin typeface="Cambria Math" panose="02040503050406030204" pitchFamily="18" charset="0"/>
                                    </a:rPr>
                                    <m:t>𝐾</m:t>
                                  </m:r>
                                </m:e>
                                <m:sub>
                                  <m:r>
                                    <a:rPr lang="ar-AE" sz="1600">
                                      <a:latin typeface="Cambria Math" panose="02040503050406030204" pitchFamily="18" charset="0"/>
                                    </a:rPr>
                                    <m:t>𝑀</m:t>
                                  </m:r>
                                </m:sub>
                              </m:sSub>
                            </m:oMath>
                          </a14:m>
                          <a:r>
                            <a:rPr lang="en-IN" sz="1600" dirty="0">
                              <a:latin typeface="Times New Roman" panose="02020603050405020304" pitchFamily="18" charset="0"/>
                              <a:cs typeface="Times New Roman" panose="02020603050405020304" pitchFamily="18" charset="0"/>
                            </a:rPr>
                            <a:t>, SHA256(</a:t>
                          </a:r>
                          <a14:m>
                            <m:oMath xmlns:m="http://schemas.openxmlformats.org/officeDocument/2006/math">
                              <m:sSub>
                                <m:sSubPr>
                                  <m:ctrlPr>
                                    <a:rPr lang="ar-AE" sz="1600" i="1" smtClean="0">
                                      <a:latin typeface="Cambria Math" panose="02040503050406030204" pitchFamily="18" charset="0"/>
                                    </a:rPr>
                                  </m:ctrlPr>
                                </m:sSubPr>
                                <m:e>
                                  <m:r>
                                    <a:rPr lang="ar-AE" sz="1600">
                                      <a:latin typeface="Cambria Math" panose="02040503050406030204" pitchFamily="18" charset="0"/>
                                    </a:rPr>
                                    <m:t>𝑇</m:t>
                                  </m:r>
                                </m:e>
                                <m:sub>
                                  <m:r>
                                    <a:rPr lang="ar-AE" sz="1600">
                                      <a:latin typeface="Cambria Math" panose="02040503050406030204" pitchFamily="18" charset="0"/>
                                    </a:rPr>
                                    <m:t>𝑖</m:t>
                                  </m:r>
                                </m:sub>
                              </m:sSub>
                            </m:oMath>
                          </a14:m>
                          <a:r>
                            <a:rPr lang="en-IN" sz="1600" dirty="0">
                              <a:latin typeface="Times New Roman" panose="02020603050405020304" pitchFamily="18" charset="0"/>
                              <a:cs typeface="Times New Roman" panose="02020603050405020304" pitchFamily="18" charset="0"/>
                            </a:rPr>
                            <a:t>), info)</a:t>
                          </a:r>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Unique key per chunk</a:t>
                          </a:r>
                        </a:p>
                      </a:txBody>
                      <a:tcPr anchor="ctr"/>
                    </a:tc>
                    <a:extLst>
                      <a:ext uri="{0D108BD9-81ED-4DB2-BD59-A6C34878D82A}">
                        <a16:rowId xmlns:a16="http://schemas.microsoft.com/office/drawing/2014/main" val="1566942288"/>
                      </a:ext>
                    </a:extLst>
                  </a:tr>
                  <a:tr h="387663">
                    <a:tc>
                      <a:txBody>
                        <a:bodyPr/>
                        <a:lstStyle/>
                        <a:p>
                          <a:pPr>
                            <a:buNone/>
                          </a:pPr>
                          <a:r>
                            <a:rPr lang="en-IN" sz="1600" b="1">
                              <a:latin typeface="Times New Roman" panose="02020603050405020304" pitchFamily="18" charset="0"/>
                              <a:cs typeface="Times New Roman" panose="02020603050405020304" pitchFamily="18" charset="0"/>
                            </a:rPr>
                            <a:t>Encryption Binding (AAD)</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r>
                                  <m:rPr>
                                    <m:nor/>
                                  </m:rPr>
                                  <a:rPr lang="en-IN" sz="1600" b="0">
                                    <a:latin typeface="Times New Roman" panose="02020603050405020304" pitchFamily="18" charset="0"/>
                                    <a:cs typeface="Times New Roman" panose="02020603050405020304" pitchFamily="18" charset="0"/>
                                  </a:rPr>
                                  <m:t>AAD</m:t>
                                </m:r>
                                <m:r>
                                  <a:rPr lang="en-IN" sz="1600" b="0">
                                    <a:latin typeface="Cambria Math" panose="02040503050406030204" pitchFamily="18" charset="0"/>
                                  </a:rPr>
                                  <m:t>=</m:t>
                                </m:r>
                                <m:sSub>
                                  <m:sSubPr>
                                    <m:ctrlPr>
                                      <a:rPr lang="ar-AE" sz="1600" b="0" i="1">
                                        <a:latin typeface="Cambria Math" panose="02040503050406030204" pitchFamily="18" charset="0"/>
                                      </a:rPr>
                                    </m:ctrlPr>
                                  </m:sSubPr>
                                  <m:e>
                                    <m:r>
                                      <a:rPr lang="ar-AE" sz="1600" b="0">
                                        <a:latin typeface="Cambria Math" panose="02040503050406030204" pitchFamily="18" charset="0"/>
                                      </a:rPr>
                                      <m:t>𝑇</m:t>
                                    </m:r>
                                  </m:e>
                                  <m:sub>
                                    <m:r>
                                      <a:rPr lang="ar-AE" sz="1600" b="0">
                                        <a:latin typeface="Cambria Math" panose="02040503050406030204" pitchFamily="18" charset="0"/>
                                      </a:rPr>
                                      <m:t>𝑖</m:t>
                                    </m:r>
                                  </m:sub>
                                </m:sSub>
                                <m:r>
                                  <a:rPr lang="ar-AE" sz="1600" b="0">
                                    <a:latin typeface="Cambria Math" panose="02040503050406030204" pitchFamily="18" charset="0"/>
                                  </a:rPr>
                                  <m:t>∥</m:t>
                                </m:r>
                                <m:r>
                                  <m:rPr>
                                    <m:nor/>
                                  </m:rPr>
                                  <a:rPr lang="en-IN" sz="1600" b="0">
                                    <a:latin typeface="Times New Roman" panose="02020603050405020304" pitchFamily="18" charset="0"/>
                                    <a:cs typeface="Times New Roman" panose="02020603050405020304" pitchFamily="18" charset="0"/>
                                  </a:rPr>
                                  <m:t>segment</m:t>
                                </m:r>
                                <m:r>
                                  <m:rPr>
                                    <m:lit/>
                                    <m:nor/>
                                  </m:rPr>
                                  <a:rPr lang="en-IN" sz="1600" b="0">
                                    <a:latin typeface="Times New Roman" panose="02020603050405020304" pitchFamily="18" charset="0"/>
                                    <a:cs typeface="Times New Roman" panose="02020603050405020304" pitchFamily="18" charset="0"/>
                                  </a:rPr>
                                  <m:t>_</m:t>
                                </m:r>
                                <m:r>
                                  <m:rPr>
                                    <m:nor/>
                                  </m:rPr>
                                  <a:rPr lang="en-IN" sz="1600" b="0">
                                    <a:latin typeface="Times New Roman" panose="02020603050405020304" pitchFamily="18" charset="0"/>
                                    <a:cs typeface="Times New Roman" panose="02020603050405020304" pitchFamily="18" charset="0"/>
                                  </a:rPr>
                                  <m:t>index</m:t>
                                </m:r>
                              </m:oMath>
                            </m:oMathPara>
                          </a14:m>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Ensures tamper-proof encryption</a:t>
                          </a:r>
                        </a:p>
                      </a:txBody>
                      <a:tcPr anchor="ctr"/>
                    </a:tc>
                    <a:extLst>
                      <a:ext uri="{0D108BD9-81ED-4DB2-BD59-A6C34878D82A}">
                        <a16:rowId xmlns:a16="http://schemas.microsoft.com/office/drawing/2014/main" val="1696026270"/>
                      </a:ext>
                    </a:extLst>
                  </a:tr>
                </a:tbl>
              </a:graphicData>
            </a:graphic>
          </p:graphicFrame>
        </mc:Choice>
        <mc:Fallback xmlns="">
          <p:graphicFrame>
            <p:nvGraphicFramePr>
              <p:cNvPr id="3" name="Table 2">
                <a:extLst>
                  <a:ext uri="{FF2B5EF4-FFF2-40B4-BE49-F238E27FC236}">
                    <a16:creationId xmlns:a16="http://schemas.microsoft.com/office/drawing/2014/main" id="{9AD6D74C-7D6E-0DBA-BC3B-48A5248FFAB8}"/>
                  </a:ext>
                </a:extLst>
              </p:cNvPr>
              <p:cNvGraphicFramePr>
                <a:graphicFrameLocks noGrp="1"/>
              </p:cNvGraphicFramePr>
              <p:nvPr>
                <p:extLst>
                  <p:ext uri="{D42A27DB-BD31-4B8C-83A1-F6EECF244321}">
                    <p14:modId xmlns:p14="http://schemas.microsoft.com/office/powerpoint/2010/main" val="16245259"/>
                  </p:ext>
                </p:extLst>
              </p:nvPr>
            </p:nvGraphicFramePr>
            <p:xfrm>
              <a:off x="767080" y="1413290"/>
              <a:ext cx="11353800" cy="4482275"/>
            </p:xfrm>
            <a:graphic>
              <a:graphicData uri="http://schemas.openxmlformats.org/drawingml/2006/table">
                <a:tbl>
                  <a:tblPr>
                    <a:tableStyleId>{FCE49B7E-5F19-4CB0-BCE9-EA4782633ABD}</a:tableStyleId>
                  </a:tblPr>
                  <a:tblGrid>
                    <a:gridCol w="2605385">
                      <a:extLst>
                        <a:ext uri="{9D8B030D-6E8A-4147-A177-3AD203B41FA5}">
                          <a16:colId xmlns:a16="http://schemas.microsoft.com/office/drawing/2014/main" val="1419653076"/>
                        </a:ext>
                      </a:extLst>
                    </a:gridCol>
                    <a:gridCol w="4963815">
                      <a:extLst>
                        <a:ext uri="{9D8B030D-6E8A-4147-A177-3AD203B41FA5}">
                          <a16:colId xmlns:a16="http://schemas.microsoft.com/office/drawing/2014/main" val="2335786808"/>
                        </a:ext>
                      </a:extLst>
                    </a:gridCol>
                    <a:gridCol w="3784600">
                      <a:extLst>
                        <a:ext uri="{9D8B030D-6E8A-4147-A177-3AD203B41FA5}">
                          <a16:colId xmlns:a16="http://schemas.microsoft.com/office/drawing/2014/main" val="1810669898"/>
                        </a:ext>
                      </a:extLst>
                    </a:gridCol>
                  </a:tblGrid>
                  <a:tr h="387663">
                    <a:tc>
                      <a:txBody>
                        <a:bodyPr/>
                        <a:lstStyle/>
                        <a:p>
                          <a:pPr>
                            <a:buNone/>
                          </a:pPr>
                          <a:r>
                            <a:rPr lang="en-IN" sz="1600" b="1">
                              <a:latin typeface="Times New Roman" panose="02020603050405020304" pitchFamily="18" charset="0"/>
                              <a:cs typeface="Times New Roman" panose="02020603050405020304" pitchFamily="18" charset="0"/>
                            </a:rPr>
                            <a:t>Section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Formula / Expression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Key Details</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44855814"/>
                      </a:ext>
                    </a:extLst>
                  </a:tr>
                  <a:tr h="930392">
                    <a:tc>
                      <a:txBody>
                        <a:bodyPr/>
                        <a:lstStyle/>
                        <a:p>
                          <a:pPr>
                            <a:buNone/>
                          </a:pPr>
                          <a:r>
                            <a:rPr lang="en-IN" sz="1600" b="1">
                              <a:latin typeface="Times New Roman" panose="02020603050405020304" pitchFamily="18" charset="0"/>
                              <a:cs typeface="Times New Roman" panose="02020603050405020304" pitchFamily="18" charset="0"/>
                            </a:rPr>
                            <a:t>Dedup Token Generation</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2638" t="-42484" r="-76442" b="-345098"/>
                          </a:stretch>
                        </a:blipFill>
                      </a:tcPr>
                    </a:tc>
                    <a:tc>
                      <a:txBody>
                        <a:bodyPr/>
                        <a:lstStyle/>
                        <a:p>
                          <a:endParaRPr lang="en-US"/>
                        </a:p>
                      </a:txBody>
                      <a:tcPr anchor="ctr">
                        <a:blipFill>
                          <a:blip r:embed="rId3"/>
                          <a:stretch>
                            <a:fillRect l="-200322" t="-42484" r="-322" b="-345098"/>
                          </a:stretch>
                        </a:blipFill>
                      </a:tcPr>
                    </a:tc>
                    <a:extLst>
                      <a:ext uri="{0D108BD9-81ED-4DB2-BD59-A6C34878D82A}">
                        <a16:rowId xmlns:a16="http://schemas.microsoft.com/office/drawing/2014/main" val="3079701832"/>
                      </a:ext>
                    </a:extLst>
                  </a:tr>
                  <a:tr h="659027">
                    <a:tc>
                      <a:txBody>
                        <a:bodyPr/>
                        <a:lstStyle/>
                        <a:p>
                          <a:pPr>
                            <a:buNone/>
                          </a:pPr>
                          <a:r>
                            <a:rPr lang="en-IN" sz="1600" b="1">
                              <a:latin typeface="Times New Roman" panose="02020603050405020304" pitchFamily="18" charset="0"/>
                              <a:cs typeface="Times New Roman" panose="02020603050405020304" pitchFamily="18" charset="0"/>
                            </a:rPr>
                            <a:t>OPRF – Blinding</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2638" t="-201852" r="-76442" b="-388889"/>
                          </a:stretch>
                        </a:blipFill>
                      </a:tcPr>
                    </a:tc>
                    <a:tc>
                      <a:txBody>
                        <a:bodyPr/>
                        <a:lstStyle/>
                        <a:p>
                          <a:endParaRPr lang="en-US"/>
                        </a:p>
                      </a:txBody>
                      <a:tcPr anchor="ctr">
                        <a:blipFill>
                          <a:blip r:embed="rId3"/>
                          <a:stretch>
                            <a:fillRect l="-200322" t="-201852" r="-322" b="-388889"/>
                          </a:stretch>
                        </a:blipFill>
                      </a:tcPr>
                    </a:tc>
                    <a:extLst>
                      <a:ext uri="{0D108BD9-81ED-4DB2-BD59-A6C34878D82A}">
                        <a16:rowId xmlns:a16="http://schemas.microsoft.com/office/drawing/2014/main" val="2311796232"/>
                      </a:ext>
                    </a:extLst>
                  </a:tr>
                  <a:tr h="659027">
                    <a:tc>
                      <a:txBody>
                        <a:bodyPr/>
                        <a:lstStyle/>
                        <a:p>
                          <a:pPr>
                            <a:buNone/>
                          </a:pPr>
                          <a:r>
                            <a:rPr lang="en-IN" sz="1600" b="1">
                              <a:latin typeface="Times New Roman" panose="02020603050405020304" pitchFamily="18" charset="0"/>
                              <a:cs typeface="Times New Roman" panose="02020603050405020304" pitchFamily="18" charset="0"/>
                            </a:rPr>
                            <a:t>OPRF – Evaluation</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2638" t="-301852" r="-76442" b="-288889"/>
                          </a:stretch>
                        </a:blipFill>
                      </a:tcPr>
                    </a:tc>
                    <a:tc>
                      <a:txBody>
                        <a:bodyPr/>
                        <a:lstStyle/>
                        <a:p>
                          <a:endParaRPr lang="en-US"/>
                        </a:p>
                      </a:txBody>
                      <a:tcPr anchor="ctr">
                        <a:blipFill>
                          <a:blip r:embed="rId3"/>
                          <a:stretch>
                            <a:fillRect l="-200322" t="-301852" r="-322" b="-288889"/>
                          </a:stretch>
                        </a:blipFill>
                      </a:tcPr>
                    </a:tc>
                    <a:extLst>
                      <a:ext uri="{0D108BD9-81ED-4DB2-BD59-A6C34878D82A}">
                        <a16:rowId xmlns:a16="http://schemas.microsoft.com/office/drawing/2014/main" val="3345666458"/>
                      </a:ext>
                    </a:extLst>
                  </a:tr>
                  <a:tr h="392429">
                    <a:tc>
                      <a:txBody>
                        <a:bodyPr/>
                        <a:lstStyle/>
                        <a:p>
                          <a:pPr>
                            <a:buNone/>
                          </a:pPr>
                          <a:r>
                            <a:rPr lang="en-IN" sz="1600" b="1">
                              <a:latin typeface="Times New Roman" panose="02020603050405020304" pitchFamily="18" charset="0"/>
                              <a:cs typeface="Times New Roman" panose="02020603050405020304" pitchFamily="18" charset="0"/>
                            </a:rPr>
                            <a:t>OPRF – Unblinding</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2638" t="-667692" r="-76442" b="-380000"/>
                          </a:stretch>
                        </a:blipFill>
                      </a:tcPr>
                    </a:tc>
                    <a:tc>
                      <a:txBody>
                        <a:bodyPr/>
                        <a:lstStyle/>
                        <a:p>
                          <a:pPr>
                            <a:buNone/>
                          </a:pPr>
                          <a:r>
                            <a:rPr lang="en-IN" sz="1600">
                              <a:latin typeface="Times New Roman" panose="02020603050405020304" pitchFamily="18" charset="0"/>
                              <a:cs typeface="Times New Roman" panose="02020603050405020304" pitchFamily="18" charset="0"/>
                            </a:rPr>
                            <a:t>Removes blinding factor</a:t>
                          </a:r>
                        </a:p>
                      </a:txBody>
                      <a:tcPr anchor="ctr"/>
                    </a:tc>
                    <a:extLst>
                      <a:ext uri="{0D108BD9-81ED-4DB2-BD59-A6C34878D82A}">
                        <a16:rowId xmlns:a16="http://schemas.microsoft.com/office/drawing/2014/main" val="1731401772"/>
                      </a:ext>
                    </a:extLst>
                  </a:tr>
                  <a:tr h="387663">
                    <a:tc>
                      <a:txBody>
                        <a:bodyPr/>
                        <a:lstStyle/>
                        <a:p>
                          <a:pPr>
                            <a:buNone/>
                          </a:pPr>
                          <a:r>
                            <a:rPr lang="en-IN" sz="1600" b="1">
                              <a:latin typeface="Times New Roman" panose="02020603050405020304" pitchFamily="18" charset="0"/>
                              <a:cs typeface="Times New Roman" panose="02020603050405020304" pitchFamily="18" charset="0"/>
                            </a:rPr>
                            <a:t>MLE Key Derivation</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2638" t="-779688" r="-76442" b="-285938"/>
                          </a:stretch>
                        </a:blipFill>
                      </a:tcPr>
                    </a:tc>
                    <a:tc>
                      <a:txBody>
                        <a:bodyPr/>
                        <a:lstStyle/>
                        <a:p>
                          <a:pPr>
                            <a:buNone/>
                          </a:pPr>
                          <a:r>
                            <a:rPr lang="en-IN" sz="1600">
                              <a:latin typeface="Times New Roman" panose="02020603050405020304" pitchFamily="18" charset="0"/>
                              <a:cs typeface="Times New Roman" panose="02020603050405020304" pitchFamily="18" charset="0"/>
                            </a:rPr>
                            <a:t>Secure message-locked key</a:t>
                          </a:r>
                        </a:p>
                      </a:txBody>
                      <a:tcPr anchor="ctr"/>
                    </a:tc>
                    <a:extLst>
                      <a:ext uri="{0D108BD9-81ED-4DB2-BD59-A6C34878D82A}">
                        <a16:rowId xmlns:a16="http://schemas.microsoft.com/office/drawing/2014/main" val="2617034358"/>
                      </a:ext>
                    </a:extLst>
                  </a:tr>
                  <a:tr h="678411">
                    <a:tc>
                      <a:txBody>
                        <a:bodyPr/>
                        <a:lstStyle/>
                        <a:p>
                          <a:pPr>
                            <a:buNone/>
                          </a:pPr>
                          <a:r>
                            <a:rPr lang="en-IN" sz="1600" b="1">
                              <a:latin typeface="Times New Roman" panose="02020603050405020304" pitchFamily="18" charset="0"/>
                              <a:cs typeface="Times New Roman" panose="02020603050405020304" pitchFamily="18" charset="0"/>
                            </a:rPr>
                            <a:t>Per-Chunk Key Derivation</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2638" t="-507207" r="-76442" b="-64865"/>
                          </a:stretch>
                        </a:blipFill>
                      </a:tcPr>
                    </a:tc>
                    <a:tc>
                      <a:txBody>
                        <a:bodyPr/>
                        <a:lstStyle/>
                        <a:p>
                          <a:pPr>
                            <a:buNone/>
                          </a:pPr>
                          <a:r>
                            <a:rPr lang="en-IN" sz="1600" dirty="0">
                              <a:latin typeface="Times New Roman" panose="02020603050405020304" pitchFamily="18" charset="0"/>
                              <a:cs typeface="Times New Roman" panose="02020603050405020304" pitchFamily="18" charset="0"/>
                            </a:rPr>
                            <a:t>Unique key per chunk</a:t>
                          </a:r>
                        </a:p>
                      </a:txBody>
                      <a:tcPr anchor="ctr"/>
                    </a:tc>
                    <a:extLst>
                      <a:ext uri="{0D108BD9-81ED-4DB2-BD59-A6C34878D82A}">
                        <a16:rowId xmlns:a16="http://schemas.microsoft.com/office/drawing/2014/main" val="1566942288"/>
                      </a:ext>
                    </a:extLst>
                  </a:tr>
                  <a:tr h="387663">
                    <a:tc>
                      <a:txBody>
                        <a:bodyPr/>
                        <a:lstStyle/>
                        <a:p>
                          <a:pPr>
                            <a:buNone/>
                          </a:pPr>
                          <a:r>
                            <a:rPr lang="en-IN" sz="1600" b="1">
                              <a:latin typeface="Times New Roman" panose="02020603050405020304" pitchFamily="18" charset="0"/>
                              <a:cs typeface="Times New Roman" panose="02020603050405020304" pitchFamily="18" charset="0"/>
                            </a:rPr>
                            <a:t>Encryption Binding (AAD)</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2638" t="-1053125" r="-76442" b="-12500"/>
                          </a:stretch>
                        </a:blipFill>
                      </a:tcPr>
                    </a:tc>
                    <a:tc>
                      <a:txBody>
                        <a:bodyPr/>
                        <a:lstStyle/>
                        <a:p>
                          <a:pPr>
                            <a:buNone/>
                          </a:pPr>
                          <a:r>
                            <a:rPr lang="en-IN" sz="1600" dirty="0">
                              <a:latin typeface="Times New Roman" panose="02020603050405020304" pitchFamily="18" charset="0"/>
                              <a:cs typeface="Times New Roman" panose="02020603050405020304" pitchFamily="18" charset="0"/>
                            </a:rPr>
                            <a:t>Ensures tamper-proof encryption</a:t>
                          </a:r>
                        </a:p>
                      </a:txBody>
                      <a:tcPr anchor="ctr"/>
                    </a:tc>
                    <a:extLst>
                      <a:ext uri="{0D108BD9-81ED-4DB2-BD59-A6C34878D82A}">
                        <a16:rowId xmlns:a16="http://schemas.microsoft.com/office/drawing/2014/main" val="1696026270"/>
                      </a:ext>
                    </a:extLst>
                  </a:tr>
                </a:tbl>
              </a:graphicData>
            </a:graphic>
          </p:graphicFrame>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2"/>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FORMULAS-RISK, REPUTATION &amp; POW</a:t>
            </a:r>
            <a:endParaRPr sz="3600" dirty="0"/>
          </a:p>
        </p:txBody>
      </p:sp>
      <p:sp>
        <p:nvSpPr>
          <p:cNvPr id="333" name="Google Shape;333;p32"/>
          <p:cNvSpPr txBox="1">
            <a:spLocks noGrp="1"/>
          </p:cNvSpPr>
          <p:nvPr>
            <p:ph type="ftr" idx="11"/>
          </p:nvPr>
        </p:nvSpPr>
        <p:spPr>
          <a:xfrm>
            <a:off x="4038600" y="6538912"/>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34" name="Google Shape;33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28</a:t>
            </a:fld>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187899D-9B2D-41B2-0006-FA643EB2FD19}"/>
                  </a:ext>
                </a:extLst>
              </p:cNvPr>
              <p:cNvGraphicFramePr>
                <a:graphicFrameLocks noGrp="1"/>
              </p:cNvGraphicFramePr>
              <p:nvPr>
                <p:extLst>
                  <p:ext uri="{D42A27DB-BD31-4B8C-83A1-F6EECF244321}">
                    <p14:modId xmlns:p14="http://schemas.microsoft.com/office/powerpoint/2010/main" val="663715518"/>
                  </p:ext>
                </p:extLst>
              </p:nvPr>
            </p:nvGraphicFramePr>
            <p:xfrm>
              <a:off x="1080116" y="1132985"/>
              <a:ext cx="9736800" cy="5490569"/>
            </p:xfrm>
            <a:graphic>
              <a:graphicData uri="http://schemas.openxmlformats.org/drawingml/2006/table">
                <a:tbl>
                  <a:tblPr>
                    <a:tableStyleId>{FCE49B7E-5F19-4CB0-BCE9-EA4782633ABD}</a:tableStyleId>
                  </a:tblPr>
                  <a:tblGrid>
                    <a:gridCol w="1810568">
                      <a:extLst>
                        <a:ext uri="{9D8B030D-6E8A-4147-A177-3AD203B41FA5}">
                          <a16:colId xmlns:a16="http://schemas.microsoft.com/office/drawing/2014/main" val="1450091270"/>
                        </a:ext>
                      </a:extLst>
                    </a:gridCol>
                    <a:gridCol w="4680632">
                      <a:extLst>
                        <a:ext uri="{9D8B030D-6E8A-4147-A177-3AD203B41FA5}">
                          <a16:colId xmlns:a16="http://schemas.microsoft.com/office/drawing/2014/main" val="616035059"/>
                        </a:ext>
                      </a:extLst>
                    </a:gridCol>
                    <a:gridCol w="3245600">
                      <a:extLst>
                        <a:ext uri="{9D8B030D-6E8A-4147-A177-3AD203B41FA5}">
                          <a16:colId xmlns:a16="http://schemas.microsoft.com/office/drawing/2014/main" val="3878347925"/>
                        </a:ext>
                      </a:extLst>
                    </a:gridCol>
                  </a:tblGrid>
                  <a:tr h="282226">
                    <a:tc>
                      <a:txBody>
                        <a:bodyPr/>
                        <a:lstStyle/>
                        <a:p>
                          <a:pPr>
                            <a:buNone/>
                          </a:pPr>
                          <a:r>
                            <a:rPr lang="en-IN" sz="1600" b="1">
                              <a:latin typeface="Times New Roman" panose="02020603050405020304" pitchFamily="18" charset="0"/>
                              <a:cs typeface="Times New Roman" panose="02020603050405020304" pitchFamily="18" charset="0"/>
                            </a:rPr>
                            <a:t>Section</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r>
                            <a:rPr lang="en-IN" sz="1600" b="1" dirty="0">
                              <a:latin typeface="Times New Roman" panose="02020603050405020304" pitchFamily="18" charset="0"/>
                              <a:cs typeface="Times New Roman" panose="02020603050405020304" pitchFamily="18" charset="0"/>
                            </a:rPr>
                            <a:t>Formula / Expression</a:t>
                          </a:r>
                          <a:endParaRPr lang="en-IN" sz="1600" dirty="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r>
                            <a:rPr lang="en-IN" sz="1600" b="1">
                              <a:latin typeface="Times New Roman" panose="02020603050405020304" pitchFamily="18" charset="0"/>
                              <a:cs typeface="Times New Roman" panose="02020603050405020304" pitchFamily="18" charset="0"/>
                            </a:rPr>
                            <a:t>Key Details</a:t>
                          </a:r>
                          <a:endParaRPr lang="en-IN" sz="1600">
                            <a:latin typeface="Times New Roman" panose="02020603050405020304" pitchFamily="18" charset="0"/>
                            <a:cs typeface="Times New Roman" panose="02020603050405020304" pitchFamily="18" charset="0"/>
                          </a:endParaRPr>
                        </a:p>
                      </a:txBody>
                      <a:tcPr marL="84668" marR="84668" marT="42334" marB="42334" anchor="ctr"/>
                    </a:tc>
                    <a:extLst>
                      <a:ext uri="{0D108BD9-81ED-4DB2-BD59-A6C34878D82A}">
                        <a16:rowId xmlns:a16="http://schemas.microsoft.com/office/drawing/2014/main" val="3491077521"/>
                      </a:ext>
                    </a:extLst>
                  </a:tr>
                  <a:tr h="1270017">
                    <a:tc>
                      <a:txBody>
                        <a:bodyPr/>
                        <a:lstStyle/>
                        <a:p>
                          <a:pPr>
                            <a:buNone/>
                          </a:pPr>
                          <a:r>
                            <a:rPr lang="en-IN" sz="1600" b="1" dirty="0">
                              <a:latin typeface="Times New Roman" panose="02020603050405020304" pitchFamily="18" charset="0"/>
                              <a:cs typeface="Times New Roman" panose="02020603050405020304" pitchFamily="18" charset="0"/>
                            </a:rPr>
                            <a:t>Risk Score</a:t>
                          </a:r>
                          <a:endParaRPr lang="en-IN" sz="1600" dirty="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14:m>
                            <m:oMathPara xmlns:m="http://schemas.openxmlformats.org/officeDocument/2006/math">
                              <m:oMathParaPr>
                                <m:jc m:val="centerGroup"/>
                              </m:oMathParaPr>
                              <m:oMath xmlns:m="http://schemas.openxmlformats.org/officeDocument/2006/math">
                                <m:r>
                                  <a:rPr lang="ar-AE" sz="1600">
                                    <a:latin typeface="Cambria Math" panose="02040503050406030204" pitchFamily="18" charset="0"/>
                                  </a:rPr>
                                  <m:t>𝑟</m:t>
                                </m:r>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𝑤</m:t>
                                    </m:r>
                                  </m:e>
                                  <m:sub>
                                    <m:r>
                                      <a:rPr lang="ar-AE" sz="1600">
                                        <a:latin typeface="Cambria Math" panose="02040503050406030204" pitchFamily="18" charset="0"/>
                                      </a:rPr>
                                      <m:t>1</m:t>
                                    </m:r>
                                  </m:sub>
                                </m:sSub>
                                <m:r>
                                  <a:rPr lang="ar-AE" sz="1600">
                                    <a:latin typeface="Cambria Math" panose="02040503050406030204" pitchFamily="18" charset="0"/>
                                  </a:rPr>
                                  <m:t>𝑓</m:t>
                                </m:r>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𝑤</m:t>
                                    </m:r>
                                  </m:e>
                                  <m:sub>
                                    <m:r>
                                      <a:rPr lang="ar-AE" sz="1600">
                                        <a:latin typeface="Cambria Math" panose="02040503050406030204" pitchFamily="18" charset="0"/>
                                      </a:rPr>
                                      <m:t>2</m:t>
                                    </m:r>
                                  </m:sub>
                                </m:sSub>
                                <m:r>
                                  <a:rPr lang="ar-AE" sz="1600">
                                    <a:latin typeface="Cambria Math" panose="02040503050406030204" pitchFamily="18" charset="0"/>
                                  </a:rPr>
                                  <m:t>𝛿</m:t>
                                </m:r>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𝑤</m:t>
                                    </m:r>
                                  </m:e>
                                  <m:sub>
                                    <m:r>
                                      <a:rPr lang="ar-AE" sz="1600">
                                        <a:latin typeface="Cambria Math" panose="02040503050406030204" pitchFamily="18" charset="0"/>
                                      </a:rPr>
                                      <m:t>3</m:t>
                                    </m:r>
                                  </m:sub>
                                </m:sSub>
                                <m:r>
                                  <a:rPr lang="ar-AE" sz="1600">
                                    <a:latin typeface="Cambria Math" panose="02040503050406030204" pitchFamily="18" charset="0"/>
                                  </a:rPr>
                                  <m:t>𝑏</m:t>
                                </m:r>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𝑤</m:t>
                                    </m:r>
                                  </m:e>
                                  <m:sub>
                                    <m:r>
                                      <a:rPr lang="ar-AE" sz="1600">
                                        <a:latin typeface="Cambria Math" panose="02040503050406030204" pitchFamily="18" charset="0"/>
                                      </a:rPr>
                                      <m:t>4</m:t>
                                    </m:r>
                                  </m:sub>
                                </m:sSub>
                                <m:r>
                                  <a:rPr lang="ar-AE" sz="1600">
                                    <a:latin typeface="Cambria Math" panose="02040503050406030204" pitchFamily="18" charset="0"/>
                                  </a:rPr>
                                  <m:t>𝜙</m:t>
                                </m:r>
                              </m:oMath>
                            </m:oMathPara>
                          </a14:m>
                          <a:endParaRPr lang="ar-AE"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14:m>
                            <m:oMath xmlns:m="http://schemas.openxmlformats.org/officeDocument/2006/math">
                              <m:r>
                                <a:rPr lang="ar-AE" sz="1600">
                                  <a:latin typeface="Cambria Math" panose="02040503050406030204" pitchFamily="18" charset="0"/>
                                </a:rPr>
                                <m:t>𝑟</m:t>
                              </m:r>
                              <m:r>
                                <a:rPr lang="ar-AE" sz="160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a:latin typeface="Cambria Math" panose="02040503050406030204" pitchFamily="18" charset="0"/>
                                    </a:rPr>
                                    <m:t>0</m:t>
                                  </m:r>
                                </m:e>
                                <m:e>
                                  <m:r>
                                    <a:rPr lang="ar-AE" sz="1600">
                                      <a:latin typeface="Cambria Math" panose="02040503050406030204" pitchFamily="18" charset="0"/>
                                    </a:rPr>
                                    <m:t>1</m:t>
                                  </m:r>
                                </m:e>
                              </m:d>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risk score </a:t>
                          </a:r>
                        </a:p>
                        <a:p>
                          <a:pPr>
                            <a:buNone/>
                          </a:pPr>
                          <a14:m>
                            <m:oMath xmlns:m="http://schemas.openxmlformats.org/officeDocument/2006/math">
                              <m:r>
                                <a:rPr lang="en-IN" sz="1600" i="1" dirty="0" smtClean="0">
                                  <a:latin typeface="Cambria Math" panose="02040503050406030204" pitchFamily="18" charset="0"/>
                                  <a:cs typeface="Times New Roman" panose="02020603050405020304" pitchFamily="18" charset="0"/>
                                </a:rPr>
                                <m:t>𝑤</m:t>
                              </m:r>
                            </m:oMath>
                          </a14:m>
                          <a:r>
                            <a:rPr lang="en-IN" sz="1600" dirty="0">
                              <a:latin typeface="Times New Roman" panose="02020603050405020304" pitchFamily="18" charset="0"/>
                              <a:cs typeface="Times New Roman" panose="02020603050405020304" pitchFamily="18" charset="0"/>
                            </a:rPr>
                            <a:t> :</a:t>
                          </a:r>
                          <a:r>
                            <a:rPr lang="en-IN" sz="1600" baseline="0" dirty="0">
                              <a:latin typeface="Times New Roman" panose="02020603050405020304" pitchFamily="18" charset="0"/>
                              <a:cs typeface="Times New Roman" panose="02020603050405020304" pitchFamily="18" charset="0"/>
                            </a:rPr>
                            <a:t> </a:t>
                          </a:r>
                          <a:r>
                            <a:rPr lang="en-IN" sz="1600" baseline="0" dirty="0" err="1">
                              <a:latin typeface="Times New Roman" panose="02020603050405020304" pitchFamily="18" charset="0"/>
                              <a:cs typeface="Times New Roman" panose="02020603050405020304" pitchFamily="18" charset="0"/>
                            </a:rPr>
                            <a:t>tunable</a:t>
                          </a:r>
                          <a:r>
                            <a:rPr lang="en-IN" sz="1600" baseline="0" dirty="0">
                              <a:latin typeface="Times New Roman" panose="02020603050405020304" pitchFamily="18" charset="0"/>
                              <a:cs typeface="Times New Roman" panose="02020603050405020304" pitchFamily="18" charset="0"/>
                            </a:rPr>
                            <a:t> weights</a:t>
                          </a:r>
                          <a:br>
                            <a:rPr lang="en-IN" sz="1600" dirty="0">
                              <a:latin typeface="Times New Roman" panose="02020603050405020304" pitchFamily="18" charset="0"/>
                              <a:cs typeface="Times New Roman" panose="02020603050405020304" pitchFamily="18" charset="0"/>
                            </a:rPr>
                          </a:br>
                          <a14:m>
                            <m:oMath xmlns:m="http://schemas.openxmlformats.org/officeDocument/2006/math">
                              <m:r>
                                <a:rPr lang="en-IN" sz="1600">
                                  <a:latin typeface="Cambria Math" panose="02040503050406030204" pitchFamily="18" charset="0"/>
                                </a:rPr>
                                <m:t>𝑓</m:t>
                              </m:r>
                            </m:oMath>
                          </a14:m>
                          <a:r>
                            <a:rPr lang="en-IN" sz="1600" dirty="0">
                              <a:latin typeface="Times New Roman" panose="02020603050405020304" pitchFamily="18" charset="0"/>
                              <a:cs typeface="Times New Roman" panose="02020603050405020304" pitchFamily="18" charset="0"/>
                            </a:rPr>
                            <a:t>: request frequency </a:t>
                          </a:r>
                          <a:br>
                            <a:rPr lang="en-IN" sz="1600" dirty="0">
                              <a:latin typeface="Times New Roman" panose="02020603050405020304" pitchFamily="18" charset="0"/>
                              <a:cs typeface="Times New Roman" panose="02020603050405020304" pitchFamily="18" charset="0"/>
                            </a:rPr>
                          </a:br>
                          <a14:m>
                            <m:oMath xmlns:m="http://schemas.openxmlformats.org/officeDocument/2006/math">
                              <m:r>
                                <a:rPr lang="en-IN" sz="1600">
                                  <a:latin typeface="Cambria Math" panose="02040503050406030204" pitchFamily="18" charset="0"/>
                                </a:rPr>
                                <m:t>𝛿</m:t>
                              </m:r>
                            </m:oMath>
                          </a14:m>
                          <a:r>
                            <a:rPr lang="en-IN" sz="1600" dirty="0">
                              <a:latin typeface="Times New Roman" panose="02020603050405020304" pitchFamily="18" charset="0"/>
                              <a:cs typeface="Times New Roman" panose="02020603050405020304" pitchFamily="18" charset="0"/>
                            </a:rPr>
                            <a:t>: duplicate ratio </a:t>
                          </a:r>
                          <a:br>
                            <a:rPr lang="en-IN" sz="1600" dirty="0">
                              <a:latin typeface="Times New Roman" panose="02020603050405020304" pitchFamily="18" charset="0"/>
                              <a:cs typeface="Times New Roman" panose="02020603050405020304" pitchFamily="18" charset="0"/>
                            </a:rPr>
                          </a:br>
                          <a14:m>
                            <m:oMath xmlns:m="http://schemas.openxmlformats.org/officeDocument/2006/math">
                              <m:r>
                                <a:rPr lang="en-IN" sz="1600">
                                  <a:latin typeface="Cambria Math" panose="02040503050406030204" pitchFamily="18" charset="0"/>
                                </a:rPr>
                                <m:t>𝑏</m:t>
                              </m:r>
                            </m:oMath>
                          </a14:m>
                          <a:r>
                            <a:rPr lang="en-IN" sz="1600" dirty="0">
                              <a:latin typeface="Times New Roman" panose="02020603050405020304" pitchFamily="18" charset="0"/>
                              <a:cs typeface="Times New Roman" panose="02020603050405020304" pitchFamily="18" charset="0"/>
                            </a:rPr>
                            <a:t>: burst score </a:t>
                          </a:r>
                          <a:br>
                            <a:rPr lang="en-IN" sz="1600" dirty="0">
                              <a:latin typeface="Times New Roman" panose="02020603050405020304" pitchFamily="18" charset="0"/>
                              <a:cs typeface="Times New Roman" panose="02020603050405020304" pitchFamily="18" charset="0"/>
                            </a:rPr>
                          </a:br>
                          <a14:m>
                            <m:oMath xmlns:m="http://schemas.openxmlformats.org/officeDocument/2006/math">
                              <m:r>
                                <a:rPr lang="en-IN" sz="1600">
                                  <a:latin typeface="Cambria Math" panose="02040503050406030204" pitchFamily="18" charset="0"/>
                                </a:rPr>
                                <m:t>𝜙</m:t>
                              </m:r>
                            </m:oMath>
                          </a14:m>
                          <a:r>
                            <a:rPr lang="en-IN" sz="1600" dirty="0">
                              <a:latin typeface="Times New Roman" panose="02020603050405020304" pitchFamily="18" charset="0"/>
                              <a:cs typeface="Times New Roman" panose="02020603050405020304" pitchFamily="18" charset="0"/>
                            </a:rPr>
                            <a:t>: PoW failure rate </a:t>
                          </a:r>
                          <a:br>
                            <a:rPr lang="en-IN" sz="1600" dirty="0">
                              <a:latin typeface="Times New Roman" panose="02020603050405020304" pitchFamily="18"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𝑤</m:t>
                                    </m:r>
                                  </m:e>
                                  <m:sub>
                                    <m:r>
                                      <a:rPr lang="ar-AE" sz="1600">
                                        <a:latin typeface="Cambria Math" panose="02040503050406030204" pitchFamily="18" charset="0"/>
                                      </a:rPr>
                                      <m:t>1</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𝑤</m:t>
                                    </m:r>
                                  </m:e>
                                  <m:sub>
                                    <m:r>
                                      <a:rPr lang="ar-AE" sz="1600">
                                        <a:latin typeface="Cambria Math" panose="02040503050406030204" pitchFamily="18" charset="0"/>
                                      </a:rPr>
                                      <m:t>2</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𝑤</m:t>
                                    </m:r>
                                  </m:e>
                                  <m:sub>
                                    <m:r>
                                      <a:rPr lang="ar-AE" sz="1600">
                                        <a:latin typeface="Cambria Math" panose="02040503050406030204" pitchFamily="18" charset="0"/>
                                      </a:rPr>
                                      <m:t>3</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𝑤</m:t>
                                    </m:r>
                                  </m:e>
                                  <m:sub>
                                    <m:r>
                                      <a:rPr lang="ar-AE" sz="1600">
                                        <a:latin typeface="Cambria Math" panose="02040503050406030204" pitchFamily="18" charset="0"/>
                                      </a:rPr>
                                      <m:t>4</m:t>
                                    </m:r>
                                  </m:sub>
                                </m:sSub>
                                <m:r>
                                  <a:rPr lang="ar-AE" sz="1600">
                                    <a:latin typeface="Cambria Math" panose="02040503050406030204" pitchFamily="18" charset="0"/>
                                  </a:rPr>
                                  <m:t>=</m:t>
                                </m:r>
                                <m:r>
                                  <a:rPr lang="ar-AE" sz="1600">
                                    <a:latin typeface="Cambria Math" panose="02040503050406030204" pitchFamily="18" charset="0"/>
                                  </a:rPr>
                                  <m:t>1</m:t>
                                </m:r>
                              </m:oMath>
                            </m:oMathPara>
                          </a14:m>
                          <a:endParaRPr lang="ar-AE" sz="1600" dirty="0">
                            <a:latin typeface="Times New Roman" panose="02020603050405020304" pitchFamily="18" charset="0"/>
                            <a:cs typeface="Times New Roman" panose="02020603050405020304" pitchFamily="18" charset="0"/>
                          </a:endParaRPr>
                        </a:p>
                      </a:txBody>
                      <a:tcPr marL="84668" marR="84668" marT="42334" marB="42334" anchor="ctr"/>
                    </a:tc>
                    <a:extLst>
                      <a:ext uri="{0D108BD9-81ED-4DB2-BD59-A6C34878D82A}">
                        <a16:rowId xmlns:a16="http://schemas.microsoft.com/office/drawing/2014/main" val="3933435555"/>
                      </a:ext>
                    </a:extLst>
                  </a:tr>
                  <a:tr h="874901">
                    <a:tc>
                      <a:txBody>
                        <a:bodyPr/>
                        <a:lstStyle/>
                        <a:p>
                          <a:pPr>
                            <a:buNone/>
                          </a:pPr>
                          <a:r>
                            <a:rPr lang="en-IN" sz="1600" b="1">
                              <a:latin typeface="Times New Roman" panose="02020603050405020304" pitchFamily="18" charset="0"/>
                              <a:cs typeface="Times New Roman" panose="02020603050405020304" pitchFamily="18" charset="0"/>
                            </a:rPr>
                            <a:t>Reputation Update</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14:m>
                            <m:oMathPara xmlns:m="http://schemas.openxmlformats.org/officeDocument/2006/math">
                              <m:oMathParaPr>
                                <m:jc m:val="centerGroup"/>
                              </m:oMathParaPr>
                              <m:oMath xmlns:m="http://schemas.openxmlformats.org/officeDocument/2006/math">
                                <m:r>
                                  <a:rPr lang="ar-AE" sz="1600">
                                    <a:latin typeface="Cambria Math" panose="02040503050406030204" pitchFamily="18" charset="0"/>
                                  </a:rPr>
                                  <m:t>𝜌</m:t>
                                </m:r>
                                <m:r>
                                  <a:rPr lang="ar-AE" sz="1600">
                                    <a:latin typeface="Cambria Math" panose="02040503050406030204" pitchFamily="18" charset="0"/>
                                  </a:rPr>
                                  <m:t>←</m:t>
                                </m:r>
                                <m:r>
                                  <a:rPr lang="ar-AE" sz="1600">
                                    <a:latin typeface="Cambria Math" panose="02040503050406030204" pitchFamily="18" charset="0"/>
                                  </a:rPr>
                                  <m:t>𝜌</m:t>
                                </m:r>
                                <m:r>
                                  <a:rPr lang="ar-AE" sz="1600">
                                    <a:latin typeface="Cambria Math" panose="02040503050406030204" pitchFamily="18" charset="0"/>
                                  </a:rPr>
                                  <m:t>+</m:t>
                                </m:r>
                                <m:r>
                                  <a:rPr lang="ar-AE" sz="1600">
                                    <a:latin typeface="Cambria Math" panose="02040503050406030204" pitchFamily="18" charset="0"/>
                                  </a:rPr>
                                  <m:t>𝛼</m:t>
                                </m:r>
                                <m:d>
                                  <m:dPr>
                                    <m:ctrlPr>
                                      <a:rPr lang="ar-AE" sz="1600" i="1">
                                        <a:latin typeface="Cambria Math" panose="02040503050406030204" pitchFamily="18" charset="0"/>
                                      </a:rPr>
                                    </m:ctrlPr>
                                  </m:dPr>
                                  <m:e>
                                    <m:r>
                                      <a:rPr lang="ar-AE" sz="1600">
                                        <a:latin typeface="Cambria Math" panose="02040503050406030204" pitchFamily="18" charset="0"/>
                                      </a:rPr>
                                      <m:t>1</m:t>
                                    </m:r>
                                    <m:r>
                                      <a:rPr lang="ar-AE" sz="1600">
                                        <a:latin typeface="Cambria Math" panose="02040503050406030204" pitchFamily="18" charset="0"/>
                                      </a:rPr>
                                      <m:t>−</m:t>
                                    </m:r>
                                    <m:r>
                                      <a:rPr lang="ar-AE" sz="1600">
                                        <a:latin typeface="Cambria Math" panose="02040503050406030204" pitchFamily="18" charset="0"/>
                                      </a:rPr>
                                      <m:t>𝑟</m:t>
                                    </m:r>
                                  </m:e>
                                </m:d>
                                <m:r>
                                  <m:rPr>
                                    <m:nor/>
                                  </m:rPr>
                                  <a:rPr lang="ar-AE" sz="1600" b="0">
                                    <a:latin typeface="Times New Roman" panose="02020603050405020304" pitchFamily="18" charset="0"/>
                                    <a:cs typeface="Times New Roman" panose="02020603050405020304" pitchFamily="18" charset="0"/>
                                  </a:rPr>
                                  <m:t> </m:t>
                                </m:r>
                                <m:r>
                                  <a:rPr lang="ar-AE" sz="1600" b="1">
                                    <a:latin typeface="Cambria Math" panose="02040503050406030204" pitchFamily="18" charset="0"/>
                                  </a:rPr>
                                  <m:t>𝟏</m:t>
                                </m:r>
                                <m:d>
                                  <m:dPr>
                                    <m:begChr m:val="["/>
                                    <m:endChr m:val="]"/>
                                    <m:ctrlPr>
                                      <a:rPr lang="ar-AE" sz="1600" b="1" i="1">
                                        <a:latin typeface="Cambria Math" panose="02040503050406030204" pitchFamily="18" charset="0"/>
                                      </a:rPr>
                                    </m:ctrlPr>
                                  </m:dPr>
                                  <m:e>
                                    <m:acc>
                                      <m:accPr>
                                        <m:chr m:val="̂"/>
                                        <m:ctrlPr>
                                          <a:rPr lang="ar-AE" sz="1600" b="1" i="1">
                                            <a:latin typeface="Cambria Math" panose="02040503050406030204" pitchFamily="18" charset="0"/>
                                          </a:rPr>
                                        </m:ctrlPr>
                                      </m:accPr>
                                      <m:e>
                                        <m:r>
                                          <a:rPr lang="ar-AE" sz="1600" b="0">
                                            <a:latin typeface="Cambria Math" panose="02040503050406030204" pitchFamily="18" charset="0"/>
                                          </a:rPr>
                                          <m:t>𝑦</m:t>
                                        </m:r>
                                      </m:e>
                                    </m:acc>
                                    <m:r>
                                      <a:rPr lang="ar-AE" sz="1600" b="0">
                                        <a:latin typeface="Cambria Math" panose="02040503050406030204" pitchFamily="18" charset="0"/>
                                      </a:rPr>
                                      <m:t>=</m:t>
                                    </m:r>
                                    <m:r>
                                      <m:rPr>
                                        <m:nor/>
                                      </m:rPr>
                                      <a:rPr lang="en-IN" sz="1600" b="0">
                                        <a:latin typeface="Times New Roman" panose="02020603050405020304" pitchFamily="18" charset="0"/>
                                        <a:cs typeface="Times New Roman" panose="02020603050405020304" pitchFamily="18" charset="0"/>
                                      </a:rPr>
                                      <m:t>normal</m:t>
                                    </m:r>
                                  </m:e>
                                </m:d>
                                <m:r>
                                  <a:rPr lang="ar-AE" sz="1600" b="0">
                                    <a:latin typeface="Cambria Math" panose="02040503050406030204" pitchFamily="18" charset="0"/>
                                  </a:rPr>
                                  <m:t>−</m:t>
                                </m:r>
                                <m:r>
                                  <a:rPr lang="ar-AE" sz="1600" b="0">
                                    <a:latin typeface="Cambria Math" panose="02040503050406030204" pitchFamily="18" charset="0"/>
                                  </a:rPr>
                                  <m:t>𝛽</m:t>
                                </m:r>
                                <m:r>
                                  <m:rPr>
                                    <m:nor/>
                                  </m:rPr>
                                  <a:rPr lang="ar-AE" sz="1600" b="0">
                                    <a:latin typeface="Times New Roman" panose="02020603050405020304" pitchFamily="18" charset="0"/>
                                    <a:cs typeface="Times New Roman" panose="02020603050405020304" pitchFamily="18" charset="0"/>
                                  </a:rPr>
                                  <m:t> </m:t>
                                </m:r>
                                <m:r>
                                  <a:rPr lang="ar-AE" sz="1600" b="1">
                                    <a:latin typeface="Cambria Math" panose="02040503050406030204" pitchFamily="18" charset="0"/>
                                  </a:rPr>
                                  <m:t>𝟏</m:t>
                                </m:r>
                                <m:d>
                                  <m:dPr>
                                    <m:begChr m:val="["/>
                                    <m:endChr m:val="]"/>
                                    <m:ctrlPr>
                                      <a:rPr lang="ar-AE" sz="1600" b="1" i="1">
                                        <a:latin typeface="Cambria Math" panose="02040503050406030204" pitchFamily="18" charset="0"/>
                                      </a:rPr>
                                    </m:ctrlPr>
                                  </m:dPr>
                                  <m:e>
                                    <m:acc>
                                      <m:accPr>
                                        <m:chr m:val="̂"/>
                                        <m:ctrlPr>
                                          <a:rPr lang="ar-AE" sz="1600" b="1" i="1">
                                            <a:latin typeface="Cambria Math" panose="02040503050406030204" pitchFamily="18" charset="0"/>
                                          </a:rPr>
                                        </m:ctrlPr>
                                      </m:accPr>
                                      <m:e>
                                        <m:r>
                                          <a:rPr lang="ar-AE" sz="1600" b="0">
                                            <a:latin typeface="Cambria Math" panose="02040503050406030204" pitchFamily="18" charset="0"/>
                                          </a:rPr>
                                          <m:t>𝑦</m:t>
                                        </m:r>
                                      </m:e>
                                    </m:acc>
                                    <m:r>
                                      <a:rPr lang="ar-AE" sz="1600" b="0">
                                        <a:latin typeface="Cambria Math" panose="02040503050406030204" pitchFamily="18" charset="0"/>
                                      </a:rPr>
                                      <m:t>≠</m:t>
                                    </m:r>
                                    <m:r>
                                      <m:rPr>
                                        <m:nor/>
                                      </m:rPr>
                                      <a:rPr lang="en-IN" sz="1600" b="0">
                                        <a:latin typeface="Times New Roman" panose="02020603050405020304" pitchFamily="18" charset="0"/>
                                        <a:cs typeface="Times New Roman" panose="02020603050405020304" pitchFamily="18" charset="0"/>
                                      </a:rPr>
                                      <m:t>normal</m:t>
                                    </m:r>
                                  </m:e>
                                </m:d>
                              </m:oMath>
                            </m:oMathPara>
                          </a14:m>
                          <a:endParaRPr lang="ar-AE" sz="1600" dirty="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14:m>
                            <m:oMath xmlns:m="http://schemas.openxmlformats.org/officeDocument/2006/math">
                              <m:r>
                                <a:rPr lang="ar-AE" sz="1600">
                                  <a:latin typeface="Cambria Math" panose="02040503050406030204" pitchFamily="18" charset="0"/>
                                </a:rPr>
                                <m:t>𝜌</m:t>
                              </m:r>
                              <m:r>
                                <a:rPr lang="ar-AE" sz="160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a:latin typeface="Cambria Math" panose="02040503050406030204" pitchFamily="18" charset="0"/>
                                    </a:rPr>
                                    <m:t>0</m:t>
                                  </m:r>
                                </m:e>
                                <m:e>
                                  <m:r>
                                    <a:rPr lang="ar-AE" sz="1600">
                                      <a:latin typeface="Cambria Math" panose="02040503050406030204" pitchFamily="18" charset="0"/>
                                    </a:rPr>
                                    <m:t>1</m:t>
                                  </m:r>
                                </m:e>
                              </m:d>
                            </m:oMath>
                          </a14:m>
                          <a:r>
                            <a:rPr lang="ar-AE" sz="1600">
                              <a:latin typeface="Times New Roman" panose="02020603050405020304" pitchFamily="18" charset="0"/>
                              <a:cs typeface="Times New Roman" panose="02020603050405020304" pitchFamily="18" charset="0"/>
                            </a:rPr>
                            <a:t>: </a:t>
                          </a:r>
                          <a:r>
                            <a:rPr lang="en-IN" sz="1600">
                              <a:latin typeface="Times New Roman" panose="02020603050405020304" pitchFamily="18" charset="0"/>
                              <a:cs typeface="Times New Roman" panose="02020603050405020304" pitchFamily="18" charset="0"/>
                            </a:rPr>
                            <a:t>reputation </a:t>
                          </a:r>
                          <a:br>
                            <a:rPr lang="en-IN" sz="1600">
                              <a:latin typeface="Times New Roman" panose="02020603050405020304" pitchFamily="18" charset="0"/>
                              <a:cs typeface="Times New Roman" panose="02020603050405020304" pitchFamily="18" charset="0"/>
                            </a:rPr>
                          </a:br>
                          <a14:m>
                            <m:oMath xmlns:m="http://schemas.openxmlformats.org/officeDocument/2006/math">
                              <m:r>
                                <a:rPr lang="en-IN" sz="1600">
                                  <a:latin typeface="Cambria Math" panose="02040503050406030204" pitchFamily="18" charset="0"/>
                                </a:rPr>
                                <m:t>𝛼</m:t>
                              </m:r>
                            </m:oMath>
                          </a14:m>
                          <a:r>
                            <a:rPr lang="en-IN" sz="1600">
                              <a:latin typeface="Times New Roman" panose="02020603050405020304" pitchFamily="18" charset="0"/>
                              <a:cs typeface="Times New Roman" panose="02020603050405020304" pitchFamily="18" charset="0"/>
                            </a:rPr>
                            <a:t>: reward factor </a:t>
                          </a:r>
                          <a:br>
                            <a:rPr lang="en-IN" sz="1600">
                              <a:latin typeface="Times New Roman" panose="02020603050405020304" pitchFamily="18" charset="0"/>
                              <a:cs typeface="Times New Roman" panose="02020603050405020304" pitchFamily="18" charset="0"/>
                            </a:rPr>
                          </a:br>
                          <a14:m>
                            <m:oMath xmlns:m="http://schemas.openxmlformats.org/officeDocument/2006/math">
                              <m:r>
                                <a:rPr lang="en-IN" sz="1600">
                                  <a:latin typeface="Cambria Math" panose="02040503050406030204" pitchFamily="18" charset="0"/>
                                </a:rPr>
                                <m:t>𝛽</m:t>
                              </m:r>
                            </m:oMath>
                          </a14:m>
                          <a:r>
                            <a:rPr lang="en-IN" sz="1600">
                              <a:latin typeface="Times New Roman" panose="02020603050405020304" pitchFamily="18" charset="0"/>
                              <a:cs typeface="Times New Roman" panose="02020603050405020304" pitchFamily="18" charset="0"/>
                            </a:rPr>
                            <a:t>: penalty factor </a:t>
                          </a:r>
                          <a:br>
                            <a:rPr lang="en-IN" sz="1600">
                              <a:latin typeface="Times New Roman" panose="02020603050405020304" pitchFamily="18" charset="0"/>
                              <a:cs typeface="Times New Roman" panose="02020603050405020304" pitchFamily="18" charset="0"/>
                            </a:rPr>
                          </a:br>
                          <a14:m>
                            <m:oMath xmlns:m="http://schemas.openxmlformats.org/officeDocument/2006/math">
                              <m:acc>
                                <m:accPr>
                                  <m:chr m:val="̂"/>
                                  <m:ctrlPr>
                                    <a:rPr lang="ar-AE" sz="1600" i="1">
                                      <a:latin typeface="Cambria Math" panose="02040503050406030204" pitchFamily="18" charset="0"/>
                                    </a:rPr>
                                  </m:ctrlPr>
                                </m:accPr>
                                <m:e>
                                  <m:r>
                                    <a:rPr lang="ar-AE" sz="1600">
                                      <a:latin typeface="Cambria Math" panose="02040503050406030204" pitchFamily="18" charset="0"/>
                                    </a:rPr>
                                    <m:t>𝑦</m:t>
                                  </m:r>
                                </m:e>
                              </m:acc>
                            </m:oMath>
                          </a14:m>
                          <a:r>
                            <a:rPr lang="ar-AE" sz="1600">
                              <a:latin typeface="Times New Roman" panose="02020603050405020304" pitchFamily="18" charset="0"/>
                              <a:cs typeface="Times New Roman" panose="02020603050405020304" pitchFamily="18" charset="0"/>
                            </a:rPr>
                            <a:t>: </a:t>
                          </a:r>
                          <a:r>
                            <a:rPr lang="en-IN" sz="1600">
                              <a:latin typeface="Times New Roman" panose="02020603050405020304" pitchFamily="18" charset="0"/>
                              <a:cs typeface="Times New Roman" panose="02020603050405020304" pitchFamily="18" charset="0"/>
                            </a:rPr>
                            <a:t>predicted label</a:t>
                          </a:r>
                        </a:p>
                      </a:txBody>
                      <a:tcPr marL="84668" marR="84668" marT="42334" marB="42334" anchor="ctr"/>
                    </a:tc>
                    <a:extLst>
                      <a:ext uri="{0D108BD9-81ED-4DB2-BD59-A6C34878D82A}">
                        <a16:rowId xmlns:a16="http://schemas.microsoft.com/office/drawing/2014/main" val="2141535246"/>
                      </a:ext>
                    </a:extLst>
                  </a:tr>
                  <a:tr h="668288">
                    <a:tc>
                      <a:txBody>
                        <a:bodyPr/>
                        <a:lstStyle/>
                        <a:p>
                          <a:pPr>
                            <a:buNone/>
                          </a:pPr>
                          <a:r>
                            <a:rPr lang="en-IN" sz="1600" b="1">
                              <a:latin typeface="Times New Roman" panose="02020603050405020304" pitchFamily="18" charset="0"/>
                              <a:cs typeface="Times New Roman" panose="02020603050405020304" pitchFamily="18" charset="0"/>
                            </a:rPr>
                            <a:t>Adaptive PoW Difficulty</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14:m>
                            <m:oMathPara xmlns:m="http://schemas.openxmlformats.org/officeDocument/2006/math">
                              <m:oMathParaPr>
                                <m:jc m:val="centerGroup"/>
                              </m:oMathParaPr>
                              <m:oMath xmlns:m="http://schemas.openxmlformats.org/officeDocument/2006/math">
                                <m:r>
                                  <a:rPr lang="en-IN" sz="1600">
                                    <a:latin typeface="Cambria Math" panose="02040503050406030204" pitchFamily="18" charset="0"/>
                                  </a:rPr>
                                  <m:t>𝑑</m:t>
                                </m:r>
                                <m:r>
                                  <a:rPr lang="en-IN" sz="1600">
                                    <a:latin typeface="Cambria Math" panose="02040503050406030204" pitchFamily="18" charset="0"/>
                                  </a:rPr>
                                  <m:t>=</m:t>
                                </m:r>
                                <m:r>
                                  <m:rPr>
                                    <m:nor/>
                                  </m:rPr>
                                  <a:rPr lang="en-IN" sz="1600" b="0">
                                    <a:latin typeface="Times New Roman" panose="02020603050405020304" pitchFamily="18" charset="0"/>
                                    <a:cs typeface="Times New Roman" panose="02020603050405020304" pitchFamily="18" charset="0"/>
                                  </a:rPr>
                                  <m:t>clamp</m:t>
                                </m:r>
                                <m:r>
                                  <a:rPr lang="en-IN" sz="1600" b="0">
                                    <a:latin typeface="Cambria Math" panose="02040503050406030204" pitchFamily="18" charset="0"/>
                                  </a:rPr>
                                  <m:t>(</m:t>
                                </m:r>
                                <m:r>
                                  <a:rPr lang="en-IN" sz="1600" b="0">
                                    <a:latin typeface="Cambria Math" panose="02040503050406030204" pitchFamily="18" charset="0"/>
                                  </a:rPr>
                                  <m:t>0</m:t>
                                </m:r>
                                <m:r>
                                  <a:rPr lang="en-IN" sz="1600" b="0">
                                    <a:latin typeface="Cambria Math" panose="02040503050406030204" pitchFamily="18" charset="0"/>
                                  </a:rPr>
                                  <m:t>.</m:t>
                                </m:r>
                                <m:r>
                                  <a:rPr lang="en-IN" sz="1600" b="0">
                                    <a:latin typeface="Cambria Math" panose="02040503050406030204" pitchFamily="18" charset="0"/>
                                  </a:rPr>
                                  <m:t>65</m:t>
                                </m:r>
                                <m:r>
                                  <a:rPr lang="en-IN" sz="1600" b="0">
                                    <a:latin typeface="Cambria Math" panose="02040503050406030204" pitchFamily="18" charset="0"/>
                                  </a:rPr>
                                  <m:t>𝑟</m:t>
                                </m:r>
                                <m:r>
                                  <a:rPr lang="en-IN" sz="1600" b="0">
                                    <a:latin typeface="Cambria Math" panose="02040503050406030204" pitchFamily="18" charset="0"/>
                                  </a:rPr>
                                  <m:t>+</m:t>
                                </m:r>
                                <m:r>
                                  <a:rPr lang="en-IN" sz="1600" b="0">
                                    <a:latin typeface="Cambria Math" panose="02040503050406030204" pitchFamily="18" charset="0"/>
                                  </a:rPr>
                                  <m:t>0</m:t>
                                </m:r>
                                <m:r>
                                  <a:rPr lang="en-IN" sz="1600" b="0">
                                    <a:latin typeface="Cambria Math" panose="02040503050406030204" pitchFamily="18" charset="0"/>
                                  </a:rPr>
                                  <m:t>.</m:t>
                                </m:r>
                                <m:r>
                                  <a:rPr lang="en-IN" sz="1600" b="0">
                                    <a:latin typeface="Cambria Math" panose="02040503050406030204" pitchFamily="18" charset="0"/>
                                  </a:rPr>
                                  <m:t>25</m:t>
                                </m:r>
                                <m:d>
                                  <m:dPr>
                                    <m:ctrlPr>
                                      <a:rPr lang="ar-AE" sz="1600" b="0" i="1">
                                        <a:latin typeface="Cambria Math" panose="02040503050406030204" pitchFamily="18" charset="0"/>
                                      </a:rPr>
                                    </m:ctrlPr>
                                  </m:dPr>
                                  <m:e>
                                    <m:r>
                                      <a:rPr lang="ar-AE" sz="1600" b="0">
                                        <a:latin typeface="Cambria Math" panose="02040503050406030204" pitchFamily="18" charset="0"/>
                                      </a:rPr>
                                      <m:t>1</m:t>
                                    </m:r>
                                    <m:r>
                                      <a:rPr lang="ar-AE" sz="1600" b="0">
                                        <a:latin typeface="Cambria Math" panose="02040503050406030204" pitchFamily="18" charset="0"/>
                                      </a:rPr>
                                      <m:t>−</m:t>
                                    </m:r>
                                    <m:r>
                                      <a:rPr lang="ar-AE" sz="1600" b="0">
                                        <a:latin typeface="Cambria Math" panose="02040503050406030204" pitchFamily="18" charset="0"/>
                                      </a:rPr>
                                      <m:t>𝜌</m:t>
                                    </m:r>
                                  </m:e>
                                </m:d>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10</m:t>
                                </m:r>
                                <m:r>
                                  <a:rPr lang="ar-AE" sz="1600" b="0">
                                    <a:latin typeface="Cambria Math" panose="02040503050406030204" pitchFamily="18" charset="0"/>
                                  </a:rPr>
                                  <m:t>𝛿</m:t>
                                </m:r>
                                <m:r>
                                  <a:rPr lang="ar-AE" sz="1600" b="0">
                                    <a:latin typeface="Cambria Math" panose="02040503050406030204" pitchFamily="18" charset="0"/>
                                  </a:rPr>
                                  <m:t>,</m:t>
                                </m:r>
                                <m:r>
                                  <m:rPr>
                                    <m:nor/>
                                  </m:rPr>
                                  <a:rPr lang="ar-AE" sz="1600" b="0">
                                    <a:latin typeface="Times New Roman" panose="02020603050405020304" pitchFamily="18" charset="0"/>
                                    <a:cs typeface="Times New Roman" panose="02020603050405020304" pitchFamily="18" charset="0"/>
                                  </a:rPr>
                                  <m:t> </m:t>
                                </m:r>
                                <m:r>
                                  <a:rPr lang="ar-AE" sz="1600" b="0">
                                    <a:latin typeface="Cambria Math" panose="02040503050406030204" pitchFamily="18" charset="0"/>
                                  </a:rPr>
                                  <m:t>0</m:t>
                                </m:r>
                                <m:r>
                                  <a:rPr lang="ar-AE" sz="1600" b="0">
                                    <a:latin typeface="Cambria Math" panose="02040503050406030204" pitchFamily="18" charset="0"/>
                                  </a:rPr>
                                  <m:t>,</m:t>
                                </m:r>
                                <m:r>
                                  <m:rPr>
                                    <m:nor/>
                                  </m:rPr>
                                  <a:rPr lang="ar-AE" sz="1600" b="0">
                                    <a:latin typeface="Times New Roman" panose="02020603050405020304" pitchFamily="18" charset="0"/>
                                    <a:cs typeface="Times New Roman" panose="02020603050405020304" pitchFamily="18" charset="0"/>
                                  </a:rPr>
                                  <m:t> </m:t>
                                </m:r>
                                <m:r>
                                  <a:rPr lang="ar-AE" sz="1600" b="0">
                                    <a:latin typeface="Cambria Math" panose="02040503050406030204" pitchFamily="18" charset="0"/>
                                  </a:rPr>
                                  <m:t>1</m:t>
                                </m:r>
                                <m:r>
                                  <a:rPr lang="ar-AE" sz="1600" b="0">
                                    <a:latin typeface="Cambria Math" panose="02040503050406030204" pitchFamily="18" charset="0"/>
                                  </a:rPr>
                                  <m:t>)</m:t>
                                </m:r>
                              </m:oMath>
                            </m:oMathPara>
                          </a14:m>
                          <a:endParaRPr lang="ar-AE"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r>
                            <a:rPr lang="en-IN" sz="1600">
                              <a:latin typeface="Times New Roman" panose="02020603050405020304" pitchFamily="18" charset="0"/>
                              <a:cs typeface="Times New Roman" panose="02020603050405020304" pitchFamily="18" charset="0"/>
                            </a:rPr>
                            <a:t>Combines risk, reputation, duplicate pressure</a:t>
                          </a:r>
                        </a:p>
                      </a:txBody>
                      <a:tcPr marL="84668" marR="84668" marT="42334" marB="42334" anchor="ctr"/>
                    </a:tc>
                    <a:extLst>
                      <a:ext uri="{0D108BD9-81ED-4DB2-BD59-A6C34878D82A}">
                        <a16:rowId xmlns:a16="http://schemas.microsoft.com/office/drawing/2014/main" val="2867928697"/>
                      </a:ext>
                    </a:extLst>
                  </a:tr>
                  <a:tr h="493896">
                    <a:tc>
                      <a:txBody>
                        <a:bodyPr/>
                        <a:lstStyle/>
                        <a:p>
                          <a:pPr>
                            <a:buNone/>
                          </a:pPr>
                          <a:r>
                            <a:rPr lang="en-IN" sz="1600" b="1">
                              <a:latin typeface="Times New Roman" panose="02020603050405020304" pitchFamily="18" charset="0"/>
                              <a:cs typeface="Times New Roman" panose="02020603050405020304" pitchFamily="18" charset="0"/>
                            </a:rPr>
                            <a:t>Challenge Length</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14:m>
                            <m:oMathPara xmlns:m="http://schemas.openxmlformats.org/officeDocument/2006/math">
                              <m:oMathParaPr>
                                <m:jc m:val="centerGroup"/>
                              </m:oMathParaPr>
                              <m:oMath xmlns:m="http://schemas.openxmlformats.org/officeDocument/2006/math">
                                <m:r>
                                  <a:rPr lang="ar-AE" sz="1600">
                                    <a:latin typeface="Cambria Math" panose="02040503050406030204" pitchFamily="18" charset="0"/>
                                  </a:rPr>
                                  <m:t>𝐿</m:t>
                                </m:r>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𝐿</m:t>
                                    </m:r>
                                  </m:e>
                                  <m:sub>
                                    <m:r>
                                      <m:rPr>
                                        <m:nor/>
                                      </m:rPr>
                                      <a:rPr lang="en-IN" sz="1600" b="0">
                                        <a:latin typeface="Times New Roman" panose="02020603050405020304" pitchFamily="18" charset="0"/>
                                        <a:cs typeface="Times New Roman" panose="02020603050405020304" pitchFamily="18" charset="0"/>
                                      </a:rPr>
                                      <m:t>base</m:t>
                                    </m:r>
                                  </m:sub>
                                </m:sSub>
                                <m:r>
                                  <a:rPr lang="ar-AE" sz="1600" b="0">
                                    <a:latin typeface="Cambria Math" panose="02040503050406030204" pitchFamily="18" charset="0"/>
                                  </a:rPr>
                                  <m:t>+</m:t>
                                </m:r>
                                <m:d>
                                  <m:dPr>
                                    <m:begChr m:val="⌊"/>
                                    <m:endChr m:val="⌋"/>
                                    <m:ctrlPr>
                                      <a:rPr lang="ar-AE" sz="1600" b="0" i="1">
                                        <a:latin typeface="Cambria Math" panose="02040503050406030204" pitchFamily="18" charset="0"/>
                                      </a:rPr>
                                    </m:ctrlPr>
                                  </m:dPr>
                                  <m:e>
                                    <m:sSub>
                                      <m:sSubPr>
                                        <m:ctrlPr>
                                          <a:rPr lang="ar-AE" sz="1600" b="0" i="1">
                                            <a:latin typeface="Cambria Math" panose="02040503050406030204" pitchFamily="18" charset="0"/>
                                          </a:rPr>
                                        </m:ctrlPr>
                                      </m:sSubPr>
                                      <m:e>
                                        <m:r>
                                          <a:rPr lang="ar-AE" sz="1600" b="0">
                                            <a:latin typeface="Cambria Math" panose="02040503050406030204" pitchFamily="18" charset="0"/>
                                          </a:rPr>
                                          <m:t>𝐿</m:t>
                                        </m:r>
                                      </m:e>
                                      <m:sub>
                                        <m:r>
                                          <m:rPr>
                                            <m:nor/>
                                          </m:rPr>
                                          <a:rPr lang="en-IN" sz="1600" b="0">
                                            <a:latin typeface="Times New Roman" panose="02020603050405020304" pitchFamily="18" charset="0"/>
                                            <a:cs typeface="Times New Roman" panose="02020603050405020304" pitchFamily="18" charset="0"/>
                                          </a:rPr>
                                          <m:t>ext</m:t>
                                        </m:r>
                                      </m:sub>
                                    </m:sSub>
                                    <m:r>
                                      <a:rPr lang="ar-AE" sz="1600" b="0">
                                        <a:latin typeface="Cambria Math" panose="02040503050406030204" pitchFamily="18" charset="0"/>
                                      </a:rPr>
                                      <m:t>⋅</m:t>
                                    </m:r>
                                    <m:r>
                                      <a:rPr lang="ar-AE" sz="1600" b="0">
                                        <a:latin typeface="Cambria Math" panose="02040503050406030204" pitchFamily="18" charset="0"/>
                                      </a:rPr>
                                      <m:t>𝑑</m:t>
                                    </m:r>
                                  </m:e>
                                </m:d>
                              </m:oMath>
                            </m:oMathPara>
                          </a14:m>
                          <a:endParaRPr lang="ar-AE" sz="1600" dirty="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𝐿</m:t>
                                  </m:r>
                                </m:e>
                                <m:sub>
                                  <m:r>
                                    <m:rPr>
                                      <m:nor/>
                                    </m:rPr>
                                    <a:rPr lang="en-IN" sz="1600" b="0">
                                      <a:latin typeface="Times New Roman" panose="02020603050405020304" pitchFamily="18" charset="0"/>
                                      <a:cs typeface="Times New Roman" panose="02020603050405020304" pitchFamily="18" charset="0"/>
                                    </a:rPr>
                                    <m:t>base</m:t>
                                  </m:r>
                                </m:sub>
                              </m:sSub>
                              <m:r>
                                <a:rPr lang="ar-AE" sz="1600" b="0">
                                  <a:latin typeface="Cambria Math" panose="02040503050406030204" pitchFamily="18" charset="0"/>
                                </a:rPr>
                                <m:t>=</m:t>
                              </m:r>
                              <m:r>
                                <a:rPr lang="ar-AE" sz="1600" b="0">
                                  <a:latin typeface="Cambria Math" panose="02040503050406030204" pitchFamily="18" charset="0"/>
                                </a:rPr>
                                <m:t>32</m:t>
                              </m:r>
                            </m:oMath>
                          </a14:m>
                          <a:r>
                            <a:rPr lang="en-IN" sz="1600">
                              <a:latin typeface="Times New Roman" panose="02020603050405020304" pitchFamily="18" charset="0"/>
                              <a:cs typeface="Times New Roman" panose="02020603050405020304" pitchFamily="18" charset="0"/>
                            </a:rPr>
                            <a:t>bytes </a:t>
                          </a:r>
                          <a:br>
                            <a:rPr lang="en-IN" sz="1600">
                              <a:latin typeface="Times New Roman" panose="02020603050405020304" pitchFamily="18" charset="0"/>
                              <a:cs typeface="Times New Roman" panose="02020603050405020304" pitchFamily="18" charset="0"/>
                            </a:rPr>
                          </a:b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𝐿</m:t>
                                  </m:r>
                                </m:e>
                                <m:sub>
                                  <m:r>
                                    <m:rPr>
                                      <m:nor/>
                                    </m:rPr>
                                    <a:rPr lang="en-IN" sz="1600" b="0">
                                      <a:latin typeface="Times New Roman" panose="02020603050405020304" pitchFamily="18" charset="0"/>
                                      <a:cs typeface="Times New Roman" panose="02020603050405020304" pitchFamily="18" charset="0"/>
                                    </a:rPr>
                                    <m:t>ext</m:t>
                                  </m:r>
                                </m:sub>
                              </m:sSub>
                              <m:r>
                                <a:rPr lang="ar-AE" sz="1600" b="0">
                                  <a:latin typeface="Cambria Math" panose="02040503050406030204" pitchFamily="18" charset="0"/>
                                </a:rPr>
                                <m:t>=</m:t>
                              </m:r>
                              <m:r>
                                <a:rPr lang="ar-AE" sz="1600" b="0">
                                  <a:latin typeface="Cambria Math" panose="02040503050406030204" pitchFamily="18" charset="0"/>
                                </a:rPr>
                                <m:t>160</m:t>
                              </m:r>
                            </m:oMath>
                          </a14:m>
                          <a:r>
                            <a:rPr lang="en-IN" sz="1600">
                              <a:latin typeface="Times New Roman" panose="02020603050405020304" pitchFamily="18" charset="0"/>
                              <a:cs typeface="Times New Roman" panose="02020603050405020304" pitchFamily="18" charset="0"/>
                            </a:rPr>
                            <a:t>bytes</a:t>
                          </a:r>
                        </a:p>
                      </a:txBody>
                      <a:tcPr marL="84668" marR="84668" marT="42334" marB="42334" anchor="ctr"/>
                    </a:tc>
                    <a:extLst>
                      <a:ext uri="{0D108BD9-81ED-4DB2-BD59-A6C34878D82A}">
                        <a16:rowId xmlns:a16="http://schemas.microsoft.com/office/drawing/2014/main" val="2632321366"/>
                      </a:ext>
                    </a:extLst>
                  </a:tr>
                  <a:tr h="282226">
                    <a:tc>
                      <a:txBody>
                        <a:bodyPr/>
                        <a:lstStyle/>
                        <a:p>
                          <a:pPr>
                            <a:buNone/>
                          </a:pPr>
                          <a:r>
                            <a:rPr lang="en-IN" sz="1600" b="1">
                              <a:latin typeface="Times New Roman" panose="02020603050405020304" pitchFamily="18" charset="0"/>
                              <a:cs typeface="Times New Roman" panose="02020603050405020304" pitchFamily="18" charset="0"/>
                            </a:rPr>
                            <a:t>PoW Range</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14:m>
                            <m:oMathPara xmlns:m="http://schemas.openxmlformats.org/officeDocument/2006/math">
                              <m:oMathParaPr>
                                <m:jc m:val="centerGroup"/>
                              </m:oMathParaPr>
                              <m:oMath xmlns:m="http://schemas.openxmlformats.org/officeDocument/2006/math">
                                <m:r>
                                  <a:rPr lang="en-IN" sz="1600">
                                    <a:latin typeface="Cambria Math" panose="02040503050406030204" pitchFamily="18" charset="0"/>
                                  </a:rPr>
                                  <m:t>32</m:t>
                                </m:r>
                                <m:r>
                                  <a:rPr lang="en-IN" sz="1600">
                                    <a:latin typeface="Cambria Math" panose="02040503050406030204" pitchFamily="18" charset="0"/>
                                  </a:rPr>
                                  <m:t>≤</m:t>
                                </m:r>
                                <m:r>
                                  <a:rPr lang="en-IN" sz="1600">
                                    <a:latin typeface="Cambria Math" panose="02040503050406030204" pitchFamily="18" charset="0"/>
                                  </a:rPr>
                                  <m:t>𝐿</m:t>
                                </m:r>
                                <m:r>
                                  <a:rPr lang="en-IN" sz="1600">
                                    <a:latin typeface="Cambria Math" panose="02040503050406030204" pitchFamily="18" charset="0"/>
                                  </a:rPr>
                                  <m:t>≤</m:t>
                                </m:r>
                                <m:r>
                                  <a:rPr lang="en-IN" sz="1600">
                                    <a:latin typeface="Cambria Math" panose="02040503050406030204" pitchFamily="18" charset="0"/>
                                  </a:rPr>
                                  <m:t>192</m:t>
                                </m:r>
                              </m:oMath>
                            </m:oMathPara>
                          </a14:m>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r>
                            <a:rPr lang="en-IN" sz="1600" dirty="0">
                              <a:latin typeface="Times New Roman" panose="02020603050405020304" pitchFamily="18" charset="0"/>
                              <a:cs typeface="Times New Roman" panose="02020603050405020304" pitchFamily="18" charset="0"/>
                            </a:rPr>
                            <a:t>Minimum (benign) → Maximum (attack)</a:t>
                          </a:r>
                        </a:p>
                      </a:txBody>
                      <a:tcPr marL="84668" marR="84668" marT="42334" marB="42334" anchor="ctr"/>
                    </a:tc>
                    <a:extLst>
                      <a:ext uri="{0D108BD9-81ED-4DB2-BD59-A6C34878D82A}">
                        <a16:rowId xmlns:a16="http://schemas.microsoft.com/office/drawing/2014/main" val="338405293"/>
                      </a:ext>
                    </a:extLst>
                  </a:tr>
                  <a:tr h="479784">
                    <a:tc>
                      <a:txBody>
                        <a:bodyPr/>
                        <a:lstStyle/>
                        <a:p>
                          <a:pPr>
                            <a:buNone/>
                          </a:pPr>
                          <a:r>
                            <a:rPr lang="en-IN" sz="1600" b="1" dirty="0">
                              <a:latin typeface="Times New Roman" panose="02020603050405020304" pitchFamily="18" charset="0"/>
                              <a:cs typeface="Times New Roman" panose="02020603050405020304" pitchFamily="18" charset="0"/>
                            </a:rPr>
                            <a:t>Weight Priority</a:t>
                          </a:r>
                        </a:p>
                      </a:txBody>
                      <a:tcPr marL="84668" marR="84668" marT="42334" marB="42334" anchor="ctr"/>
                    </a:tc>
                    <a:tc gridSpan="2">
                      <a:txBody>
                        <a:bodyPr/>
                        <a:lstStyle/>
                        <a:p>
                          <a:pPr>
                            <a:buNone/>
                          </a:pPr>
                          <a:r>
                            <a:rPr lang="en-US" sz="1600" dirty="0">
                              <a:latin typeface="Times New Roman" panose="02020603050405020304" pitchFamily="18" charset="0"/>
                              <a:cs typeface="Times New Roman" panose="02020603050405020304" pitchFamily="18" charset="0"/>
                            </a:rPr>
                            <a:t>Risk (0.65) &gt; Reputation (0.25) &gt; Duplicate Pressure (0.10)</a:t>
                          </a:r>
                        </a:p>
                      </a:txBody>
                      <a:tcPr marL="84668" marR="84668" marT="42334" marB="42334" anchor="ctr"/>
                    </a:tc>
                    <a:tc hMerge="1">
                      <a:txBody>
                        <a:bodyPr/>
                        <a:lstStyle/>
                        <a:p>
                          <a:endParaRPr dirty="0"/>
                        </a:p>
                      </a:txBody>
                      <a:tcPr marL="84668" marR="84668" marT="42334" marB="42334" anchor="ctr">
                        <a:lnL>
                          <a:noFill/>
                        </a:lnL>
                        <a:lnR>
                          <a:noFill/>
                        </a:lnR>
                        <a:lnT>
                          <a:noFill/>
                        </a:lnT>
                        <a:lnB>
                          <a:noFill/>
                        </a:lnB>
                        <a:noFill/>
                      </a:tcPr>
                    </a:tc>
                    <a:extLst>
                      <a:ext uri="{0D108BD9-81ED-4DB2-BD59-A6C34878D82A}">
                        <a16:rowId xmlns:a16="http://schemas.microsoft.com/office/drawing/2014/main" val="2165759156"/>
                      </a:ext>
                    </a:extLst>
                  </a:tr>
                </a:tbl>
              </a:graphicData>
            </a:graphic>
          </p:graphicFrame>
        </mc:Choice>
        <mc:Fallback xmlns="">
          <p:graphicFrame>
            <p:nvGraphicFramePr>
              <p:cNvPr id="2" name="Table 1">
                <a:extLst>
                  <a:ext uri="{FF2B5EF4-FFF2-40B4-BE49-F238E27FC236}">
                    <a16:creationId xmlns:a16="http://schemas.microsoft.com/office/drawing/2014/main" id="{2187899D-9B2D-41B2-0006-FA643EB2FD19}"/>
                  </a:ext>
                </a:extLst>
              </p:cNvPr>
              <p:cNvGraphicFramePr>
                <a:graphicFrameLocks noGrp="1"/>
              </p:cNvGraphicFramePr>
              <p:nvPr>
                <p:extLst>
                  <p:ext uri="{D42A27DB-BD31-4B8C-83A1-F6EECF244321}">
                    <p14:modId xmlns:p14="http://schemas.microsoft.com/office/powerpoint/2010/main" val="663715518"/>
                  </p:ext>
                </p:extLst>
              </p:nvPr>
            </p:nvGraphicFramePr>
            <p:xfrm>
              <a:off x="1080116" y="1132985"/>
              <a:ext cx="9736800" cy="5490569"/>
            </p:xfrm>
            <a:graphic>
              <a:graphicData uri="http://schemas.openxmlformats.org/drawingml/2006/table">
                <a:tbl>
                  <a:tblPr>
                    <a:tableStyleId>{FCE49B7E-5F19-4CB0-BCE9-EA4782633ABD}</a:tableStyleId>
                  </a:tblPr>
                  <a:tblGrid>
                    <a:gridCol w="1810568">
                      <a:extLst>
                        <a:ext uri="{9D8B030D-6E8A-4147-A177-3AD203B41FA5}">
                          <a16:colId xmlns:a16="http://schemas.microsoft.com/office/drawing/2014/main" val="1450091270"/>
                        </a:ext>
                      </a:extLst>
                    </a:gridCol>
                    <a:gridCol w="4680632">
                      <a:extLst>
                        <a:ext uri="{9D8B030D-6E8A-4147-A177-3AD203B41FA5}">
                          <a16:colId xmlns:a16="http://schemas.microsoft.com/office/drawing/2014/main" val="616035059"/>
                        </a:ext>
                      </a:extLst>
                    </a:gridCol>
                    <a:gridCol w="3245600">
                      <a:extLst>
                        <a:ext uri="{9D8B030D-6E8A-4147-A177-3AD203B41FA5}">
                          <a16:colId xmlns:a16="http://schemas.microsoft.com/office/drawing/2014/main" val="3878347925"/>
                        </a:ext>
                      </a:extLst>
                    </a:gridCol>
                  </a:tblGrid>
                  <a:tr h="328508">
                    <a:tc>
                      <a:txBody>
                        <a:bodyPr/>
                        <a:lstStyle/>
                        <a:p>
                          <a:pPr>
                            <a:buNone/>
                          </a:pPr>
                          <a:r>
                            <a:rPr lang="en-IN" sz="1600" b="1">
                              <a:latin typeface="Times New Roman" panose="02020603050405020304" pitchFamily="18" charset="0"/>
                              <a:cs typeface="Times New Roman" panose="02020603050405020304" pitchFamily="18" charset="0"/>
                            </a:rPr>
                            <a:t>Section</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r>
                            <a:rPr lang="en-IN" sz="1600" b="1" dirty="0">
                              <a:latin typeface="Times New Roman" panose="02020603050405020304" pitchFamily="18" charset="0"/>
                              <a:cs typeface="Times New Roman" panose="02020603050405020304" pitchFamily="18" charset="0"/>
                            </a:rPr>
                            <a:t>Formula / Expression</a:t>
                          </a:r>
                          <a:endParaRPr lang="en-IN" sz="1600" dirty="0">
                            <a:latin typeface="Times New Roman" panose="02020603050405020304" pitchFamily="18" charset="0"/>
                            <a:cs typeface="Times New Roman" panose="02020603050405020304" pitchFamily="18" charset="0"/>
                          </a:endParaRPr>
                        </a:p>
                      </a:txBody>
                      <a:tcPr marL="84668" marR="84668" marT="42334" marB="42334" anchor="ctr"/>
                    </a:tc>
                    <a:tc>
                      <a:txBody>
                        <a:bodyPr/>
                        <a:lstStyle/>
                        <a:p>
                          <a:pPr>
                            <a:buNone/>
                          </a:pPr>
                          <a:r>
                            <a:rPr lang="en-IN" sz="1600" b="1">
                              <a:latin typeface="Times New Roman" panose="02020603050405020304" pitchFamily="18" charset="0"/>
                              <a:cs typeface="Times New Roman" panose="02020603050405020304" pitchFamily="18" charset="0"/>
                            </a:rPr>
                            <a:t>Key Details</a:t>
                          </a:r>
                          <a:endParaRPr lang="en-IN" sz="1600">
                            <a:latin typeface="Times New Roman" panose="02020603050405020304" pitchFamily="18" charset="0"/>
                            <a:cs typeface="Times New Roman" panose="02020603050405020304" pitchFamily="18" charset="0"/>
                          </a:endParaRPr>
                        </a:p>
                      </a:txBody>
                      <a:tcPr marL="84668" marR="84668" marT="42334" marB="42334" anchor="ctr"/>
                    </a:tc>
                    <a:extLst>
                      <a:ext uri="{0D108BD9-81ED-4DB2-BD59-A6C34878D82A}">
                        <a16:rowId xmlns:a16="http://schemas.microsoft.com/office/drawing/2014/main" val="3491077521"/>
                      </a:ext>
                    </a:extLst>
                  </a:tr>
                  <a:tr h="1791548">
                    <a:tc>
                      <a:txBody>
                        <a:bodyPr/>
                        <a:lstStyle/>
                        <a:p>
                          <a:pPr>
                            <a:buNone/>
                          </a:pPr>
                          <a:r>
                            <a:rPr lang="en-IN" sz="1600" b="1" dirty="0">
                              <a:latin typeface="Times New Roman" panose="02020603050405020304" pitchFamily="18" charset="0"/>
                              <a:cs typeface="Times New Roman" panose="02020603050405020304" pitchFamily="18" charset="0"/>
                            </a:rPr>
                            <a:t>Risk Score</a:t>
                          </a:r>
                          <a:endParaRPr lang="en-IN" sz="1600" dirty="0">
                            <a:latin typeface="Times New Roman" panose="02020603050405020304" pitchFamily="18" charset="0"/>
                            <a:cs typeface="Times New Roman" panose="02020603050405020304" pitchFamily="18" charset="0"/>
                          </a:endParaRPr>
                        </a:p>
                      </a:txBody>
                      <a:tcPr marL="84668" marR="84668" marT="42334" marB="42334" anchor="ctr"/>
                    </a:tc>
                    <a:tc>
                      <a:txBody>
                        <a:bodyPr/>
                        <a:lstStyle/>
                        <a:p>
                          <a:endParaRPr lang="en-US"/>
                        </a:p>
                      </a:txBody>
                      <a:tcPr marL="84668" marR="84668" marT="42334" marB="42334" anchor="ctr">
                        <a:blipFill>
                          <a:blip r:embed="rId3"/>
                          <a:stretch>
                            <a:fillRect l="-38802" t="-19388" r="-69661" b="-189116"/>
                          </a:stretch>
                        </a:blipFill>
                      </a:tcPr>
                    </a:tc>
                    <a:tc>
                      <a:txBody>
                        <a:bodyPr/>
                        <a:lstStyle/>
                        <a:p>
                          <a:endParaRPr lang="en-US"/>
                        </a:p>
                      </a:txBody>
                      <a:tcPr marL="84668" marR="84668" marT="42334" marB="42334" anchor="ctr">
                        <a:blipFill>
                          <a:blip r:embed="rId3"/>
                          <a:stretch>
                            <a:fillRect l="-200000" t="-19388" r="-375" b="-189116"/>
                          </a:stretch>
                        </a:blipFill>
                      </a:tcPr>
                    </a:tc>
                    <a:extLst>
                      <a:ext uri="{0D108BD9-81ED-4DB2-BD59-A6C34878D82A}">
                        <a16:rowId xmlns:a16="http://schemas.microsoft.com/office/drawing/2014/main" val="3933435555"/>
                      </a:ext>
                    </a:extLst>
                  </a:tr>
                  <a:tr h="1060028">
                    <a:tc>
                      <a:txBody>
                        <a:bodyPr/>
                        <a:lstStyle/>
                        <a:p>
                          <a:pPr>
                            <a:buNone/>
                          </a:pPr>
                          <a:r>
                            <a:rPr lang="en-IN" sz="1600" b="1">
                              <a:latin typeface="Times New Roman" panose="02020603050405020304" pitchFamily="18" charset="0"/>
                              <a:cs typeface="Times New Roman" panose="02020603050405020304" pitchFamily="18" charset="0"/>
                            </a:rPr>
                            <a:t>Reputation Update</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endParaRPr lang="en-US"/>
                        </a:p>
                      </a:txBody>
                      <a:tcPr marL="84668" marR="84668" marT="42334" marB="42334" anchor="ctr">
                        <a:blipFill>
                          <a:blip r:embed="rId3"/>
                          <a:stretch>
                            <a:fillRect l="-38802" t="-201724" r="-69661" b="-219540"/>
                          </a:stretch>
                        </a:blipFill>
                      </a:tcPr>
                    </a:tc>
                    <a:tc>
                      <a:txBody>
                        <a:bodyPr/>
                        <a:lstStyle/>
                        <a:p>
                          <a:endParaRPr lang="en-US"/>
                        </a:p>
                      </a:txBody>
                      <a:tcPr marL="84668" marR="84668" marT="42334" marB="42334" anchor="ctr">
                        <a:blipFill>
                          <a:blip r:embed="rId3"/>
                          <a:stretch>
                            <a:fillRect l="-200000" t="-201724" r="-375" b="-219540"/>
                          </a:stretch>
                        </a:blipFill>
                      </a:tcPr>
                    </a:tc>
                    <a:extLst>
                      <a:ext uri="{0D108BD9-81ED-4DB2-BD59-A6C34878D82A}">
                        <a16:rowId xmlns:a16="http://schemas.microsoft.com/office/drawing/2014/main" val="2141535246"/>
                      </a:ext>
                    </a:extLst>
                  </a:tr>
                  <a:tr h="668288">
                    <a:tc>
                      <a:txBody>
                        <a:bodyPr/>
                        <a:lstStyle/>
                        <a:p>
                          <a:pPr>
                            <a:buNone/>
                          </a:pPr>
                          <a:r>
                            <a:rPr lang="en-IN" sz="1600" b="1">
                              <a:latin typeface="Times New Roman" panose="02020603050405020304" pitchFamily="18" charset="0"/>
                              <a:cs typeface="Times New Roman" panose="02020603050405020304" pitchFamily="18" charset="0"/>
                            </a:rPr>
                            <a:t>Adaptive PoW Difficulty</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endParaRPr lang="en-US"/>
                        </a:p>
                      </a:txBody>
                      <a:tcPr marL="84668" marR="84668" marT="42334" marB="42334" anchor="ctr">
                        <a:blipFill>
                          <a:blip r:embed="rId3"/>
                          <a:stretch>
                            <a:fillRect l="-38802" t="-477273" r="-69661" b="-247273"/>
                          </a:stretch>
                        </a:blipFill>
                      </a:tcPr>
                    </a:tc>
                    <a:tc>
                      <a:txBody>
                        <a:bodyPr/>
                        <a:lstStyle/>
                        <a:p>
                          <a:pPr>
                            <a:buNone/>
                          </a:pPr>
                          <a:r>
                            <a:rPr lang="en-IN" sz="1600">
                              <a:latin typeface="Times New Roman" panose="02020603050405020304" pitchFamily="18" charset="0"/>
                              <a:cs typeface="Times New Roman" panose="02020603050405020304" pitchFamily="18" charset="0"/>
                            </a:rPr>
                            <a:t>Combines risk, reputation, duplicate pressure</a:t>
                          </a:r>
                        </a:p>
                      </a:txBody>
                      <a:tcPr marL="84668" marR="84668" marT="42334" marB="42334" anchor="ctr"/>
                    </a:tc>
                    <a:extLst>
                      <a:ext uri="{0D108BD9-81ED-4DB2-BD59-A6C34878D82A}">
                        <a16:rowId xmlns:a16="http://schemas.microsoft.com/office/drawing/2014/main" val="2867928697"/>
                      </a:ext>
                    </a:extLst>
                  </a:tr>
                  <a:tr h="590065">
                    <a:tc>
                      <a:txBody>
                        <a:bodyPr/>
                        <a:lstStyle/>
                        <a:p>
                          <a:pPr>
                            <a:buNone/>
                          </a:pPr>
                          <a:r>
                            <a:rPr lang="en-IN" sz="1600" b="1">
                              <a:latin typeface="Times New Roman" panose="02020603050405020304" pitchFamily="18" charset="0"/>
                              <a:cs typeface="Times New Roman" panose="02020603050405020304" pitchFamily="18" charset="0"/>
                            </a:rPr>
                            <a:t>Challenge Length</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endParaRPr lang="en-US"/>
                        </a:p>
                      </a:txBody>
                      <a:tcPr marL="84668" marR="84668" marT="42334" marB="42334" anchor="ctr">
                        <a:blipFill>
                          <a:blip r:embed="rId3"/>
                          <a:stretch>
                            <a:fillRect l="-38802" t="-654639" r="-69661" b="-180412"/>
                          </a:stretch>
                        </a:blipFill>
                      </a:tcPr>
                    </a:tc>
                    <a:tc>
                      <a:txBody>
                        <a:bodyPr/>
                        <a:lstStyle/>
                        <a:p>
                          <a:endParaRPr lang="en-US"/>
                        </a:p>
                      </a:txBody>
                      <a:tcPr marL="84668" marR="84668" marT="42334" marB="42334" anchor="ctr">
                        <a:blipFill>
                          <a:blip r:embed="rId3"/>
                          <a:stretch>
                            <a:fillRect l="-200000" t="-654639" r="-375" b="-180412"/>
                          </a:stretch>
                        </a:blipFill>
                      </a:tcPr>
                    </a:tc>
                    <a:extLst>
                      <a:ext uri="{0D108BD9-81ED-4DB2-BD59-A6C34878D82A}">
                        <a16:rowId xmlns:a16="http://schemas.microsoft.com/office/drawing/2014/main" val="2632321366"/>
                      </a:ext>
                    </a:extLst>
                  </a:tr>
                  <a:tr h="572348">
                    <a:tc>
                      <a:txBody>
                        <a:bodyPr/>
                        <a:lstStyle/>
                        <a:p>
                          <a:pPr>
                            <a:buNone/>
                          </a:pPr>
                          <a:r>
                            <a:rPr lang="en-IN" sz="1600" b="1">
                              <a:latin typeface="Times New Roman" panose="02020603050405020304" pitchFamily="18" charset="0"/>
                              <a:cs typeface="Times New Roman" panose="02020603050405020304" pitchFamily="18" charset="0"/>
                            </a:rPr>
                            <a:t>PoW Range</a:t>
                          </a:r>
                          <a:endParaRPr lang="en-IN" sz="1600">
                            <a:latin typeface="Times New Roman" panose="02020603050405020304" pitchFamily="18" charset="0"/>
                            <a:cs typeface="Times New Roman" panose="02020603050405020304" pitchFamily="18" charset="0"/>
                          </a:endParaRPr>
                        </a:p>
                      </a:txBody>
                      <a:tcPr marL="84668" marR="84668" marT="42334" marB="42334" anchor="ctr"/>
                    </a:tc>
                    <a:tc>
                      <a:txBody>
                        <a:bodyPr/>
                        <a:lstStyle/>
                        <a:p>
                          <a:endParaRPr lang="en-US"/>
                        </a:p>
                      </a:txBody>
                      <a:tcPr marL="84668" marR="84668" marT="42334" marB="42334" anchor="ctr">
                        <a:blipFill>
                          <a:blip r:embed="rId3"/>
                          <a:stretch>
                            <a:fillRect l="-38802" t="-778723" r="-69661" b="-86170"/>
                          </a:stretch>
                        </a:blipFill>
                      </a:tcPr>
                    </a:tc>
                    <a:tc>
                      <a:txBody>
                        <a:bodyPr/>
                        <a:lstStyle/>
                        <a:p>
                          <a:pPr>
                            <a:buNone/>
                          </a:pPr>
                          <a:r>
                            <a:rPr lang="en-IN" sz="1600" dirty="0">
                              <a:latin typeface="Times New Roman" panose="02020603050405020304" pitchFamily="18" charset="0"/>
                              <a:cs typeface="Times New Roman" panose="02020603050405020304" pitchFamily="18" charset="0"/>
                            </a:rPr>
                            <a:t>Minimum (benign) → Maximum (attack)</a:t>
                          </a:r>
                        </a:p>
                      </a:txBody>
                      <a:tcPr marL="84668" marR="84668" marT="42334" marB="42334" anchor="ctr"/>
                    </a:tc>
                    <a:extLst>
                      <a:ext uri="{0D108BD9-81ED-4DB2-BD59-A6C34878D82A}">
                        <a16:rowId xmlns:a16="http://schemas.microsoft.com/office/drawing/2014/main" val="338405293"/>
                      </a:ext>
                    </a:extLst>
                  </a:tr>
                  <a:tr h="479784">
                    <a:tc>
                      <a:txBody>
                        <a:bodyPr/>
                        <a:lstStyle/>
                        <a:p>
                          <a:pPr>
                            <a:buNone/>
                          </a:pPr>
                          <a:r>
                            <a:rPr lang="en-IN" sz="1600" b="1" dirty="0">
                              <a:latin typeface="Times New Roman" panose="02020603050405020304" pitchFamily="18" charset="0"/>
                              <a:cs typeface="Times New Roman" panose="02020603050405020304" pitchFamily="18" charset="0"/>
                            </a:rPr>
                            <a:t>Weight Priority</a:t>
                          </a:r>
                        </a:p>
                      </a:txBody>
                      <a:tcPr marL="84668" marR="84668" marT="42334" marB="42334" anchor="ctr"/>
                    </a:tc>
                    <a:tc gridSpan="2">
                      <a:txBody>
                        <a:bodyPr/>
                        <a:lstStyle/>
                        <a:p>
                          <a:pPr>
                            <a:buNone/>
                          </a:pPr>
                          <a:r>
                            <a:rPr lang="en-US" sz="1600" dirty="0">
                              <a:latin typeface="Times New Roman" panose="02020603050405020304" pitchFamily="18" charset="0"/>
                              <a:cs typeface="Times New Roman" panose="02020603050405020304" pitchFamily="18" charset="0"/>
                            </a:rPr>
                            <a:t>Risk (0.65) &gt; Reputation (0.25) &gt; Duplicate Pressure (0.10)</a:t>
                          </a:r>
                        </a:p>
                      </a:txBody>
                      <a:tcPr marL="84668" marR="84668" marT="42334" marB="42334" anchor="ctr"/>
                    </a:tc>
                    <a:tc hMerge="1">
                      <a:txBody>
                        <a:bodyPr/>
                        <a:lstStyle/>
                        <a:p>
                          <a:endParaRPr dirty="0"/>
                        </a:p>
                      </a:txBody>
                      <a:tcPr marL="84668" marR="84668" marT="42334" marB="42334" anchor="ctr">
                        <a:lnL>
                          <a:noFill/>
                        </a:lnL>
                        <a:lnR>
                          <a:noFill/>
                        </a:lnR>
                        <a:lnT>
                          <a:noFill/>
                        </a:lnT>
                        <a:lnB>
                          <a:noFill/>
                        </a:lnB>
                        <a:noFill/>
                      </a:tcPr>
                    </a:tc>
                    <a:extLst>
                      <a:ext uri="{0D108BD9-81ED-4DB2-BD59-A6C34878D82A}">
                        <a16:rowId xmlns:a16="http://schemas.microsoft.com/office/drawing/2014/main" val="2165759156"/>
                      </a:ext>
                    </a:extLst>
                  </a:tr>
                </a:tbl>
              </a:graphicData>
            </a:graphic>
          </p:graphicFrame>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FORMULAS - POLICY, DETECTION &amp; METRICS</a:t>
            </a:r>
            <a:endParaRPr sz="3600" dirty="0"/>
          </a:p>
        </p:txBody>
      </p:sp>
      <p:sp>
        <p:nvSpPr>
          <p:cNvPr id="341" name="Google Shape;34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42" name="Google Shape;34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29</a:t>
            </a:fld>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B0488EB-3A96-0518-1F60-F3E9009A8DF1}"/>
                  </a:ext>
                </a:extLst>
              </p:cNvPr>
              <p:cNvGraphicFramePr>
                <a:graphicFrameLocks noGrp="1"/>
              </p:cNvGraphicFramePr>
              <p:nvPr>
                <p:extLst>
                  <p:ext uri="{D42A27DB-BD31-4B8C-83A1-F6EECF244321}">
                    <p14:modId xmlns:p14="http://schemas.microsoft.com/office/powerpoint/2010/main" val="2911919185"/>
                  </p:ext>
                </p:extLst>
              </p:nvPr>
            </p:nvGraphicFramePr>
            <p:xfrm>
              <a:off x="975851" y="1882075"/>
              <a:ext cx="10832690" cy="4230435"/>
            </p:xfrm>
            <a:graphic>
              <a:graphicData uri="http://schemas.openxmlformats.org/drawingml/2006/table">
                <a:tbl>
                  <a:tblPr>
                    <a:tableStyleId>{FCE49B7E-5F19-4CB0-BCE9-EA4782633ABD}</a:tableStyleId>
                  </a:tblPr>
                  <a:tblGrid>
                    <a:gridCol w="2630941">
                      <a:extLst>
                        <a:ext uri="{9D8B030D-6E8A-4147-A177-3AD203B41FA5}">
                          <a16:colId xmlns:a16="http://schemas.microsoft.com/office/drawing/2014/main" val="786333640"/>
                        </a:ext>
                      </a:extLst>
                    </a:gridCol>
                    <a:gridCol w="4590853">
                      <a:extLst>
                        <a:ext uri="{9D8B030D-6E8A-4147-A177-3AD203B41FA5}">
                          <a16:colId xmlns:a16="http://schemas.microsoft.com/office/drawing/2014/main" val="1683625164"/>
                        </a:ext>
                      </a:extLst>
                    </a:gridCol>
                    <a:gridCol w="3610896">
                      <a:extLst>
                        <a:ext uri="{9D8B030D-6E8A-4147-A177-3AD203B41FA5}">
                          <a16:colId xmlns:a16="http://schemas.microsoft.com/office/drawing/2014/main" val="1360104919"/>
                        </a:ext>
                      </a:extLst>
                    </a:gridCol>
                  </a:tblGrid>
                  <a:tr h="0">
                    <a:tc>
                      <a:txBody>
                        <a:bodyPr/>
                        <a:lstStyle/>
                        <a:p>
                          <a:pPr>
                            <a:buNone/>
                          </a:pPr>
                          <a:r>
                            <a:rPr lang="en-IN" sz="1600" b="1" dirty="0">
                              <a:latin typeface="Times New Roman" panose="02020603050405020304" pitchFamily="18" charset="0"/>
                              <a:cs typeface="Times New Roman" panose="02020603050405020304" pitchFamily="18" charset="0"/>
                            </a:rPr>
                            <a:t>Section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Formula / Expression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Key Details</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07939472"/>
                      </a:ext>
                    </a:extLst>
                  </a:tr>
                  <a:tr h="0">
                    <a:tc>
                      <a:txBody>
                        <a:bodyPr/>
                        <a:lstStyle/>
                        <a:p>
                          <a:pPr>
                            <a:buNone/>
                          </a:pPr>
                          <a:r>
                            <a:rPr lang="en-IN" sz="1600" b="1">
                              <a:latin typeface="Times New Roman" panose="02020603050405020304" pitchFamily="18" charset="0"/>
                              <a:cs typeface="Times New Roman" panose="02020603050405020304" pitchFamily="18" charset="0"/>
                            </a:rPr>
                            <a:t>Policy Decision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r>
                                  <a:rPr lang="ar-AE" sz="1600">
                                    <a:latin typeface="Cambria Math" panose="02040503050406030204" pitchFamily="18" charset="0"/>
                                  </a:rPr>
                                  <m:t>𝜋</m:t>
                                </m:r>
                                <m:r>
                                  <a:rPr lang="ar-AE" sz="1600">
                                    <a:latin typeface="Cambria Math" panose="02040503050406030204" pitchFamily="18" charset="0"/>
                                  </a:rPr>
                                  <m:t>=</m:t>
                                </m:r>
                                <m:d>
                                  <m:dPr>
                                    <m:begChr m:val="{"/>
                                    <m:endChr m:val=""/>
                                    <m:ctrlPr>
                                      <a:rPr lang="ar-AE" sz="1600" i="1">
                                        <a:latin typeface="Cambria Math" panose="02040503050406030204" pitchFamily="18" charset="0"/>
                                      </a:rPr>
                                    </m:ctrlPr>
                                  </m:dPr>
                                  <m:e>
                                    <m:m>
                                      <m:mPr>
                                        <m:plcHide m:val="on"/>
                                        <m:mcs>
                                          <m:mc>
                                            <m:mcPr>
                                              <m:count m:val="2"/>
                                              <m:mcJc m:val="center"/>
                                            </m:mcPr>
                                          </m:mc>
                                        </m:mcs>
                                        <m:ctrlPr>
                                          <a:rPr lang="ar-AE" sz="1600" i="1">
                                            <a:latin typeface="Cambria Math" panose="02040503050406030204" pitchFamily="18" charset="0"/>
                                          </a:rPr>
                                        </m:ctrlPr>
                                      </m:mPr>
                                      <m:mr>
                                        <m:e>
                                          <m:r>
                                            <m:rPr>
                                              <m:nor/>
                                            </m:rPr>
                                            <a:rPr lang="en-IN" sz="1600" b="0">
                                              <a:latin typeface="Times New Roman" panose="02020603050405020304" pitchFamily="18" charset="0"/>
                                              <a:cs typeface="Times New Roman" panose="02020603050405020304" pitchFamily="18" charset="0"/>
                                            </a:rPr>
                                            <m:t>BLOCK</m:t>
                                          </m:r>
                                          <m:r>
                                            <a:rPr lang="en-IN" sz="1600" b="0">
                                              <a:latin typeface="Cambria Math" panose="02040503050406030204" pitchFamily="18" charset="0"/>
                                            </a:rPr>
                                            <m:t>,</m:t>
                                          </m:r>
                                        </m:e>
                                        <m:e>
                                          <m:r>
                                            <a:rPr lang="ar-AE" sz="1600" b="0">
                                              <a:latin typeface="Cambria Math" panose="02040503050406030204" pitchFamily="18" charset="0"/>
                                            </a:rPr>
                                            <m:t>𝑟</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80</m:t>
                                          </m:r>
                                        </m:e>
                                      </m:mr>
                                      <m:mr>
                                        <m:e>
                                          <m:r>
                                            <m:rPr>
                                              <m:nor/>
                                            </m:rPr>
                                            <a:rPr lang="en-IN" sz="1600" b="0">
                                              <a:latin typeface="Times New Roman" panose="02020603050405020304" pitchFamily="18" charset="0"/>
                                              <a:cs typeface="Times New Roman" panose="02020603050405020304" pitchFamily="18" charset="0"/>
                                            </a:rPr>
                                            <m:t>RATE</m:t>
                                          </m:r>
                                          <m:r>
                                            <m:rPr>
                                              <m:lit/>
                                              <m:nor/>
                                            </m:rPr>
                                            <a:rPr lang="en-IN" sz="1600" b="0">
                                              <a:latin typeface="Times New Roman" panose="02020603050405020304" pitchFamily="18" charset="0"/>
                                              <a:cs typeface="Times New Roman" panose="02020603050405020304" pitchFamily="18" charset="0"/>
                                            </a:rPr>
                                            <m:t>_</m:t>
                                          </m:r>
                                          <m:r>
                                            <m:rPr>
                                              <m:nor/>
                                            </m:rPr>
                                            <a:rPr lang="en-IN" sz="1600" b="0">
                                              <a:latin typeface="Times New Roman" panose="02020603050405020304" pitchFamily="18" charset="0"/>
                                              <a:cs typeface="Times New Roman" panose="02020603050405020304" pitchFamily="18" charset="0"/>
                                            </a:rPr>
                                            <m:t>LIMIT</m:t>
                                          </m:r>
                                          <m:r>
                                            <a:rPr lang="en-IN" sz="1600" b="0">
                                              <a:latin typeface="Cambria Math" panose="02040503050406030204" pitchFamily="18" charset="0"/>
                                            </a:rPr>
                                            <m:t>,</m:t>
                                          </m:r>
                                        </m:e>
                                        <m:e>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50</m:t>
                                          </m:r>
                                          <m:r>
                                            <a:rPr lang="ar-AE" sz="1600" b="0">
                                              <a:latin typeface="Cambria Math" panose="02040503050406030204" pitchFamily="18" charset="0"/>
                                            </a:rPr>
                                            <m:t>≤</m:t>
                                          </m:r>
                                          <m:r>
                                            <a:rPr lang="ar-AE" sz="1600" b="0">
                                              <a:latin typeface="Cambria Math" panose="02040503050406030204" pitchFamily="18" charset="0"/>
                                            </a:rPr>
                                            <m:t>𝑟</m:t>
                                          </m:r>
                                          <m:r>
                                            <a:rPr lang="ar-AE" sz="1600" b="0">
                                              <a:latin typeface="Cambria Math" panose="02040503050406030204" pitchFamily="18" charset="0"/>
                                            </a:rPr>
                                            <m:t>&lt;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80</m:t>
                                          </m:r>
                                        </m:e>
                                      </m:mr>
                                      <m:mr>
                                        <m:e>
                                          <m:r>
                                            <m:rPr>
                                              <m:nor/>
                                            </m:rPr>
                                            <a:rPr lang="en-IN" sz="1600" b="0">
                                              <a:latin typeface="Times New Roman" panose="02020603050405020304" pitchFamily="18" charset="0"/>
                                              <a:cs typeface="Times New Roman" panose="02020603050405020304" pitchFamily="18" charset="0"/>
                                            </a:rPr>
                                            <m:t>ALLOW</m:t>
                                          </m:r>
                                          <m:r>
                                            <a:rPr lang="en-IN" sz="1600" b="0">
                                              <a:latin typeface="Cambria Math" panose="02040503050406030204" pitchFamily="18" charset="0"/>
                                            </a:rPr>
                                            <m:t>,</m:t>
                                          </m:r>
                                        </m:e>
                                        <m:e>
                                          <m:r>
                                            <a:rPr lang="ar-AE" sz="1600" b="0">
                                              <a:latin typeface="Cambria Math" panose="02040503050406030204" pitchFamily="18" charset="0"/>
                                            </a:rPr>
                                            <m:t>𝑟</m:t>
                                          </m:r>
                                          <m:r>
                                            <a:rPr lang="ar-AE" sz="1600" b="0">
                                              <a:latin typeface="Cambria Math" panose="02040503050406030204" pitchFamily="18" charset="0"/>
                                            </a:rPr>
                                            <m:t>&lt;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50</m:t>
                                          </m:r>
                                        </m:e>
                                      </m:mr>
                                    </m:m>
                                  </m:e>
                                </m:d>
                              </m:oMath>
                            </m:oMathPara>
                          </a14:m>
                          <a:endParaRPr lang="ar-AE" sz="1600">
                            <a:latin typeface="Times New Roman" panose="02020603050405020304" pitchFamily="18" charset="0"/>
                            <a:cs typeface="Times New Roman" panose="02020603050405020304" pitchFamily="18" charset="0"/>
                          </a:endParaRPr>
                        </a:p>
                      </a:txBody>
                      <a:tcPr anchor="ctr"/>
                    </a:tc>
                    <a:tc>
                      <a:txBody>
                        <a:bodyPr/>
                        <a:lstStyle/>
                        <a:p>
                          <a:pPr>
                            <a:buNone/>
                          </a:pPr>
                          <a14:m>
                            <m:oMath xmlns:m="http://schemas.openxmlformats.org/officeDocument/2006/math">
                              <m:r>
                                <a:rPr lang="en-IN" sz="1600">
                                  <a:latin typeface="Cambria Math" panose="02040503050406030204" pitchFamily="18" charset="0"/>
                                </a:rPr>
                                <m:t>𝑟</m:t>
                              </m:r>
                            </m:oMath>
                          </a14:m>
                          <a:r>
                            <a:rPr lang="en-IN" sz="1600" dirty="0">
                              <a:latin typeface="Times New Roman" panose="02020603050405020304" pitchFamily="18" charset="0"/>
                              <a:cs typeface="Times New Roman" panose="02020603050405020304" pitchFamily="18" charset="0"/>
                            </a:rPr>
                            <a:t>: risk score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BLOCK → HTTP 403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RATE_LIMIT → HTTP 429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ALLOW → HTTP 200</a:t>
                          </a:r>
                        </a:p>
                      </a:txBody>
                      <a:tcPr anchor="ctr"/>
                    </a:tc>
                    <a:extLst>
                      <a:ext uri="{0D108BD9-81ED-4DB2-BD59-A6C34878D82A}">
                        <a16:rowId xmlns:a16="http://schemas.microsoft.com/office/drawing/2014/main" val="3306447264"/>
                      </a:ext>
                    </a:extLst>
                  </a:tr>
                  <a:tr h="0">
                    <a:tc>
                      <a:txBody>
                        <a:bodyPr/>
                        <a:lstStyle/>
                        <a:p>
                          <a:pPr>
                            <a:buNone/>
                          </a:pPr>
                          <a:r>
                            <a:rPr lang="en-IN" sz="1600" b="1">
                              <a:latin typeface="Times New Roman" panose="02020603050405020304" pitchFamily="18" charset="0"/>
                              <a:cs typeface="Times New Roman" panose="02020603050405020304" pitchFamily="18" charset="0"/>
                            </a:rPr>
                            <a:t>OCSVM Risk Score</a:t>
                          </a:r>
                          <a:endParaRPr lang="en-IN" sz="1600">
                            <a:latin typeface="Times New Roman" panose="02020603050405020304" pitchFamily="18" charset="0"/>
                            <a:cs typeface="Times New Roman" panose="02020603050405020304" pitchFamily="18" charset="0"/>
                          </a:endParaRPr>
                        </a:p>
                      </a:txBody>
                      <a:tcPr anchor="ctr"/>
                    </a:tc>
                    <a:tc>
                      <a:txBody>
                        <a:bodyPr/>
                        <a:lstStyle/>
                        <a:p>
                          <a:pPr algn="ctr">
                            <a:buNone/>
                          </a:pPr>
                          <a14:m>
                            <m:oMath xmlns:m="http://schemas.openxmlformats.org/officeDocument/2006/math">
                              <m:r>
                                <a:rPr lang="ar-AE" sz="1600" smtClean="0">
                                  <a:latin typeface="Cambria Math" panose="02040503050406030204" pitchFamily="18" charset="0"/>
                                </a:rPr>
                                <m:t>𝑟</m:t>
                              </m:r>
                              <m:r>
                                <a:rPr lang="ar-AE" sz="1600" smtClean="0">
                                  <a:latin typeface="Cambria Math" panose="02040503050406030204" pitchFamily="18" charset="0"/>
                                </a:rPr>
                                <m:t>=</m:t>
                              </m:r>
                              <m:r>
                                <m:rPr>
                                  <m:sty m:val="p"/>
                                </m:rPr>
                                <a:rPr lang="en-IN" sz="1600" b="0" i="1" dirty="0" smtClean="0">
                                  <a:latin typeface="Cambria Math" panose="02040503050406030204" pitchFamily="18" charset="0"/>
                                  <a:cs typeface="Times New Roman" panose="02020603050405020304" pitchFamily="18" charset="0"/>
                                </a:rPr>
                                <m:t>min</m:t>
                              </m:r>
                              <m:r>
                                <a:rPr lang="en-IN" sz="1600" b="0" i="1" dirty="0" smtClean="0">
                                  <a:latin typeface="Cambria Math" panose="02040503050406030204" pitchFamily="18" charset="0"/>
                                  <a:cs typeface="Times New Roman" panose="02020603050405020304" pitchFamily="18" charset="0"/>
                                </a:rPr>
                                <m:t>⁡</m:t>
                              </m:r>
                            </m:oMath>
                          </a14:m>
                          <a:r>
                            <a:rPr lang="en-IN" sz="1600" b="0" i="0" dirty="0">
                              <a:latin typeface="Times New Roman" panose="02020603050405020304" pitchFamily="18" charset="0"/>
                              <a:cs typeface="Times New Roman" panose="02020603050405020304" pitchFamily="18" charset="0"/>
                            </a:rPr>
                            <a:t>⁡</a:t>
                          </a:r>
                          <a14:m>
                            <m:oMath xmlns:m="http://schemas.openxmlformats.org/officeDocument/2006/math">
                              <m:d>
                                <m:dPr>
                                  <m:sepChr m:val=","/>
                                  <m:ctrlPr>
                                    <a:rPr lang="ar-AE" sz="1600" b="0" i="1">
                                      <a:latin typeface="Cambria Math" panose="02040503050406030204" pitchFamily="18" charset="0"/>
                                    </a:rPr>
                                  </m:ctrlPr>
                                </m:dPr>
                                <m:e>
                                  <m:r>
                                    <a:rPr lang="ar-AE" sz="1600" b="0">
                                      <a:latin typeface="Cambria Math" panose="02040503050406030204" pitchFamily="18" charset="0"/>
                                    </a:rPr>
                                    <m:t>1</m:t>
                                  </m:r>
                                </m:e>
                                <m:e>
                                  <m:r>
                                    <m:rPr>
                                      <m:nor/>
                                    </m:rPr>
                                    <a:rPr lang="ar-AE" sz="1600" b="0">
                                      <a:latin typeface="Times New Roman" panose="02020603050405020304" pitchFamily="18" charset="0"/>
                                      <a:cs typeface="Times New Roman" panose="02020603050405020304" pitchFamily="18" charset="0"/>
                                    </a:rPr>
                                    <m:t> </m:t>
                                  </m:r>
                                  <m:f>
                                    <m:fPr>
                                      <m:ctrlPr>
                                        <a:rPr lang="ar-AE" sz="1600" b="0" i="1">
                                          <a:latin typeface="Cambria Math" panose="02040503050406030204" pitchFamily="18" charset="0"/>
                                        </a:rPr>
                                      </m:ctrlPr>
                                    </m:fPr>
                                    <m:num>
                                      <m:sSub>
                                        <m:sSubPr>
                                          <m:ctrlPr>
                                            <a:rPr lang="ar-AE" sz="1600" b="0" i="1">
                                              <a:latin typeface="Cambria Math" panose="02040503050406030204" pitchFamily="18" charset="0"/>
                                            </a:rPr>
                                          </m:ctrlPr>
                                        </m:sSubPr>
                                        <m:e>
                                          <m:r>
                                            <a:rPr lang="ar-AE" sz="1600" b="0">
                                              <a:latin typeface="Cambria Math" panose="02040503050406030204" pitchFamily="18" charset="0"/>
                                            </a:rPr>
                                            <m:t>𝑠</m:t>
                                          </m:r>
                                        </m:e>
                                        <m:sub>
                                          <m:r>
                                            <m:rPr>
                                              <m:nor/>
                                            </m:rPr>
                                            <a:rPr lang="en-IN" sz="1600" b="0">
                                              <a:latin typeface="Times New Roman" panose="02020603050405020304" pitchFamily="18" charset="0"/>
                                              <a:cs typeface="Times New Roman" panose="02020603050405020304" pitchFamily="18" charset="0"/>
                                            </a:rPr>
                                            <m:t>OCSVM</m:t>
                                          </m:r>
                                        </m:sub>
                                      </m:sSub>
                                      <m:d>
                                        <m:dPr>
                                          <m:ctrlPr>
                                            <a:rPr lang="ar-AE" sz="1600" b="0" i="1">
                                              <a:latin typeface="Cambria Math" panose="02040503050406030204" pitchFamily="18" charset="0"/>
                                            </a:rPr>
                                          </m:ctrlPr>
                                        </m:dPr>
                                        <m:e>
                                          <m:r>
                                            <a:rPr lang="ar-AE" sz="1600" b="0">
                                              <a:latin typeface="Cambria Math" panose="02040503050406030204" pitchFamily="18" charset="0"/>
                                            </a:rPr>
                                            <m:t>𝑥</m:t>
                                          </m:r>
                                        </m:e>
                                      </m:d>
                                    </m:num>
                                    <m:den>
                                      <m:sSub>
                                        <m:sSubPr>
                                          <m:ctrlPr>
                                            <a:rPr lang="ar-AE" sz="1600" b="0" i="1">
                                              <a:latin typeface="Cambria Math" panose="02040503050406030204" pitchFamily="18" charset="0"/>
                                            </a:rPr>
                                          </m:ctrlPr>
                                        </m:sSubPr>
                                        <m:e>
                                          <m:r>
                                            <a:rPr lang="ar-AE" sz="1600" b="0">
                                              <a:latin typeface="Cambria Math" panose="02040503050406030204" pitchFamily="18" charset="0"/>
                                            </a:rPr>
                                            <m:t>𝜏</m:t>
                                          </m:r>
                                        </m:e>
                                        <m:sub>
                                          <m:r>
                                            <m:rPr>
                                              <m:nor/>
                                            </m:rPr>
                                            <a:rPr lang="en-IN" sz="1600" b="0">
                                              <a:latin typeface="Times New Roman" panose="02020603050405020304" pitchFamily="18" charset="0"/>
                                              <a:cs typeface="Times New Roman" panose="02020603050405020304" pitchFamily="18" charset="0"/>
                                            </a:rPr>
                                            <m:t>OCSVM</m:t>
                                          </m:r>
                                        </m:sub>
                                      </m:sSub>
                                    </m:den>
                                  </m:f>
                                </m:e>
                              </m:d>
                            </m:oMath>
                          </a14:m>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𝜏</m:t>
                                  </m:r>
                                </m:e>
                                <m:sub>
                                  <m:r>
                                    <m:rPr>
                                      <m:nor/>
                                    </m:rPr>
                                    <a:rPr lang="en-IN" sz="1600" b="0">
                                      <a:latin typeface="Times New Roman" panose="02020603050405020304" pitchFamily="18" charset="0"/>
                                      <a:cs typeface="Times New Roman" panose="02020603050405020304" pitchFamily="18" charset="0"/>
                                    </a:rPr>
                                    <m:t>OCSVM</m:t>
                                  </m:r>
                                </m:sub>
                              </m:sSub>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75</a:t>
                          </a:r>
                          <a:r>
                            <a:rPr lang="en-IN" sz="1600" baseline="30000" dirty="0">
                              <a:latin typeface="Times New Roman" panose="02020603050405020304" pitchFamily="18" charset="0"/>
                              <a:cs typeface="Times New Roman" panose="02020603050405020304" pitchFamily="18" charset="0"/>
                            </a:rPr>
                            <a:t>th</a:t>
                          </a:r>
                          <a:r>
                            <a:rPr lang="en-IN" sz="1600" dirty="0">
                              <a:latin typeface="Times New Roman" panose="02020603050405020304" pitchFamily="18" charset="0"/>
                              <a:cs typeface="Times New Roman" panose="02020603050405020304" pitchFamily="18" charset="0"/>
                            </a:rPr>
                            <a:t> percentile threshold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Anomaly if </a:t>
                          </a:r>
                          <a14:m>
                            <m:oMath xmlns:m="http://schemas.openxmlformats.org/officeDocument/2006/math">
                              <m:r>
                                <a:rPr lang="en-IN" sz="1600">
                                  <a:latin typeface="Cambria Math" panose="02040503050406030204" pitchFamily="18" charset="0"/>
                                </a:rPr>
                                <m:t>𝑟</m:t>
                              </m:r>
                              <m:r>
                                <a:rPr lang="en-IN" sz="1600">
                                  <a:latin typeface="Cambria Math" panose="02040503050406030204" pitchFamily="18" charset="0"/>
                                </a:rPr>
                                <m:t>≥</m:t>
                              </m:r>
                              <m:r>
                                <a:rPr lang="en-IN" sz="1600">
                                  <a:latin typeface="Cambria Math" panose="02040503050406030204" pitchFamily="18" charset="0"/>
                                </a:rPr>
                                <m:t>1</m:t>
                              </m:r>
                            </m:oMath>
                          </a14:m>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69665093"/>
                      </a:ext>
                    </a:extLst>
                  </a:tr>
                  <a:tr h="0">
                    <a:tc>
                      <a:txBody>
                        <a:bodyPr/>
                        <a:lstStyle/>
                        <a:p>
                          <a:pPr>
                            <a:buNone/>
                          </a:pPr>
                          <a:r>
                            <a:rPr lang="en-IN" sz="1600" b="1">
                              <a:latin typeface="Times New Roman" panose="02020603050405020304" pitchFamily="18" charset="0"/>
                              <a:cs typeface="Times New Roman" panose="02020603050405020304" pitchFamily="18" charset="0"/>
                            </a:rPr>
                            <a:t>Attacker Success Reduction</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r>
                                  <m:rPr>
                                    <m:nor/>
                                  </m:rPr>
                                  <a:rPr lang="en-IN" sz="1600" b="0">
                                    <a:latin typeface="Times New Roman" panose="02020603050405020304" pitchFamily="18" charset="0"/>
                                    <a:cs typeface="Times New Roman" panose="02020603050405020304" pitchFamily="18" charset="0"/>
                                  </a:rPr>
                                  <m:t>ASR</m:t>
                                </m:r>
                                <m:r>
                                  <a:rPr lang="en-IN" sz="1600" b="0">
                                    <a:latin typeface="Cambria Math" panose="02040503050406030204" pitchFamily="18" charset="0"/>
                                  </a:rPr>
                                  <m:t>=</m:t>
                                </m:r>
                                <m:f>
                                  <m:fPr>
                                    <m:ctrlPr>
                                      <a:rPr lang="ar-AE" sz="1600" b="0" i="1">
                                        <a:latin typeface="Cambria Math" panose="02040503050406030204" pitchFamily="18" charset="0"/>
                                      </a:rPr>
                                    </m:ctrlPr>
                                  </m:fPr>
                                  <m:num>
                                    <m:sSub>
                                      <m:sSubPr>
                                        <m:ctrlPr>
                                          <a:rPr lang="ar-AE" sz="1600" b="0" i="1">
                                            <a:latin typeface="Cambria Math" panose="02040503050406030204" pitchFamily="18" charset="0"/>
                                          </a:rPr>
                                        </m:ctrlPr>
                                      </m:sSubPr>
                                      <m:e>
                                        <m:r>
                                          <a:rPr lang="ar-AE" sz="1600" b="0">
                                            <a:latin typeface="Cambria Math" panose="02040503050406030204" pitchFamily="18" charset="0"/>
                                          </a:rPr>
                                          <m:t>𝑆</m:t>
                                        </m:r>
                                      </m:e>
                                      <m:sub>
                                        <m:r>
                                          <m:rPr>
                                            <m:nor/>
                                          </m:rPr>
                                          <a:rPr lang="en-IN" sz="1600" b="0">
                                            <a:latin typeface="Times New Roman" panose="02020603050405020304" pitchFamily="18" charset="0"/>
                                            <a:cs typeface="Times New Roman" panose="02020603050405020304" pitchFamily="18" charset="0"/>
                                          </a:rPr>
                                          <m:t>static</m:t>
                                        </m:r>
                                      </m:sub>
                                    </m:sSub>
                                    <m:r>
                                      <a:rPr lang="ar-AE" sz="1600" b="0">
                                        <a:latin typeface="Cambria Math" panose="02040503050406030204" pitchFamily="18" charset="0"/>
                                      </a:rPr>
                                      <m:t>−</m:t>
                                    </m:r>
                                    <m:sSub>
                                      <m:sSubPr>
                                        <m:ctrlPr>
                                          <a:rPr lang="ar-AE" sz="1600" b="0" i="1">
                                            <a:latin typeface="Cambria Math" panose="02040503050406030204" pitchFamily="18" charset="0"/>
                                          </a:rPr>
                                        </m:ctrlPr>
                                      </m:sSubPr>
                                      <m:e>
                                        <m:r>
                                          <a:rPr lang="ar-AE" sz="1600" b="0">
                                            <a:latin typeface="Cambria Math" panose="02040503050406030204" pitchFamily="18" charset="0"/>
                                          </a:rPr>
                                          <m:t>𝑆</m:t>
                                        </m:r>
                                      </m:e>
                                      <m:sub>
                                        <m:r>
                                          <m:rPr>
                                            <m:nor/>
                                          </m:rPr>
                                          <a:rPr lang="en-IN" sz="1600" b="0">
                                            <a:latin typeface="Times New Roman" panose="02020603050405020304" pitchFamily="18" charset="0"/>
                                            <a:cs typeface="Times New Roman" panose="02020603050405020304" pitchFamily="18" charset="0"/>
                                          </a:rPr>
                                          <m:t>adaptive</m:t>
                                        </m:r>
                                      </m:sub>
                                    </m:sSub>
                                  </m:num>
                                  <m:den>
                                    <m:sSub>
                                      <m:sSubPr>
                                        <m:ctrlPr>
                                          <a:rPr lang="ar-AE" sz="1600" b="0" i="1">
                                            <a:latin typeface="Cambria Math" panose="02040503050406030204" pitchFamily="18" charset="0"/>
                                          </a:rPr>
                                        </m:ctrlPr>
                                      </m:sSubPr>
                                      <m:e>
                                        <m:r>
                                          <a:rPr lang="ar-AE" sz="1600" b="0">
                                            <a:latin typeface="Cambria Math" panose="02040503050406030204" pitchFamily="18" charset="0"/>
                                          </a:rPr>
                                          <m:t>𝑆</m:t>
                                        </m:r>
                                      </m:e>
                                      <m:sub>
                                        <m:r>
                                          <m:rPr>
                                            <m:nor/>
                                          </m:rPr>
                                          <a:rPr lang="en-IN" sz="1600" b="0">
                                            <a:latin typeface="Times New Roman" panose="02020603050405020304" pitchFamily="18" charset="0"/>
                                            <a:cs typeface="Times New Roman" panose="02020603050405020304" pitchFamily="18" charset="0"/>
                                          </a:rPr>
                                          <m:t>static</m:t>
                                        </m:r>
                                      </m:sub>
                                    </m:sSub>
                                  </m:den>
                                </m:f>
                                <m:r>
                                  <a:rPr lang="ar-AE" sz="1600" b="0">
                                    <a:latin typeface="Cambria Math" panose="02040503050406030204" pitchFamily="18" charset="0"/>
                                  </a:rPr>
                                  <m:t>×</m:t>
                                </m:r>
                                <m:r>
                                  <a:rPr lang="ar-AE" sz="1600" b="0">
                                    <a:latin typeface="Cambria Math" panose="02040503050406030204" pitchFamily="18" charset="0"/>
                                  </a:rPr>
                                  <m:t>100</m:t>
                                </m:r>
                                <m:r>
                                  <a:rPr lang="ar-AE" sz="1600" b="0">
                                    <a:latin typeface="Cambria Math" panose="02040503050406030204" pitchFamily="18" charset="0"/>
                                  </a:rPr>
                                  <m:t>%</m:t>
                                </m:r>
                              </m:oMath>
                            </m:oMathPara>
                          </a14:m>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f>
                                  <m:fPr>
                                    <m:ctrlPr>
                                      <a:rPr lang="ar-AE" sz="1600" i="1">
                                        <a:latin typeface="Cambria Math" panose="02040503050406030204" pitchFamily="18" charset="0"/>
                                      </a:rPr>
                                    </m:ctrlPr>
                                  </m:fPr>
                                  <m:num>
                                    <m:r>
                                      <a:rPr lang="ar-AE" sz="1600">
                                        <a:latin typeface="Cambria Math" panose="02040503050406030204" pitchFamily="18" charset="0"/>
                                      </a:rPr>
                                      <m:t>0</m:t>
                                    </m:r>
                                    <m:r>
                                      <a:rPr lang="ar-AE" sz="1600">
                                        <a:latin typeface="Cambria Math" panose="02040503050406030204" pitchFamily="18" charset="0"/>
                                      </a:rPr>
                                      <m:t>.</m:t>
                                    </m:r>
                                    <m:r>
                                      <a:rPr lang="ar-AE" sz="1600">
                                        <a:latin typeface="Cambria Math" panose="02040503050406030204" pitchFamily="18" charset="0"/>
                                      </a:rPr>
                                      <m:t>8647</m:t>
                                    </m:r>
                                    <m:r>
                                      <a:rPr lang="ar-AE" sz="1600">
                                        <a:latin typeface="Cambria Math" panose="02040503050406030204" pitchFamily="18" charset="0"/>
                                      </a:rPr>
                                      <m:t>−</m:t>
                                    </m:r>
                                    <m:r>
                                      <a:rPr lang="ar-AE" sz="1600">
                                        <a:latin typeface="Cambria Math" panose="02040503050406030204" pitchFamily="18" charset="0"/>
                                      </a:rPr>
                                      <m:t>0</m:t>
                                    </m:r>
                                    <m:r>
                                      <a:rPr lang="ar-AE" sz="1600">
                                        <a:latin typeface="Cambria Math" panose="02040503050406030204" pitchFamily="18" charset="0"/>
                                      </a:rPr>
                                      <m:t>.</m:t>
                                    </m:r>
                                    <m:r>
                                      <a:rPr lang="ar-AE" sz="1600">
                                        <a:latin typeface="Cambria Math" panose="02040503050406030204" pitchFamily="18" charset="0"/>
                                      </a:rPr>
                                      <m:t>4713</m:t>
                                    </m:r>
                                  </m:num>
                                  <m:den>
                                    <m:r>
                                      <a:rPr lang="ar-AE" sz="1600">
                                        <a:latin typeface="Cambria Math" panose="02040503050406030204" pitchFamily="18" charset="0"/>
                                      </a:rPr>
                                      <m:t>0</m:t>
                                    </m:r>
                                    <m:r>
                                      <a:rPr lang="ar-AE" sz="1600">
                                        <a:latin typeface="Cambria Math" panose="02040503050406030204" pitchFamily="18" charset="0"/>
                                      </a:rPr>
                                      <m:t>.</m:t>
                                    </m:r>
                                    <m:r>
                                      <a:rPr lang="ar-AE" sz="1600">
                                        <a:latin typeface="Cambria Math" panose="02040503050406030204" pitchFamily="18" charset="0"/>
                                      </a:rPr>
                                      <m:t>8647</m:t>
                                    </m:r>
                                  </m:den>
                                </m:f>
                                <m:r>
                                  <a:rPr lang="ar-AE" sz="1600">
                                    <a:latin typeface="Cambria Math" panose="02040503050406030204" pitchFamily="18" charset="0"/>
                                  </a:rPr>
                                  <m:t>×</m:t>
                                </m:r>
                                <m:r>
                                  <a:rPr lang="ar-AE" sz="1600">
                                    <a:latin typeface="Cambria Math" panose="02040503050406030204" pitchFamily="18" charset="0"/>
                                  </a:rPr>
                                  <m:t>100</m:t>
                                </m:r>
                                <m:r>
                                  <a:rPr lang="ar-AE" sz="1600">
                                    <a:latin typeface="Cambria Math" panose="02040503050406030204" pitchFamily="18" charset="0"/>
                                  </a:rPr>
                                  <m:t>=</m:t>
                                </m:r>
                                <m:r>
                                  <a:rPr lang="ar-AE" sz="1600">
                                    <a:latin typeface="Cambria Math" panose="02040503050406030204" pitchFamily="18" charset="0"/>
                                  </a:rPr>
                                  <m:t>45</m:t>
                                </m:r>
                                <m:r>
                                  <a:rPr lang="ar-AE" sz="1600">
                                    <a:latin typeface="Cambria Math" panose="02040503050406030204" pitchFamily="18" charset="0"/>
                                  </a:rPr>
                                  <m:t>.</m:t>
                                </m:r>
                                <m:r>
                                  <a:rPr lang="ar-AE" sz="1600">
                                    <a:latin typeface="Cambria Math" panose="02040503050406030204" pitchFamily="18" charset="0"/>
                                  </a:rPr>
                                  <m:t>49</m:t>
                                </m:r>
                                <m:r>
                                  <a:rPr lang="ar-AE" sz="1600">
                                    <a:latin typeface="Cambria Math" panose="02040503050406030204" pitchFamily="18" charset="0"/>
                                  </a:rPr>
                                  <m:t>%</m:t>
                                </m:r>
                              </m:oMath>
                            </m:oMathPara>
                          </a14:m>
                          <a:endParaRPr lang="ar-AE"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94321185"/>
                      </a:ext>
                    </a:extLst>
                  </a:tr>
                  <a:tr h="0">
                    <a:tc>
                      <a:txBody>
                        <a:bodyPr/>
                        <a:lstStyle/>
                        <a:p>
                          <a:pPr>
                            <a:buNone/>
                          </a:pPr>
                          <a:r>
                            <a:rPr lang="en-IN" sz="1600" b="1">
                              <a:latin typeface="Times New Roman" panose="02020603050405020304" pitchFamily="18" charset="0"/>
                              <a:cs typeface="Times New Roman" panose="02020603050405020304" pitchFamily="18" charset="0"/>
                            </a:rPr>
                            <a:t>Storage Reduction Ratio</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r>
                                  <m:rPr>
                                    <m:nor/>
                                  </m:rPr>
                                  <a:rPr lang="en-IN" sz="1600" b="0">
                                    <a:latin typeface="Times New Roman" panose="02020603050405020304" pitchFamily="18" charset="0"/>
                                    <a:cs typeface="Times New Roman" panose="02020603050405020304" pitchFamily="18" charset="0"/>
                                  </a:rPr>
                                  <m:t>SRR</m:t>
                                </m:r>
                                <m:r>
                                  <a:rPr lang="en-IN" sz="1600" b="0">
                                    <a:latin typeface="Cambria Math" panose="02040503050406030204" pitchFamily="18" charset="0"/>
                                  </a:rPr>
                                  <m:t>=</m:t>
                                </m:r>
                                <m:r>
                                  <a:rPr lang="en-IN" sz="1600" b="0">
                                    <a:latin typeface="Cambria Math" panose="02040503050406030204" pitchFamily="18" charset="0"/>
                                  </a:rPr>
                                  <m:t>1</m:t>
                                </m:r>
                                <m:r>
                                  <a:rPr lang="en-IN" sz="1600" b="0">
                                    <a:latin typeface="Cambria Math" panose="02040503050406030204" pitchFamily="18" charset="0"/>
                                  </a:rPr>
                                  <m:t>−</m:t>
                                </m:r>
                                <m:f>
                                  <m:fPr>
                                    <m:ctrlPr>
                                      <a:rPr lang="ar-AE" sz="1600" b="0" i="1">
                                        <a:latin typeface="Cambria Math" panose="02040503050406030204" pitchFamily="18" charset="0"/>
                                      </a:rPr>
                                    </m:ctrlPr>
                                  </m:fPr>
                                  <m:num>
                                    <m:r>
                                      <m:rPr>
                                        <m:nor/>
                                      </m:rPr>
                                      <a:rPr lang="en-IN" sz="1600" b="0">
                                        <a:latin typeface="Times New Roman" panose="02020603050405020304" pitchFamily="18" charset="0"/>
                                        <a:cs typeface="Times New Roman" panose="02020603050405020304" pitchFamily="18" charset="0"/>
                                      </a:rPr>
                                      <m:t>Physical</m:t>
                                    </m:r>
                                    <m:r>
                                      <m:rPr>
                                        <m:nor/>
                                      </m:rPr>
                                      <a:rPr lang="en-IN" sz="1600" b="0">
                                        <a:latin typeface="Times New Roman" panose="02020603050405020304" pitchFamily="18" charset="0"/>
                                        <a:cs typeface="Times New Roman" panose="02020603050405020304" pitchFamily="18" charset="0"/>
                                      </a:rPr>
                                      <m:t> </m:t>
                                    </m:r>
                                    <m:r>
                                      <m:rPr>
                                        <m:nor/>
                                      </m:rPr>
                                      <a:rPr lang="en-IN" sz="1600" b="0">
                                        <a:latin typeface="Times New Roman" panose="02020603050405020304" pitchFamily="18" charset="0"/>
                                        <a:cs typeface="Times New Roman" panose="02020603050405020304" pitchFamily="18" charset="0"/>
                                      </a:rPr>
                                      <m:t>Size</m:t>
                                    </m:r>
                                  </m:num>
                                  <m:den>
                                    <m:r>
                                      <m:rPr>
                                        <m:nor/>
                                      </m:rPr>
                                      <a:rPr lang="en-IN" sz="1600" b="0">
                                        <a:latin typeface="Times New Roman" panose="02020603050405020304" pitchFamily="18" charset="0"/>
                                        <a:cs typeface="Times New Roman" panose="02020603050405020304" pitchFamily="18" charset="0"/>
                                      </a:rPr>
                                      <m:t>Logical</m:t>
                                    </m:r>
                                    <m:r>
                                      <m:rPr>
                                        <m:nor/>
                                      </m:rPr>
                                      <a:rPr lang="en-IN" sz="1600" b="0">
                                        <a:latin typeface="Times New Roman" panose="02020603050405020304" pitchFamily="18" charset="0"/>
                                        <a:cs typeface="Times New Roman" panose="02020603050405020304" pitchFamily="18" charset="0"/>
                                      </a:rPr>
                                      <m:t> </m:t>
                                    </m:r>
                                    <m:r>
                                      <m:rPr>
                                        <m:nor/>
                                      </m:rPr>
                                      <a:rPr lang="en-IN" sz="1600" b="0">
                                        <a:latin typeface="Times New Roman" panose="02020603050405020304" pitchFamily="18" charset="0"/>
                                        <a:cs typeface="Times New Roman" panose="02020603050405020304" pitchFamily="18" charset="0"/>
                                      </a:rPr>
                                      <m:t>Size</m:t>
                                    </m:r>
                                  </m:den>
                                </m:f>
                              </m:oMath>
                            </m:oMathPara>
                          </a14:m>
                          <a:endParaRPr lang="ar-AE"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0" dirty="0">
                              <a:latin typeface="Times New Roman" panose="02020603050405020304" pitchFamily="18" charset="0"/>
                              <a:cs typeface="Times New Roman" panose="02020603050405020304" pitchFamily="18" charset="0"/>
                            </a:rPr>
                            <a:t>Achieved: 65% – 80%</a:t>
                          </a:r>
                        </a:p>
                      </a:txBody>
                      <a:tcPr anchor="ctr"/>
                    </a:tc>
                    <a:extLst>
                      <a:ext uri="{0D108BD9-81ED-4DB2-BD59-A6C34878D82A}">
                        <a16:rowId xmlns:a16="http://schemas.microsoft.com/office/drawing/2014/main" val="4197435425"/>
                      </a:ext>
                    </a:extLst>
                  </a:tr>
                  <a:tr h="0">
                    <a:tc>
                      <a:txBody>
                        <a:bodyPr/>
                        <a:lstStyle/>
                        <a:p>
                          <a:pPr>
                            <a:buNone/>
                          </a:pPr>
                          <a:r>
                            <a:rPr lang="en-IN" sz="1600" b="1">
                              <a:latin typeface="Times New Roman" panose="02020603050405020304" pitchFamily="18" charset="0"/>
                              <a:cs typeface="Times New Roman" panose="02020603050405020304" pitchFamily="18" charset="0"/>
                            </a:rPr>
                            <a:t>Throughput</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14:m>
                            <m:oMathPara xmlns:m="http://schemas.openxmlformats.org/officeDocument/2006/math">
                              <m:oMathParaPr>
                                <m:jc m:val="centerGroup"/>
                              </m:oMathParaPr>
                              <m:oMath xmlns:m="http://schemas.openxmlformats.org/officeDocument/2006/math">
                                <m:r>
                                  <m:rPr>
                                    <m:nor/>
                                  </m:rPr>
                                  <a:rPr lang="en-IN" sz="1600" b="0">
                                    <a:latin typeface="Times New Roman" panose="02020603050405020304" pitchFamily="18" charset="0"/>
                                    <a:cs typeface="Times New Roman" panose="02020603050405020304" pitchFamily="18" charset="0"/>
                                  </a:rPr>
                                  <m:t>Throughput</m:t>
                                </m:r>
                                <m:r>
                                  <a:rPr lang="en-IN" sz="1600" b="0">
                                    <a:latin typeface="Cambria Math" panose="02040503050406030204" pitchFamily="18" charset="0"/>
                                  </a:rPr>
                                  <m:t>=</m:t>
                                </m:r>
                                <m:f>
                                  <m:fPr>
                                    <m:ctrlPr>
                                      <a:rPr lang="ar-AE" sz="1600" b="0" i="1">
                                        <a:latin typeface="Cambria Math" panose="02040503050406030204" pitchFamily="18" charset="0"/>
                                      </a:rPr>
                                    </m:ctrlPr>
                                  </m:fPr>
                                  <m:num>
                                    <m:r>
                                      <m:rPr>
                                        <m:nor/>
                                      </m:rPr>
                                      <a:rPr lang="en-IN" sz="1600" b="0">
                                        <a:latin typeface="Times New Roman" panose="02020603050405020304" pitchFamily="18" charset="0"/>
                                        <a:cs typeface="Times New Roman" panose="02020603050405020304" pitchFamily="18" charset="0"/>
                                      </a:rPr>
                                      <m:t>Processed</m:t>
                                    </m:r>
                                    <m:r>
                                      <m:rPr>
                                        <m:nor/>
                                      </m:rPr>
                                      <a:rPr lang="en-IN" sz="1600" b="0">
                                        <a:latin typeface="Times New Roman" panose="02020603050405020304" pitchFamily="18" charset="0"/>
                                        <a:cs typeface="Times New Roman" panose="02020603050405020304" pitchFamily="18" charset="0"/>
                                      </a:rPr>
                                      <m:t> </m:t>
                                    </m:r>
                                    <m:r>
                                      <m:rPr>
                                        <m:nor/>
                                      </m:rPr>
                                      <a:rPr lang="en-IN" sz="1600" b="0">
                                        <a:latin typeface="Times New Roman" panose="02020603050405020304" pitchFamily="18" charset="0"/>
                                        <a:cs typeface="Times New Roman" panose="02020603050405020304" pitchFamily="18" charset="0"/>
                                      </a:rPr>
                                      <m:t>Chunks</m:t>
                                    </m:r>
                                  </m:num>
                                  <m:den>
                                    <m:r>
                                      <m:rPr>
                                        <m:nor/>
                                      </m:rPr>
                                      <a:rPr lang="en-IN" sz="1600" b="0">
                                        <a:latin typeface="Times New Roman" panose="02020603050405020304" pitchFamily="18" charset="0"/>
                                        <a:cs typeface="Times New Roman" panose="02020603050405020304" pitchFamily="18" charset="0"/>
                                      </a:rPr>
                                      <m:t>Elapsed</m:t>
                                    </m:r>
                                    <m:r>
                                      <m:rPr>
                                        <m:nor/>
                                      </m:rPr>
                                      <a:rPr lang="en-IN" sz="1600" b="0">
                                        <a:latin typeface="Times New Roman" panose="02020603050405020304" pitchFamily="18" charset="0"/>
                                        <a:cs typeface="Times New Roman" panose="02020603050405020304" pitchFamily="18" charset="0"/>
                                      </a:rPr>
                                      <m:t> </m:t>
                                    </m:r>
                                    <m:r>
                                      <m:rPr>
                                        <m:nor/>
                                      </m:rPr>
                                      <a:rPr lang="en-IN" sz="1600" b="0">
                                        <a:latin typeface="Times New Roman" panose="02020603050405020304" pitchFamily="18" charset="0"/>
                                        <a:cs typeface="Times New Roman" panose="02020603050405020304" pitchFamily="18" charset="0"/>
                                      </a:rPr>
                                      <m:t>Time</m:t>
                                    </m:r>
                                  </m:den>
                                </m:f>
                              </m:oMath>
                            </m:oMathPara>
                          </a14:m>
                          <a:endParaRPr lang="ar-AE"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0" dirty="0">
                              <a:latin typeface="Times New Roman" panose="02020603050405020304" pitchFamily="18" charset="0"/>
                              <a:cs typeface="Times New Roman" panose="02020603050405020304" pitchFamily="18" charset="0"/>
                            </a:rPr>
                            <a:t>Achieved: 50,000 chunks/s</a:t>
                          </a:r>
                        </a:p>
                      </a:txBody>
                      <a:tcPr anchor="ctr"/>
                    </a:tc>
                    <a:extLst>
                      <a:ext uri="{0D108BD9-81ED-4DB2-BD59-A6C34878D82A}">
                        <a16:rowId xmlns:a16="http://schemas.microsoft.com/office/drawing/2014/main" val="3479116966"/>
                      </a:ext>
                    </a:extLst>
                  </a:tr>
                  <a:tr h="0">
                    <a:tc>
                      <a:txBody>
                        <a:bodyPr/>
                        <a:lstStyle/>
                        <a:p>
                          <a:pPr>
                            <a:buNone/>
                          </a:pPr>
                          <a:r>
                            <a:rPr lang="en-IN" sz="1600" b="1">
                              <a:latin typeface="Times New Roman" panose="02020603050405020304" pitchFamily="18" charset="0"/>
                              <a:cs typeface="Times New Roman" panose="02020603050405020304" pitchFamily="18" charset="0"/>
                            </a:rPr>
                            <a:t>Deduplication Efficiency</a:t>
                          </a:r>
                          <a:endParaRPr lang="en-IN" sz="1600">
                            <a:latin typeface="Times New Roman" panose="02020603050405020304" pitchFamily="18" charset="0"/>
                            <a:cs typeface="Times New Roman" panose="02020603050405020304" pitchFamily="18" charset="0"/>
                          </a:endParaRPr>
                        </a:p>
                      </a:txBody>
                      <a:tcPr anchor="ctr"/>
                    </a:tc>
                    <a:tc gridSpan="2">
                      <a:txBody>
                        <a:bodyPr/>
                        <a:lstStyle/>
                        <a:p>
                          <a:pPr>
                            <a:buNone/>
                          </a:pPr>
                          <a:r>
                            <a:rPr lang="en-IN" sz="1600" b="0" dirty="0">
                              <a:latin typeface="Times New Roman" panose="02020603050405020304" pitchFamily="18" charset="0"/>
                              <a:cs typeface="Times New Roman" panose="02020603050405020304" pitchFamily="18" charset="0"/>
                            </a:rPr>
                            <a:t>Zipf workload savings: 91.6%</a:t>
                          </a:r>
                        </a:p>
                      </a:txBody>
                      <a:tcPr anchor="ctr"/>
                    </a:tc>
                    <a:tc hMerge="1">
                      <a:txBody>
                        <a:bodyPr/>
                        <a:lstStyle/>
                        <a:p>
                          <a:endParaRPr dirty="0"/>
                        </a:p>
                      </a:txBody>
                      <a:tcPr anchor="ctr"/>
                    </a:tc>
                    <a:extLst>
                      <a:ext uri="{0D108BD9-81ED-4DB2-BD59-A6C34878D82A}">
                        <a16:rowId xmlns:a16="http://schemas.microsoft.com/office/drawing/2014/main" val="3049852688"/>
                      </a:ext>
                    </a:extLst>
                  </a:tr>
                </a:tbl>
              </a:graphicData>
            </a:graphic>
          </p:graphicFrame>
        </mc:Choice>
        <mc:Fallback xmlns="">
          <p:graphicFrame>
            <p:nvGraphicFramePr>
              <p:cNvPr id="2" name="Table 1">
                <a:extLst>
                  <a:ext uri="{FF2B5EF4-FFF2-40B4-BE49-F238E27FC236}">
                    <a16:creationId xmlns:a16="http://schemas.microsoft.com/office/drawing/2014/main" id="{BB0488EB-3A96-0518-1F60-F3E9009A8DF1}"/>
                  </a:ext>
                </a:extLst>
              </p:cNvPr>
              <p:cNvGraphicFramePr>
                <a:graphicFrameLocks noGrp="1"/>
              </p:cNvGraphicFramePr>
              <p:nvPr>
                <p:extLst>
                  <p:ext uri="{D42A27DB-BD31-4B8C-83A1-F6EECF244321}">
                    <p14:modId xmlns:p14="http://schemas.microsoft.com/office/powerpoint/2010/main" val="2911919185"/>
                  </p:ext>
                </p:extLst>
              </p:nvPr>
            </p:nvGraphicFramePr>
            <p:xfrm>
              <a:off x="975851" y="1882075"/>
              <a:ext cx="10832690" cy="4230435"/>
            </p:xfrm>
            <a:graphic>
              <a:graphicData uri="http://schemas.openxmlformats.org/drawingml/2006/table">
                <a:tbl>
                  <a:tblPr>
                    <a:tableStyleId>{FCE49B7E-5F19-4CB0-BCE9-EA4782633ABD}</a:tableStyleId>
                  </a:tblPr>
                  <a:tblGrid>
                    <a:gridCol w="2630941">
                      <a:extLst>
                        <a:ext uri="{9D8B030D-6E8A-4147-A177-3AD203B41FA5}">
                          <a16:colId xmlns:a16="http://schemas.microsoft.com/office/drawing/2014/main" val="786333640"/>
                        </a:ext>
                      </a:extLst>
                    </a:gridCol>
                    <a:gridCol w="4590853">
                      <a:extLst>
                        <a:ext uri="{9D8B030D-6E8A-4147-A177-3AD203B41FA5}">
                          <a16:colId xmlns:a16="http://schemas.microsoft.com/office/drawing/2014/main" val="1683625164"/>
                        </a:ext>
                      </a:extLst>
                    </a:gridCol>
                    <a:gridCol w="3610896">
                      <a:extLst>
                        <a:ext uri="{9D8B030D-6E8A-4147-A177-3AD203B41FA5}">
                          <a16:colId xmlns:a16="http://schemas.microsoft.com/office/drawing/2014/main" val="1360104919"/>
                        </a:ext>
                      </a:extLst>
                    </a:gridCol>
                  </a:tblGrid>
                  <a:tr h="335280">
                    <a:tc>
                      <a:txBody>
                        <a:bodyPr/>
                        <a:lstStyle/>
                        <a:p>
                          <a:pPr>
                            <a:buNone/>
                          </a:pPr>
                          <a:r>
                            <a:rPr lang="en-IN" sz="1600" b="1" dirty="0">
                              <a:latin typeface="Times New Roman" panose="02020603050405020304" pitchFamily="18" charset="0"/>
                              <a:cs typeface="Times New Roman" panose="02020603050405020304" pitchFamily="18" charset="0"/>
                            </a:rPr>
                            <a:t>Section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Formula / Expression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Key Details</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07939472"/>
                      </a:ext>
                    </a:extLst>
                  </a:tr>
                  <a:tr h="1066800">
                    <a:tc>
                      <a:txBody>
                        <a:bodyPr/>
                        <a:lstStyle/>
                        <a:p>
                          <a:pPr>
                            <a:buNone/>
                          </a:pPr>
                          <a:r>
                            <a:rPr lang="en-IN" sz="1600" b="1">
                              <a:latin typeface="Times New Roman" panose="02020603050405020304" pitchFamily="18" charset="0"/>
                              <a:cs typeface="Times New Roman" panose="02020603050405020304" pitchFamily="18" charset="0"/>
                            </a:rPr>
                            <a:t>Policy Decision</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7503" t="-32571" r="-79017" b="-273143"/>
                          </a:stretch>
                        </a:blipFill>
                      </a:tcPr>
                    </a:tc>
                    <a:tc>
                      <a:txBody>
                        <a:bodyPr/>
                        <a:lstStyle/>
                        <a:p>
                          <a:endParaRPr lang="en-US"/>
                        </a:p>
                      </a:txBody>
                      <a:tcPr anchor="ctr">
                        <a:blipFill>
                          <a:blip r:embed="rId3"/>
                          <a:stretch>
                            <a:fillRect l="-200000" t="-32571" r="-337" b="-273143"/>
                          </a:stretch>
                        </a:blipFill>
                      </a:tcPr>
                    </a:tc>
                    <a:extLst>
                      <a:ext uri="{0D108BD9-81ED-4DB2-BD59-A6C34878D82A}">
                        <a16:rowId xmlns:a16="http://schemas.microsoft.com/office/drawing/2014/main" val="3306447264"/>
                      </a:ext>
                    </a:extLst>
                  </a:tr>
                  <a:tr h="639318">
                    <a:tc>
                      <a:txBody>
                        <a:bodyPr/>
                        <a:lstStyle/>
                        <a:p>
                          <a:pPr>
                            <a:buNone/>
                          </a:pPr>
                          <a:r>
                            <a:rPr lang="en-IN" sz="1600" b="1">
                              <a:latin typeface="Times New Roman" panose="02020603050405020304" pitchFamily="18" charset="0"/>
                              <a:cs typeface="Times New Roman" panose="02020603050405020304" pitchFamily="18" charset="0"/>
                            </a:rPr>
                            <a:t>OCSVM Risk Score</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7503" t="-220952" r="-79017" b="-355238"/>
                          </a:stretch>
                        </a:blipFill>
                      </a:tcPr>
                    </a:tc>
                    <a:tc>
                      <a:txBody>
                        <a:bodyPr/>
                        <a:lstStyle/>
                        <a:p>
                          <a:endParaRPr lang="en-US"/>
                        </a:p>
                      </a:txBody>
                      <a:tcPr anchor="ctr">
                        <a:blipFill>
                          <a:blip r:embed="rId3"/>
                          <a:stretch>
                            <a:fillRect l="-200000" t="-220952" r="-337" b="-355238"/>
                          </a:stretch>
                        </a:blipFill>
                      </a:tcPr>
                    </a:tc>
                    <a:extLst>
                      <a:ext uri="{0D108BD9-81ED-4DB2-BD59-A6C34878D82A}">
                        <a16:rowId xmlns:a16="http://schemas.microsoft.com/office/drawing/2014/main" val="569665093"/>
                      </a:ext>
                    </a:extLst>
                  </a:tr>
                  <a:tr h="662242">
                    <a:tc>
                      <a:txBody>
                        <a:bodyPr/>
                        <a:lstStyle/>
                        <a:p>
                          <a:pPr>
                            <a:buNone/>
                          </a:pPr>
                          <a:r>
                            <a:rPr lang="en-IN" sz="1600" b="1">
                              <a:latin typeface="Times New Roman" panose="02020603050405020304" pitchFamily="18" charset="0"/>
                              <a:cs typeface="Times New Roman" panose="02020603050405020304" pitchFamily="18" charset="0"/>
                            </a:rPr>
                            <a:t>Attacker Success Reduction</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7503" t="-309174" r="-79017" b="-242202"/>
                          </a:stretch>
                        </a:blipFill>
                      </a:tcPr>
                    </a:tc>
                    <a:tc>
                      <a:txBody>
                        <a:bodyPr/>
                        <a:lstStyle/>
                        <a:p>
                          <a:endParaRPr lang="en-US"/>
                        </a:p>
                      </a:txBody>
                      <a:tcPr anchor="ctr">
                        <a:blipFill>
                          <a:blip r:embed="rId3"/>
                          <a:stretch>
                            <a:fillRect l="-200000" t="-309174" r="-337" b="-242202"/>
                          </a:stretch>
                        </a:blipFill>
                      </a:tcPr>
                    </a:tc>
                    <a:extLst>
                      <a:ext uri="{0D108BD9-81ED-4DB2-BD59-A6C34878D82A}">
                        <a16:rowId xmlns:a16="http://schemas.microsoft.com/office/drawing/2014/main" val="2094321185"/>
                      </a:ext>
                    </a:extLst>
                  </a:tr>
                  <a:tr h="595948">
                    <a:tc>
                      <a:txBody>
                        <a:bodyPr/>
                        <a:lstStyle/>
                        <a:p>
                          <a:pPr>
                            <a:buNone/>
                          </a:pPr>
                          <a:r>
                            <a:rPr lang="en-IN" sz="1600" b="1">
                              <a:latin typeface="Times New Roman" panose="02020603050405020304" pitchFamily="18" charset="0"/>
                              <a:cs typeface="Times New Roman" panose="02020603050405020304" pitchFamily="18" charset="0"/>
                            </a:rPr>
                            <a:t>Storage Reduction Ratio</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7503" t="-455102" r="-79017" b="-169388"/>
                          </a:stretch>
                        </a:blipFill>
                      </a:tcPr>
                    </a:tc>
                    <a:tc>
                      <a:txBody>
                        <a:bodyPr/>
                        <a:lstStyle/>
                        <a:p>
                          <a:pPr>
                            <a:buNone/>
                          </a:pPr>
                          <a:r>
                            <a:rPr lang="en-IN" sz="1600" b="0" dirty="0">
                              <a:latin typeface="Times New Roman" panose="02020603050405020304" pitchFamily="18" charset="0"/>
                              <a:cs typeface="Times New Roman" panose="02020603050405020304" pitchFamily="18" charset="0"/>
                            </a:rPr>
                            <a:t>Achieved: 65% – 80%</a:t>
                          </a:r>
                        </a:p>
                      </a:txBody>
                      <a:tcPr anchor="ctr"/>
                    </a:tc>
                    <a:extLst>
                      <a:ext uri="{0D108BD9-81ED-4DB2-BD59-A6C34878D82A}">
                        <a16:rowId xmlns:a16="http://schemas.microsoft.com/office/drawing/2014/main" val="4197435425"/>
                      </a:ext>
                    </a:extLst>
                  </a:tr>
                  <a:tr h="595567">
                    <a:tc>
                      <a:txBody>
                        <a:bodyPr/>
                        <a:lstStyle/>
                        <a:p>
                          <a:pPr>
                            <a:buNone/>
                          </a:pPr>
                          <a:r>
                            <a:rPr lang="en-IN" sz="1600" b="1">
                              <a:latin typeface="Times New Roman" panose="02020603050405020304" pitchFamily="18" charset="0"/>
                              <a:cs typeface="Times New Roman" panose="02020603050405020304" pitchFamily="18" charset="0"/>
                            </a:rPr>
                            <a:t>Throughput</a:t>
                          </a:r>
                          <a:endParaRPr lang="en-IN" sz="1600">
                            <a:latin typeface="Times New Roman" panose="02020603050405020304" pitchFamily="18" charset="0"/>
                            <a:cs typeface="Times New Roman" panose="02020603050405020304" pitchFamily="18" charset="0"/>
                          </a:endParaRPr>
                        </a:p>
                      </a:txBody>
                      <a:tcPr anchor="ctr"/>
                    </a:tc>
                    <a:tc>
                      <a:txBody>
                        <a:bodyPr/>
                        <a:lstStyle/>
                        <a:p>
                          <a:endParaRPr lang="en-US"/>
                        </a:p>
                      </a:txBody>
                      <a:tcPr anchor="ctr">
                        <a:blipFill>
                          <a:blip r:embed="rId3"/>
                          <a:stretch>
                            <a:fillRect l="-57503" t="-555102" r="-79017" b="-69388"/>
                          </a:stretch>
                        </a:blipFill>
                      </a:tcPr>
                    </a:tc>
                    <a:tc>
                      <a:txBody>
                        <a:bodyPr/>
                        <a:lstStyle/>
                        <a:p>
                          <a:pPr>
                            <a:buNone/>
                          </a:pPr>
                          <a:r>
                            <a:rPr lang="en-IN" sz="1600" b="0" dirty="0">
                              <a:latin typeface="Times New Roman" panose="02020603050405020304" pitchFamily="18" charset="0"/>
                              <a:cs typeface="Times New Roman" panose="02020603050405020304" pitchFamily="18" charset="0"/>
                            </a:rPr>
                            <a:t>Achieved: 50,000 chunks/s</a:t>
                          </a:r>
                        </a:p>
                      </a:txBody>
                      <a:tcPr anchor="ctr"/>
                    </a:tc>
                    <a:extLst>
                      <a:ext uri="{0D108BD9-81ED-4DB2-BD59-A6C34878D82A}">
                        <a16:rowId xmlns:a16="http://schemas.microsoft.com/office/drawing/2014/main" val="3479116966"/>
                      </a:ext>
                    </a:extLst>
                  </a:tr>
                  <a:tr h="335280">
                    <a:tc>
                      <a:txBody>
                        <a:bodyPr/>
                        <a:lstStyle/>
                        <a:p>
                          <a:pPr>
                            <a:buNone/>
                          </a:pPr>
                          <a:r>
                            <a:rPr lang="en-IN" sz="1600" b="1">
                              <a:latin typeface="Times New Roman" panose="02020603050405020304" pitchFamily="18" charset="0"/>
                              <a:cs typeface="Times New Roman" panose="02020603050405020304" pitchFamily="18" charset="0"/>
                            </a:rPr>
                            <a:t>Deduplication Efficiency</a:t>
                          </a:r>
                          <a:endParaRPr lang="en-IN" sz="1600">
                            <a:latin typeface="Times New Roman" panose="02020603050405020304" pitchFamily="18" charset="0"/>
                            <a:cs typeface="Times New Roman" panose="02020603050405020304" pitchFamily="18" charset="0"/>
                          </a:endParaRPr>
                        </a:p>
                      </a:txBody>
                      <a:tcPr anchor="ctr"/>
                    </a:tc>
                    <a:tc gridSpan="2">
                      <a:txBody>
                        <a:bodyPr/>
                        <a:lstStyle/>
                        <a:p>
                          <a:pPr>
                            <a:buNone/>
                          </a:pPr>
                          <a:r>
                            <a:rPr lang="en-IN" sz="1600" b="0" dirty="0">
                              <a:latin typeface="Times New Roman" panose="02020603050405020304" pitchFamily="18" charset="0"/>
                              <a:cs typeface="Times New Roman" panose="02020603050405020304" pitchFamily="18" charset="0"/>
                            </a:rPr>
                            <a:t>Zipf workload savings: 91.6%</a:t>
                          </a:r>
                        </a:p>
                      </a:txBody>
                      <a:tcPr anchor="ctr"/>
                    </a:tc>
                    <a:tc hMerge="1">
                      <a:txBody>
                        <a:bodyPr/>
                        <a:lstStyle/>
                        <a:p>
                          <a:endParaRPr dirty="0"/>
                        </a:p>
                      </a:txBody>
                      <a:tcPr anchor="ctr"/>
                    </a:tc>
                    <a:extLst>
                      <a:ext uri="{0D108BD9-81ED-4DB2-BD59-A6C34878D82A}">
                        <a16:rowId xmlns:a16="http://schemas.microsoft.com/office/drawing/2014/main" val="3049852688"/>
                      </a:ext>
                    </a:extLst>
                  </a:tr>
                </a:tbl>
              </a:graphicData>
            </a:graphic>
          </p:graphicFrame>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5"/>
          <p:cNvSpPr txBox="1">
            <a:spLocks noGrp="1"/>
          </p:cNvSpPr>
          <p:nvPr>
            <p:ph type="title"/>
          </p:nvPr>
        </p:nvSpPr>
        <p:spPr>
          <a:xfrm>
            <a:off x="884400" y="-18018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Results - Supervised Detection (Random Forest)</a:t>
            </a:r>
            <a:endParaRPr sz="3600" dirty="0">
              <a:latin typeface="Times New Roman"/>
              <a:ea typeface="Times New Roman"/>
              <a:cs typeface="Times New Roman"/>
              <a:sym typeface="Times New Roman"/>
            </a:endParaRPr>
          </a:p>
        </p:txBody>
      </p:sp>
      <p:sp>
        <p:nvSpPr>
          <p:cNvPr id="358" name="Google Shape;358;p35"/>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59" name="Google Shape;35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30</a:t>
            </a:fld>
            <a:endParaRPr/>
          </a:p>
        </p:txBody>
      </p:sp>
      <p:sp>
        <p:nvSpPr>
          <p:cNvPr id="9011" name="Res_Supervised"/>
          <p:cNvSpPr txBox="1"/>
          <p:nvPr/>
        </p:nvSpPr>
        <p:spPr>
          <a:xfrm>
            <a:off x="200000" y="1400000"/>
            <a:ext cx="11200000" cy="5100000"/>
          </a:xfrm>
          <a:prstGeom prst="rect">
            <a:avLst/>
          </a:prstGeom>
          <a:noFill/>
          <a:ln>
            <a:noFill/>
          </a:ln>
        </p:spPr>
        <p:txBody>
          <a:bodyPr spcFirstLastPara="1" wrap="square" lIns="91425" tIns="45700" rIns="91425" bIns="45700" anchor="t" anchorCtr="0">
            <a:normAutofit/>
          </a:bodyPr>
          <a:lstStyle/>
          <a:p>
            <a:pPr marL="0" lvl="0" indent="0" algn="l" rtl="0">
              <a:lnSpc>
                <a:spcPts val="1100"/>
              </a:lnSpc>
              <a:spcBef>
                <a:spcPts val="0"/>
              </a:spcBef>
              <a:spcAft>
                <a:spcPts val="0"/>
              </a:spcAft>
              <a:buNone/>
            </a:pPr>
            <a:endParaRPr dirty="0"/>
          </a:p>
        </p:txBody>
      </p:sp>
      <p:graphicFrame>
        <p:nvGraphicFramePr>
          <p:cNvPr id="2" name="Table 1">
            <a:extLst>
              <a:ext uri="{FF2B5EF4-FFF2-40B4-BE49-F238E27FC236}">
                <a16:creationId xmlns:a16="http://schemas.microsoft.com/office/drawing/2014/main" id="{9619BE15-CDBE-AAF8-6206-420A0FED5F8E}"/>
              </a:ext>
            </a:extLst>
          </p:cNvPr>
          <p:cNvGraphicFramePr>
            <a:graphicFrameLocks noGrp="1"/>
          </p:cNvGraphicFramePr>
          <p:nvPr>
            <p:extLst>
              <p:ext uri="{D42A27DB-BD31-4B8C-83A1-F6EECF244321}">
                <p14:modId xmlns:p14="http://schemas.microsoft.com/office/powerpoint/2010/main" val="4026025028"/>
              </p:ext>
            </p:extLst>
          </p:nvPr>
        </p:nvGraphicFramePr>
        <p:xfrm>
          <a:off x="1642137" y="890751"/>
          <a:ext cx="8340063" cy="5694516"/>
        </p:xfrm>
        <a:graphic>
          <a:graphicData uri="http://schemas.openxmlformats.org/drawingml/2006/table">
            <a:tbl>
              <a:tblPr>
                <a:tableStyleId>{FCE49B7E-5F19-4CB0-BCE9-EA4782633ABD}</a:tableStyleId>
              </a:tblPr>
              <a:tblGrid>
                <a:gridCol w="2780021">
                  <a:extLst>
                    <a:ext uri="{9D8B030D-6E8A-4147-A177-3AD203B41FA5}">
                      <a16:colId xmlns:a16="http://schemas.microsoft.com/office/drawing/2014/main" val="3693224349"/>
                    </a:ext>
                  </a:extLst>
                </a:gridCol>
                <a:gridCol w="2780021">
                  <a:extLst>
                    <a:ext uri="{9D8B030D-6E8A-4147-A177-3AD203B41FA5}">
                      <a16:colId xmlns:a16="http://schemas.microsoft.com/office/drawing/2014/main" val="825707017"/>
                    </a:ext>
                  </a:extLst>
                </a:gridCol>
                <a:gridCol w="2780021">
                  <a:extLst>
                    <a:ext uri="{9D8B030D-6E8A-4147-A177-3AD203B41FA5}">
                      <a16:colId xmlns:a16="http://schemas.microsoft.com/office/drawing/2014/main" val="2161931370"/>
                    </a:ext>
                  </a:extLst>
                </a:gridCol>
              </a:tblGrid>
              <a:tr h="241741">
                <a:tc>
                  <a:txBody>
                    <a:bodyPr/>
                    <a:lstStyle/>
                    <a:p>
                      <a:pPr>
                        <a:buNone/>
                      </a:pPr>
                      <a:r>
                        <a:rPr lang="en-IN" sz="1600" b="1">
                          <a:latin typeface="Times New Roman" panose="02020603050405020304" pitchFamily="18" charset="0"/>
                          <a:cs typeface="Times New Roman" panose="02020603050405020304" pitchFamily="18" charset="0"/>
                        </a:rPr>
                        <a:t>Category</a:t>
                      </a:r>
                      <a:endParaRPr lang="en-IN" sz="1600">
                        <a:latin typeface="Times New Roman" panose="02020603050405020304" pitchFamily="18" charset="0"/>
                        <a:cs typeface="Times New Roman" panose="02020603050405020304" pitchFamily="18" charset="0"/>
                      </a:endParaRPr>
                    </a:p>
                  </a:txBody>
                  <a:tcPr marL="72522" marR="72522" marT="36261" marB="36261" anchor="ctr"/>
                </a:tc>
                <a:tc>
                  <a:txBody>
                    <a:bodyPr/>
                    <a:lstStyle/>
                    <a:p>
                      <a:pPr>
                        <a:buNone/>
                      </a:pPr>
                      <a:r>
                        <a:rPr lang="en-IN" sz="1600" b="1">
                          <a:latin typeface="Times New Roman" panose="02020603050405020304" pitchFamily="18" charset="0"/>
                          <a:cs typeface="Times New Roman" panose="02020603050405020304" pitchFamily="18" charset="0"/>
                        </a:rPr>
                        <a:t>Metric</a:t>
                      </a:r>
                      <a:endParaRPr lang="en-IN" sz="1600">
                        <a:latin typeface="Times New Roman" panose="02020603050405020304" pitchFamily="18" charset="0"/>
                        <a:cs typeface="Times New Roman" panose="02020603050405020304" pitchFamily="18" charset="0"/>
                      </a:endParaRPr>
                    </a:p>
                  </a:txBody>
                  <a:tcPr marL="72522" marR="72522" marT="36261" marB="36261" anchor="ctr"/>
                </a:tc>
                <a:tc>
                  <a:txBody>
                    <a:bodyPr/>
                    <a:lstStyle/>
                    <a:p>
                      <a:pPr>
                        <a:buNone/>
                      </a:pPr>
                      <a:r>
                        <a:rPr lang="en-IN" sz="1600" b="1">
                          <a:latin typeface="Times New Roman" panose="02020603050405020304" pitchFamily="18" charset="0"/>
                          <a:cs typeface="Times New Roman" panose="02020603050405020304" pitchFamily="18" charset="0"/>
                        </a:rPr>
                        <a:t>Value</a:t>
                      </a:r>
                      <a:endParaRPr lang="en-IN" sz="1600">
                        <a:latin typeface="Times New Roman" panose="02020603050405020304" pitchFamily="18" charset="0"/>
                        <a:cs typeface="Times New Roman" panose="02020603050405020304" pitchFamily="18" charset="0"/>
                      </a:endParaRPr>
                    </a:p>
                  </a:txBody>
                  <a:tcPr marL="72522" marR="72522" marT="36261" marB="36261" anchor="ctr"/>
                </a:tc>
                <a:extLst>
                  <a:ext uri="{0D108BD9-81ED-4DB2-BD59-A6C34878D82A}">
                    <a16:rowId xmlns:a16="http://schemas.microsoft.com/office/drawing/2014/main" val="3475469529"/>
                  </a:ext>
                </a:extLst>
              </a:tr>
              <a:tr h="241741">
                <a:tc rowSpan="5">
                  <a:txBody>
                    <a:bodyPr/>
                    <a:lstStyle/>
                    <a:p>
                      <a:pPr>
                        <a:buNone/>
                      </a:pPr>
                      <a:r>
                        <a:rPr lang="en-IN" sz="1600" b="1" dirty="0">
                          <a:latin typeface="Times New Roman" panose="02020603050405020304" pitchFamily="18" charset="0"/>
                          <a:cs typeface="Times New Roman" panose="02020603050405020304" pitchFamily="18" charset="0"/>
                        </a:rPr>
                        <a:t>Performance</a:t>
                      </a:r>
                      <a:endParaRPr lang="en-IN" sz="1600" dirty="0">
                        <a:latin typeface="Times New Roman" panose="02020603050405020304" pitchFamily="18" charset="0"/>
                        <a:cs typeface="Times New Roman" panose="02020603050405020304" pitchFamily="18" charset="0"/>
                      </a:endParaRP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PR-AUC</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0.9686</a:t>
                      </a:r>
                    </a:p>
                  </a:txBody>
                  <a:tcPr marL="72522" marR="72522" marT="36261" marB="36261" anchor="ctr"/>
                </a:tc>
                <a:extLst>
                  <a:ext uri="{0D108BD9-81ED-4DB2-BD59-A6C34878D82A}">
                    <a16:rowId xmlns:a16="http://schemas.microsoft.com/office/drawing/2014/main" val="1387367342"/>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F1-Score (Binary)</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0.8990</a:t>
                      </a:r>
                    </a:p>
                  </a:txBody>
                  <a:tcPr marL="72522" marR="72522" marT="36261" marB="36261" anchor="ctr"/>
                </a:tc>
                <a:extLst>
                  <a:ext uri="{0D108BD9-81ED-4DB2-BD59-A6C34878D82A}">
                    <a16:rowId xmlns:a16="http://schemas.microsoft.com/office/drawing/2014/main" val="1149823669"/>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Precision</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0.8898</a:t>
                      </a:r>
                    </a:p>
                  </a:txBody>
                  <a:tcPr marL="72522" marR="72522" marT="36261" marB="36261" anchor="ctr"/>
                </a:tc>
                <a:extLst>
                  <a:ext uri="{0D108BD9-81ED-4DB2-BD59-A6C34878D82A}">
                    <a16:rowId xmlns:a16="http://schemas.microsoft.com/office/drawing/2014/main" val="1620171164"/>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Recall</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0.9083</a:t>
                      </a:r>
                    </a:p>
                  </a:txBody>
                  <a:tcPr marL="72522" marR="72522" marT="36261" marB="36261" anchor="ctr"/>
                </a:tc>
                <a:extLst>
                  <a:ext uri="{0D108BD9-81ED-4DB2-BD59-A6C34878D82A}">
                    <a16:rowId xmlns:a16="http://schemas.microsoft.com/office/drawing/2014/main" val="356571936"/>
                  </a:ext>
                </a:extLst>
              </a:tr>
              <a:tr h="241741">
                <a:tc vMerge="1">
                  <a:txBody>
                    <a:bodyPr/>
                    <a:lstStyle/>
                    <a:p>
                      <a:pPr>
                        <a:buNone/>
                      </a:pPr>
                      <a:endParaRPr lang="en-IN" sz="1400" dirty="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Multiclass Macro-F1</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0.8924</a:t>
                      </a:r>
                    </a:p>
                  </a:txBody>
                  <a:tcPr marL="72522" marR="72522" marT="36261" marB="36261" anchor="ctr"/>
                </a:tc>
                <a:extLst>
                  <a:ext uri="{0D108BD9-81ED-4DB2-BD59-A6C34878D82A}">
                    <a16:rowId xmlns:a16="http://schemas.microsoft.com/office/drawing/2014/main" val="1141172279"/>
                  </a:ext>
                </a:extLst>
              </a:tr>
              <a:tr h="241741">
                <a:tc rowSpan="4">
                  <a:txBody>
                    <a:bodyPr/>
                    <a:lstStyle/>
                    <a:p>
                      <a:pPr>
                        <a:buNone/>
                      </a:pPr>
                      <a:r>
                        <a:rPr lang="en-IN" sz="1600" b="1" dirty="0">
                          <a:latin typeface="Times New Roman" panose="02020603050405020304" pitchFamily="18" charset="0"/>
                          <a:cs typeface="Times New Roman" panose="02020603050405020304" pitchFamily="18" charset="0"/>
                        </a:rPr>
                        <a:t>Confusion Matrix</a:t>
                      </a:r>
                      <a:endParaRPr lang="en-IN" sz="1600" dirty="0">
                        <a:latin typeface="Times New Roman" panose="02020603050405020304" pitchFamily="18" charset="0"/>
                        <a:cs typeface="Times New Roman" panose="02020603050405020304" pitchFamily="18" charset="0"/>
                      </a:endParaRP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True Positives (TP)</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218</a:t>
                      </a:r>
                    </a:p>
                  </a:txBody>
                  <a:tcPr marL="72522" marR="72522" marT="36261" marB="36261" anchor="ctr"/>
                </a:tc>
                <a:extLst>
                  <a:ext uri="{0D108BD9-81ED-4DB2-BD59-A6C34878D82A}">
                    <a16:rowId xmlns:a16="http://schemas.microsoft.com/office/drawing/2014/main" val="2866320462"/>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True Negatives (TN)</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393</a:t>
                      </a:r>
                    </a:p>
                  </a:txBody>
                  <a:tcPr marL="72522" marR="72522" marT="36261" marB="36261" anchor="ctr"/>
                </a:tc>
                <a:extLst>
                  <a:ext uri="{0D108BD9-81ED-4DB2-BD59-A6C34878D82A}">
                    <a16:rowId xmlns:a16="http://schemas.microsoft.com/office/drawing/2014/main" val="2508418339"/>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False Positives (FP)</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27</a:t>
                      </a:r>
                    </a:p>
                  </a:txBody>
                  <a:tcPr marL="72522" marR="72522" marT="36261" marB="36261" anchor="ctr"/>
                </a:tc>
                <a:extLst>
                  <a:ext uri="{0D108BD9-81ED-4DB2-BD59-A6C34878D82A}">
                    <a16:rowId xmlns:a16="http://schemas.microsoft.com/office/drawing/2014/main" val="308717758"/>
                  </a:ext>
                </a:extLst>
              </a:tr>
              <a:tr h="241741">
                <a:tc vMerge="1">
                  <a:txBody>
                    <a:bodyPr/>
                    <a:lstStyle/>
                    <a:p>
                      <a:pPr>
                        <a:buNone/>
                      </a:pPr>
                      <a:endParaRPr lang="en-IN" sz="1400" dirty="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False Negatives (FN)</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22</a:t>
                      </a:r>
                    </a:p>
                  </a:txBody>
                  <a:tcPr marL="72522" marR="72522" marT="36261" marB="36261" anchor="ctr"/>
                </a:tc>
                <a:extLst>
                  <a:ext uri="{0D108BD9-81ED-4DB2-BD59-A6C34878D82A}">
                    <a16:rowId xmlns:a16="http://schemas.microsoft.com/office/drawing/2014/main" val="4247797791"/>
                  </a:ext>
                </a:extLst>
              </a:tr>
              <a:tr h="241741">
                <a:tc rowSpan="4">
                  <a:txBody>
                    <a:bodyPr/>
                    <a:lstStyle/>
                    <a:p>
                      <a:pPr>
                        <a:buNone/>
                      </a:pPr>
                      <a:r>
                        <a:rPr lang="en-IN" sz="1600" b="1" dirty="0">
                          <a:latin typeface="Times New Roman" panose="02020603050405020304" pitchFamily="18" charset="0"/>
                          <a:cs typeface="Times New Roman" panose="02020603050405020304" pitchFamily="18" charset="0"/>
                        </a:rPr>
                        <a:t>Per-Class F1</a:t>
                      </a:r>
                      <a:endParaRPr lang="en-IN" sz="1600" dirty="0">
                        <a:latin typeface="Times New Roman" panose="02020603050405020304" pitchFamily="18" charset="0"/>
                        <a:cs typeface="Times New Roman" panose="02020603050405020304" pitchFamily="18" charset="0"/>
                      </a:endParaRP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Normal</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1.0000</a:t>
                      </a:r>
                    </a:p>
                  </a:txBody>
                  <a:tcPr marL="72522" marR="72522" marT="36261" marB="36261" anchor="ctr"/>
                </a:tc>
                <a:extLst>
                  <a:ext uri="{0D108BD9-81ED-4DB2-BD59-A6C34878D82A}">
                    <a16:rowId xmlns:a16="http://schemas.microsoft.com/office/drawing/2014/main" val="203169014"/>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Hash Probing</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0.8810</a:t>
                      </a:r>
                    </a:p>
                  </a:txBody>
                  <a:tcPr marL="72522" marR="72522" marT="36261" marB="36261" anchor="ctr"/>
                </a:tc>
                <a:extLst>
                  <a:ext uri="{0D108BD9-81ED-4DB2-BD59-A6C34878D82A}">
                    <a16:rowId xmlns:a16="http://schemas.microsoft.com/office/drawing/2014/main" val="3648660003"/>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Ownership Fraud</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0.7763</a:t>
                      </a:r>
                    </a:p>
                  </a:txBody>
                  <a:tcPr marL="72522" marR="72522" marT="36261" marB="36261" anchor="ctr"/>
                </a:tc>
                <a:extLst>
                  <a:ext uri="{0D108BD9-81ED-4DB2-BD59-A6C34878D82A}">
                    <a16:rowId xmlns:a16="http://schemas.microsoft.com/office/drawing/2014/main" val="1682037236"/>
                  </a:ext>
                </a:extLst>
              </a:tr>
              <a:tr h="241741">
                <a:tc vMerge="1">
                  <a:txBody>
                    <a:bodyPr/>
                    <a:lstStyle/>
                    <a:p>
                      <a:pPr>
                        <a:buNone/>
                      </a:pPr>
                      <a:endParaRPr lang="en-IN" sz="1400" dirty="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Deduplication DoS</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0.9048</a:t>
                      </a:r>
                    </a:p>
                  </a:txBody>
                  <a:tcPr marL="72522" marR="72522" marT="36261" marB="36261" anchor="ctr"/>
                </a:tc>
                <a:extLst>
                  <a:ext uri="{0D108BD9-81ED-4DB2-BD59-A6C34878D82A}">
                    <a16:rowId xmlns:a16="http://schemas.microsoft.com/office/drawing/2014/main" val="2195678021"/>
                  </a:ext>
                </a:extLst>
              </a:tr>
              <a:tr h="241741">
                <a:tc rowSpan="4">
                  <a:txBody>
                    <a:bodyPr/>
                    <a:lstStyle/>
                    <a:p>
                      <a:pPr>
                        <a:buNone/>
                      </a:pPr>
                      <a:r>
                        <a:rPr lang="en-IN" sz="1600" b="1" dirty="0">
                          <a:latin typeface="Times New Roman" panose="02020603050405020304" pitchFamily="18" charset="0"/>
                          <a:cs typeface="Times New Roman" panose="02020603050405020304" pitchFamily="18" charset="0"/>
                        </a:rPr>
                        <a:t>Training Details</a:t>
                      </a:r>
                      <a:endParaRPr lang="en-IN" sz="1600" dirty="0">
                        <a:latin typeface="Times New Roman" panose="02020603050405020304" pitchFamily="18" charset="0"/>
                        <a:cs typeface="Times New Roman" panose="02020603050405020304" pitchFamily="18" charset="0"/>
                      </a:endParaRP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Dataset Size</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2200</a:t>
                      </a:r>
                    </a:p>
                  </a:txBody>
                  <a:tcPr marL="72522" marR="72522" marT="36261" marB="36261" anchor="ctr"/>
                </a:tc>
                <a:extLst>
                  <a:ext uri="{0D108BD9-81ED-4DB2-BD59-A6C34878D82A}">
                    <a16:rowId xmlns:a16="http://schemas.microsoft.com/office/drawing/2014/main" val="3256303341"/>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Benign / Attack</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1400 / 800</a:t>
                      </a:r>
                    </a:p>
                  </a:txBody>
                  <a:tcPr marL="72522" marR="72522" marT="36261" marB="36261" anchor="ctr"/>
                </a:tc>
                <a:extLst>
                  <a:ext uri="{0D108BD9-81ED-4DB2-BD59-A6C34878D82A}">
                    <a16:rowId xmlns:a16="http://schemas.microsoft.com/office/drawing/2014/main" val="3520921937"/>
                  </a:ext>
                </a:extLst>
              </a:tr>
              <a:tr h="241741">
                <a:tc vMerge="1">
                  <a:txBody>
                    <a:bodyPr/>
                    <a:lstStyle/>
                    <a:p>
                      <a:pPr>
                        <a:buNone/>
                      </a:pPr>
                      <a:endParaRPr lang="en-IN" sz="140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Train Split</a:t>
                      </a:r>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70%</a:t>
                      </a:r>
                    </a:p>
                  </a:txBody>
                  <a:tcPr marL="72522" marR="72522" marT="36261" marB="36261" anchor="ctr"/>
                </a:tc>
                <a:extLst>
                  <a:ext uri="{0D108BD9-81ED-4DB2-BD59-A6C34878D82A}">
                    <a16:rowId xmlns:a16="http://schemas.microsoft.com/office/drawing/2014/main" val="1215594709"/>
                  </a:ext>
                </a:extLst>
              </a:tr>
              <a:tr h="0">
                <a:tc vMerge="1">
                  <a:txBody>
                    <a:bodyPr/>
                    <a:lstStyle/>
                    <a:p>
                      <a:pPr>
                        <a:buNone/>
                      </a:pPr>
                      <a:endParaRPr lang="en-IN" sz="1400" dirty="0"/>
                    </a:p>
                  </a:txBody>
                  <a:tcPr marL="72522" marR="72522" marT="36261" marB="36261" anchor="ctr"/>
                </a:tc>
                <a:tc>
                  <a:txBody>
                    <a:bodyPr/>
                    <a:lstStyle/>
                    <a:p>
                      <a:pPr>
                        <a:buNone/>
                      </a:pPr>
                      <a:r>
                        <a:rPr lang="en-IN" sz="1600">
                          <a:latin typeface="Times New Roman" panose="02020603050405020304" pitchFamily="18" charset="0"/>
                          <a:cs typeface="Times New Roman" panose="02020603050405020304" pitchFamily="18" charset="0"/>
                        </a:rPr>
                        <a:t>Label Type</a:t>
                      </a:r>
                    </a:p>
                  </a:txBody>
                  <a:tcPr marL="72522" marR="72522" marT="36261" marB="36261" anchor="ctr"/>
                </a:tc>
                <a:tc>
                  <a:txBody>
                    <a:bodyPr/>
                    <a:lstStyle/>
                    <a:p>
                      <a:pPr>
                        <a:buNone/>
                      </a:pPr>
                      <a:r>
                        <a:rPr lang="en-IN" sz="1600" dirty="0">
                          <a:latin typeface="Times New Roman" panose="02020603050405020304" pitchFamily="18" charset="0"/>
                          <a:cs typeface="Times New Roman" panose="02020603050405020304" pitchFamily="18" charset="0"/>
                        </a:rPr>
                        <a:t>Rule-based</a:t>
                      </a:r>
                    </a:p>
                  </a:txBody>
                  <a:tcPr marL="72522" marR="72522" marT="36261" marB="36261" anchor="ctr"/>
                </a:tc>
                <a:extLst>
                  <a:ext uri="{0D108BD9-81ED-4DB2-BD59-A6C34878D82A}">
                    <a16:rowId xmlns:a16="http://schemas.microsoft.com/office/drawing/2014/main" val="2395079777"/>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6"/>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Results – Unsupervised Detection (OCSVM)</a:t>
            </a:r>
            <a:endParaRPr sz="3600" dirty="0">
              <a:latin typeface="Times New Roman"/>
              <a:ea typeface="Times New Roman"/>
              <a:cs typeface="Times New Roman"/>
              <a:sym typeface="Times New Roman"/>
            </a:endParaRPr>
          </a:p>
        </p:txBody>
      </p:sp>
      <p:sp>
        <p:nvSpPr>
          <p:cNvPr id="367" name="Google Shape;367;p36"/>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68" name="Google Shape;368;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31</a:t>
            </a:fld>
            <a:endParaRPr/>
          </a:p>
        </p:txBody>
      </p:sp>
      <p:sp>
        <p:nvSpPr>
          <p:cNvPr id="9012" name="Res_Unsupervised"/>
          <p:cNvSpPr txBox="1"/>
          <p:nvPr/>
        </p:nvSpPr>
        <p:spPr>
          <a:xfrm>
            <a:off x="1222555" y="1395573"/>
            <a:ext cx="11200000" cy="5100000"/>
          </a:xfrm>
          <a:prstGeom prst="rect">
            <a:avLst/>
          </a:prstGeom>
          <a:noFill/>
          <a:ln>
            <a:noFill/>
          </a:ln>
        </p:spPr>
        <p:txBody>
          <a:bodyPr spcFirstLastPara="1" wrap="square" lIns="91425" tIns="45700" rIns="91425" bIns="45700" anchor="t" anchorCtr="0">
            <a:normAutofit/>
          </a:bodyPr>
          <a:lstStyle/>
          <a:p>
            <a:pPr marL="0" lvl="0" indent="0" algn="l" rtl="0">
              <a:lnSpc>
                <a:spcPts val="1100"/>
              </a:lnSpc>
              <a:spcBef>
                <a:spcPts val="0"/>
              </a:spcBef>
              <a:spcAft>
                <a:spcPts val="0"/>
              </a:spcAft>
              <a:buNone/>
            </a:pPr>
            <a:endParaRPr dirty="0"/>
          </a:p>
        </p:txBody>
      </p:sp>
      <p:graphicFrame>
        <p:nvGraphicFramePr>
          <p:cNvPr id="2" name="Table 1">
            <a:extLst>
              <a:ext uri="{FF2B5EF4-FFF2-40B4-BE49-F238E27FC236}">
                <a16:creationId xmlns:a16="http://schemas.microsoft.com/office/drawing/2014/main" id="{8A48513C-FC26-1FD6-6F32-8CDB65856D79}"/>
              </a:ext>
            </a:extLst>
          </p:cNvPr>
          <p:cNvGraphicFramePr>
            <a:graphicFrameLocks noGrp="1"/>
          </p:cNvGraphicFramePr>
          <p:nvPr>
            <p:extLst>
              <p:ext uri="{D42A27DB-BD31-4B8C-83A1-F6EECF244321}">
                <p14:modId xmlns:p14="http://schemas.microsoft.com/office/powerpoint/2010/main" val="107279051"/>
              </p:ext>
            </p:extLst>
          </p:nvPr>
        </p:nvGraphicFramePr>
        <p:xfrm>
          <a:off x="1222555" y="1303666"/>
          <a:ext cx="10008078" cy="4962990"/>
        </p:xfrm>
        <a:graphic>
          <a:graphicData uri="http://schemas.openxmlformats.org/drawingml/2006/table">
            <a:tbl>
              <a:tblPr>
                <a:tableStyleId>{FCE49B7E-5F19-4CB0-BCE9-EA4782633ABD}</a:tableStyleId>
              </a:tblPr>
              <a:tblGrid>
                <a:gridCol w="3336026">
                  <a:extLst>
                    <a:ext uri="{9D8B030D-6E8A-4147-A177-3AD203B41FA5}">
                      <a16:colId xmlns:a16="http://schemas.microsoft.com/office/drawing/2014/main" val="2617592439"/>
                    </a:ext>
                  </a:extLst>
                </a:gridCol>
                <a:gridCol w="3336026">
                  <a:extLst>
                    <a:ext uri="{9D8B030D-6E8A-4147-A177-3AD203B41FA5}">
                      <a16:colId xmlns:a16="http://schemas.microsoft.com/office/drawing/2014/main" val="4011240346"/>
                    </a:ext>
                  </a:extLst>
                </a:gridCol>
                <a:gridCol w="3336026">
                  <a:extLst>
                    <a:ext uri="{9D8B030D-6E8A-4147-A177-3AD203B41FA5}">
                      <a16:colId xmlns:a16="http://schemas.microsoft.com/office/drawing/2014/main" val="4137501245"/>
                    </a:ext>
                  </a:extLst>
                </a:gridCol>
              </a:tblGrid>
              <a:tr h="290089">
                <a:tc>
                  <a:txBody>
                    <a:bodyPr/>
                    <a:lstStyle/>
                    <a:p>
                      <a:pPr>
                        <a:buNone/>
                      </a:pPr>
                      <a:r>
                        <a:rPr lang="en-IN" sz="1600" b="1">
                          <a:latin typeface="Times New Roman" panose="02020603050405020304" pitchFamily="18" charset="0"/>
                          <a:cs typeface="Times New Roman" panose="02020603050405020304" pitchFamily="18" charset="0"/>
                        </a:rPr>
                        <a:t>Category</a:t>
                      </a:r>
                      <a:endParaRPr lang="en-IN" sz="160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b="1">
                          <a:latin typeface="Times New Roman" panose="02020603050405020304" pitchFamily="18" charset="0"/>
                          <a:cs typeface="Times New Roman" panose="02020603050405020304" pitchFamily="18" charset="0"/>
                        </a:rPr>
                        <a:t>Metric</a:t>
                      </a:r>
                      <a:endParaRPr lang="en-IN" sz="160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b="1">
                          <a:latin typeface="Times New Roman" panose="02020603050405020304" pitchFamily="18" charset="0"/>
                          <a:cs typeface="Times New Roman" panose="02020603050405020304" pitchFamily="18" charset="0"/>
                        </a:rPr>
                        <a:t>Value</a:t>
                      </a:r>
                      <a:endParaRPr lang="en-IN" sz="160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3794732100"/>
                  </a:ext>
                </a:extLst>
              </a:tr>
              <a:tr h="290089">
                <a:tc rowSpan="4">
                  <a:txBody>
                    <a:bodyPr/>
                    <a:lstStyle/>
                    <a:p>
                      <a:pPr>
                        <a:buNone/>
                      </a:pPr>
                      <a:r>
                        <a:rPr lang="en-IN" sz="1600" b="1" dirty="0">
                          <a:latin typeface="Times New Roman" panose="02020603050405020304" pitchFamily="18" charset="0"/>
                          <a:cs typeface="Times New Roman" panose="02020603050405020304" pitchFamily="18" charset="0"/>
                        </a:rPr>
                        <a:t>Performance</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PR-AUC</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0.9191</a:t>
                      </a:r>
                    </a:p>
                  </a:txBody>
                  <a:tcPr marL="87027" marR="87027" marT="43513" marB="43513" anchor="ctr"/>
                </a:tc>
                <a:extLst>
                  <a:ext uri="{0D108BD9-81ED-4DB2-BD59-A6C34878D82A}">
                    <a16:rowId xmlns:a16="http://schemas.microsoft.com/office/drawing/2014/main" val="2312428762"/>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F1-Score</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0.8134</a:t>
                      </a:r>
                    </a:p>
                  </a:txBody>
                  <a:tcPr marL="87027" marR="87027" marT="43513" marB="43513" anchor="ctr"/>
                </a:tc>
                <a:extLst>
                  <a:ext uri="{0D108BD9-81ED-4DB2-BD59-A6C34878D82A}">
                    <a16:rowId xmlns:a16="http://schemas.microsoft.com/office/drawing/2014/main" val="1242383429"/>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Precision</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0.7043</a:t>
                      </a:r>
                    </a:p>
                  </a:txBody>
                  <a:tcPr marL="87027" marR="87027" marT="43513" marB="43513" anchor="ctr"/>
                </a:tc>
                <a:extLst>
                  <a:ext uri="{0D108BD9-81ED-4DB2-BD59-A6C34878D82A}">
                    <a16:rowId xmlns:a16="http://schemas.microsoft.com/office/drawing/2014/main" val="3630484664"/>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Recall</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0.9625</a:t>
                      </a:r>
                    </a:p>
                  </a:txBody>
                  <a:tcPr marL="87027" marR="87027" marT="43513" marB="43513" anchor="ctr"/>
                </a:tc>
                <a:extLst>
                  <a:ext uri="{0D108BD9-81ED-4DB2-BD59-A6C34878D82A}">
                    <a16:rowId xmlns:a16="http://schemas.microsoft.com/office/drawing/2014/main" val="710570678"/>
                  </a:ext>
                </a:extLst>
              </a:tr>
              <a:tr h="290089">
                <a:tc rowSpan="4">
                  <a:txBody>
                    <a:bodyPr/>
                    <a:lstStyle/>
                    <a:p>
                      <a:pPr>
                        <a:buNone/>
                      </a:pPr>
                      <a:r>
                        <a:rPr lang="en-IN" sz="1600" b="1" dirty="0">
                          <a:latin typeface="Times New Roman" panose="02020603050405020304" pitchFamily="18" charset="0"/>
                          <a:cs typeface="Times New Roman" panose="02020603050405020304" pitchFamily="18" charset="0"/>
                        </a:rPr>
                        <a:t>Confusion Matrix</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True Positives (TP)</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231</a:t>
                      </a:r>
                    </a:p>
                  </a:txBody>
                  <a:tcPr marL="87027" marR="87027" marT="43513" marB="43513" anchor="ctr"/>
                </a:tc>
                <a:extLst>
                  <a:ext uri="{0D108BD9-81ED-4DB2-BD59-A6C34878D82A}">
                    <a16:rowId xmlns:a16="http://schemas.microsoft.com/office/drawing/2014/main" val="769259328"/>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True Negatives (TN)</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323</a:t>
                      </a:r>
                    </a:p>
                  </a:txBody>
                  <a:tcPr marL="87027" marR="87027" marT="43513" marB="43513" anchor="ctr"/>
                </a:tc>
                <a:extLst>
                  <a:ext uri="{0D108BD9-81ED-4DB2-BD59-A6C34878D82A}">
                    <a16:rowId xmlns:a16="http://schemas.microsoft.com/office/drawing/2014/main" val="3266832723"/>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False Positives (FP)</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97</a:t>
                      </a:r>
                    </a:p>
                  </a:txBody>
                  <a:tcPr marL="87027" marR="87027" marT="43513" marB="43513" anchor="ctr"/>
                </a:tc>
                <a:extLst>
                  <a:ext uri="{0D108BD9-81ED-4DB2-BD59-A6C34878D82A}">
                    <a16:rowId xmlns:a16="http://schemas.microsoft.com/office/drawing/2014/main" val="238065066"/>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False Negatives (FN)</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9</a:t>
                      </a:r>
                    </a:p>
                  </a:txBody>
                  <a:tcPr marL="87027" marR="87027" marT="43513" marB="43513" anchor="ctr"/>
                </a:tc>
                <a:extLst>
                  <a:ext uri="{0D108BD9-81ED-4DB2-BD59-A6C34878D82A}">
                    <a16:rowId xmlns:a16="http://schemas.microsoft.com/office/drawing/2014/main" val="1901103354"/>
                  </a:ext>
                </a:extLst>
              </a:tr>
              <a:tr h="290089">
                <a:tc rowSpan="3">
                  <a:txBody>
                    <a:bodyPr/>
                    <a:lstStyle/>
                    <a:p>
                      <a:pPr>
                        <a:buNone/>
                      </a:pPr>
                      <a:r>
                        <a:rPr lang="en-IN" sz="1600" b="1" dirty="0">
                          <a:latin typeface="Times New Roman" panose="02020603050405020304" pitchFamily="18" charset="0"/>
                          <a:cs typeface="Times New Roman" panose="02020603050405020304" pitchFamily="18" charset="0"/>
                        </a:rPr>
                        <a:t>Model Details</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Training Data</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Only Benign</a:t>
                      </a:r>
                    </a:p>
                  </a:txBody>
                  <a:tcPr marL="87027" marR="87027" marT="43513" marB="43513" anchor="ctr"/>
                </a:tc>
                <a:extLst>
                  <a:ext uri="{0D108BD9-81ED-4DB2-BD59-A6C34878D82A}">
                    <a16:rowId xmlns:a16="http://schemas.microsoft.com/office/drawing/2014/main" val="2604554865"/>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Threshold</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75th percentile</a:t>
                      </a:r>
                    </a:p>
                  </a:txBody>
                  <a:tcPr marL="87027" marR="87027" marT="43513" marB="43513" anchor="ctr"/>
                </a:tc>
                <a:extLst>
                  <a:ext uri="{0D108BD9-81ED-4DB2-BD59-A6C34878D82A}">
                    <a16:rowId xmlns:a16="http://schemas.microsoft.com/office/drawing/2014/main" val="4117813289"/>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Detection Capability</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231 / 240 attacks detected</a:t>
                      </a:r>
                    </a:p>
                  </a:txBody>
                  <a:tcPr marL="87027" marR="87027" marT="43513" marB="43513" anchor="ctr"/>
                </a:tc>
                <a:extLst>
                  <a:ext uri="{0D108BD9-81ED-4DB2-BD59-A6C34878D82A}">
                    <a16:rowId xmlns:a16="http://schemas.microsoft.com/office/drawing/2014/main" val="2964685580"/>
                  </a:ext>
                </a:extLst>
              </a:tr>
              <a:tr h="290089">
                <a:tc rowSpan="3">
                  <a:txBody>
                    <a:bodyPr/>
                    <a:lstStyle/>
                    <a:p>
                      <a:pPr>
                        <a:buNone/>
                      </a:pPr>
                      <a:r>
                        <a:rPr lang="en-IN" sz="1600" b="1" dirty="0">
                          <a:latin typeface="Times New Roman" panose="02020603050405020304" pitchFamily="18" charset="0"/>
                          <a:cs typeface="Times New Roman" panose="02020603050405020304" pitchFamily="18" charset="0"/>
                        </a:rPr>
                        <a:t>Ablation Study</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Z-score F1</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0.1684</a:t>
                      </a:r>
                    </a:p>
                  </a:txBody>
                  <a:tcPr marL="87027" marR="87027" marT="43513" marB="43513" anchor="ctr"/>
                </a:tc>
                <a:extLst>
                  <a:ext uri="{0D108BD9-81ED-4DB2-BD59-A6C34878D82A}">
                    <a16:rowId xmlns:a16="http://schemas.microsoft.com/office/drawing/2014/main" val="1380771084"/>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Supervised RF F1</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0.8990</a:t>
                      </a:r>
                    </a:p>
                  </a:txBody>
                  <a:tcPr marL="87027" marR="87027" marT="43513" marB="43513" anchor="ctr"/>
                </a:tc>
                <a:extLst>
                  <a:ext uri="{0D108BD9-81ED-4DB2-BD59-A6C34878D82A}">
                    <a16:rowId xmlns:a16="http://schemas.microsoft.com/office/drawing/2014/main" val="103816033"/>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Hybrid Gate F1</a:t>
                      </a:r>
                    </a:p>
                  </a:txBody>
                  <a:tcPr marL="87027" marR="87027" marT="43513" marB="43513" anchor="ctr"/>
                </a:tc>
                <a:tc>
                  <a:txBody>
                    <a:bodyPr/>
                    <a:lstStyle/>
                    <a:p>
                      <a:pPr>
                        <a:buNone/>
                      </a:pPr>
                      <a:r>
                        <a:rPr lang="en-IN" sz="1600" dirty="0">
                          <a:latin typeface="Times New Roman" panose="02020603050405020304" pitchFamily="18" charset="0"/>
                          <a:cs typeface="Times New Roman" panose="02020603050405020304" pitchFamily="18" charset="0"/>
                        </a:rPr>
                        <a:t>0.8748</a:t>
                      </a:r>
                    </a:p>
                  </a:txBody>
                  <a:tcPr marL="87027" marR="87027" marT="43513" marB="43513" anchor="ctr"/>
                </a:tc>
                <a:extLst>
                  <a:ext uri="{0D108BD9-81ED-4DB2-BD59-A6C34878D82A}">
                    <a16:rowId xmlns:a16="http://schemas.microsoft.com/office/drawing/2014/main" val="5820524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7"/>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Results – Adaptive Proof-of-Ownership</a:t>
            </a:r>
            <a:endParaRPr sz="3600">
              <a:latin typeface="Times New Roman"/>
              <a:ea typeface="Times New Roman"/>
              <a:cs typeface="Times New Roman"/>
              <a:sym typeface="Times New Roman"/>
            </a:endParaRPr>
          </a:p>
        </p:txBody>
      </p:sp>
      <p:sp>
        <p:nvSpPr>
          <p:cNvPr id="376" name="Google Shape;376;p37"/>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77" name="Google Shape;37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32</a:t>
            </a:fld>
            <a:endParaRPr/>
          </a:p>
        </p:txBody>
      </p:sp>
      <p:sp>
        <p:nvSpPr>
          <p:cNvPr id="9013" name="Res_PoW"/>
          <p:cNvSpPr txBox="1"/>
          <p:nvPr/>
        </p:nvSpPr>
        <p:spPr>
          <a:xfrm>
            <a:off x="1802658" y="1485267"/>
            <a:ext cx="11200000" cy="5100000"/>
          </a:xfrm>
          <a:prstGeom prst="rect">
            <a:avLst/>
          </a:prstGeom>
          <a:noFill/>
          <a:ln>
            <a:noFill/>
          </a:ln>
        </p:spPr>
        <p:txBody>
          <a:bodyPr spcFirstLastPara="1" wrap="square" lIns="91425" tIns="45700" rIns="91425" bIns="45700" anchor="t" anchorCtr="0">
            <a:normAutofit/>
          </a:bodyPr>
          <a:lstStyle/>
          <a:p>
            <a:pPr marL="0" lvl="0" indent="0" algn="l" rtl="0">
              <a:lnSpc>
                <a:spcPts val="1100"/>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3A87D1DF-3D74-17A6-C25E-50FDCCEE3D5F}"/>
              </a:ext>
            </a:extLst>
          </p:cNvPr>
          <p:cNvGraphicFramePr>
            <a:graphicFrameLocks noGrp="1"/>
          </p:cNvGraphicFramePr>
          <p:nvPr>
            <p:extLst>
              <p:ext uri="{D42A27DB-BD31-4B8C-83A1-F6EECF244321}">
                <p14:modId xmlns:p14="http://schemas.microsoft.com/office/powerpoint/2010/main" val="2742097302"/>
              </p:ext>
            </p:extLst>
          </p:nvPr>
        </p:nvGraphicFramePr>
        <p:xfrm>
          <a:off x="838200" y="1627030"/>
          <a:ext cx="10515600" cy="4358640"/>
        </p:xfrm>
        <a:graphic>
          <a:graphicData uri="http://schemas.openxmlformats.org/drawingml/2006/table">
            <a:tbl>
              <a:tblPr>
                <a:tableStyleId>{FCE49B7E-5F19-4CB0-BCE9-EA4782633ABD}</a:tableStyleId>
              </a:tblPr>
              <a:tblGrid>
                <a:gridCol w="3505200">
                  <a:extLst>
                    <a:ext uri="{9D8B030D-6E8A-4147-A177-3AD203B41FA5}">
                      <a16:colId xmlns:a16="http://schemas.microsoft.com/office/drawing/2014/main" val="1140640434"/>
                    </a:ext>
                  </a:extLst>
                </a:gridCol>
                <a:gridCol w="3505200">
                  <a:extLst>
                    <a:ext uri="{9D8B030D-6E8A-4147-A177-3AD203B41FA5}">
                      <a16:colId xmlns:a16="http://schemas.microsoft.com/office/drawing/2014/main" val="3796043166"/>
                    </a:ext>
                  </a:extLst>
                </a:gridCol>
                <a:gridCol w="3505200">
                  <a:extLst>
                    <a:ext uri="{9D8B030D-6E8A-4147-A177-3AD203B41FA5}">
                      <a16:colId xmlns:a16="http://schemas.microsoft.com/office/drawing/2014/main" val="1727718045"/>
                    </a:ext>
                  </a:extLst>
                </a:gridCol>
              </a:tblGrid>
              <a:tr h="0">
                <a:tc>
                  <a:txBody>
                    <a:bodyPr/>
                    <a:lstStyle/>
                    <a:p>
                      <a:pPr>
                        <a:buNone/>
                      </a:pPr>
                      <a:r>
                        <a:rPr lang="en-IN" sz="1600" b="1" dirty="0">
                          <a:latin typeface="Times New Roman" panose="02020603050405020304" pitchFamily="18" charset="0"/>
                          <a:cs typeface="Times New Roman" panose="02020603050405020304" pitchFamily="18" charset="0"/>
                        </a:rPr>
                        <a:t>Category</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Metric</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Value</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85767767"/>
                  </a:ext>
                </a:extLst>
              </a:tr>
              <a:tr h="0">
                <a:tc rowSpan="4">
                  <a:txBody>
                    <a:bodyPr/>
                    <a:lstStyle/>
                    <a:p>
                      <a:pPr>
                        <a:buNone/>
                      </a:pPr>
                      <a:r>
                        <a:rPr lang="en-IN" sz="1600" b="1" dirty="0">
                          <a:latin typeface="Times New Roman" panose="02020603050405020304" pitchFamily="18" charset="0"/>
                          <a:cs typeface="Times New Roman" panose="02020603050405020304" pitchFamily="18" charset="0"/>
                        </a:rPr>
                        <a:t>PoW Length</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Static Baseline</a:t>
                      </a:r>
                    </a:p>
                  </a:txBody>
                  <a:tcPr anchor="ctr"/>
                </a:tc>
                <a:tc>
                  <a:txBody>
                    <a:bodyPr/>
                    <a:lstStyle/>
                    <a:p>
                      <a:pPr>
                        <a:buNone/>
                      </a:pPr>
                      <a:r>
                        <a:rPr lang="en-IN" sz="1600">
                          <a:latin typeface="Times New Roman" panose="02020603050405020304" pitchFamily="18" charset="0"/>
                          <a:cs typeface="Times New Roman" panose="02020603050405020304" pitchFamily="18" charset="0"/>
                        </a:rPr>
                        <a:t>32 bytes</a:t>
                      </a:r>
                    </a:p>
                  </a:txBody>
                  <a:tcPr anchor="ctr"/>
                </a:tc>
                <a:extLst>
                  <a:ext uri="{0D108BD9-81ED-4DB2-BD59-A6C34878D82A}">
                    <a16:rowId xmlns:a16="http://schemas.microsoft.com/office/drawing/2014/main" val="3086329798"/>
                  </a:ext>
                </a:extLst>
              </a:tr>
              <a:tr h="0">
                <a:tc vMerge="1">
                  <a:txBody>
                    <a:bodyPr/>
                    <a:lstStyle/>
                    <a:p>
                      <a:pPr>
                        <a:buNone/>
                      </a:pPr>
                      <a:endParaRPr lang="en-IN"/>
                    </a:p>
                  </a:txBody>
                  <a:tcPr anchor="ctr"/>
                </a:tc>
                <a:tc>
                  <a:txBody>
                    <a:bodyPr/>
                    <a:lstStyle/>
                    <a:p>
                      <a:pPr>
                        <a:buNone/>
                      </a:pPr>
                      <a:r>
                        <a:rPr lang="en-IN" sz="1600">
                          <a:latin typeface="Times New Roman" panose="02020603050405020304" pitchFamily="18" charset="0"/>
                          <a:cs typeface="Times New Roman" panose="02020603050405020304" pitchFamily="18" charset="0"/>
                        </a:rPr>
                        <a:t>Adaptive Mean (All Users)</a:t>
                      </a:r>
                    </a:p>
                  </a:txBody>
                  <a:tcPr anchor="ctr"/>
                </a:tc>
                <a:tc>
                  <a:txBody>
                    <a:bodyPr/>
                    <a:lstStyle/>
                    <a:p>
                      <a:pPr>
                        <a:buNone/>
                      </a:pPr>
                      <a:r>
                        <a:rPr lang="en-IN" sz="1600">
                          <a:latin typeface="Times New Roman" panose="02020603050405020304" pitchFamily="18" charset="0"/>
                          <a:cs typeface="Times New Roman" panose="02020603050405020304" pitchFamily="18" charset="0"/>
                        </a:rPr>
                        <a:t>71.85 bytes</a:t>
                      </a:r>
                    </a:p>
                  </a:txBody>
                  <a:tcPr anchor="ctr"/>
                </a:tc>
                <a:extLst>
                  <a:ext uri="{0D108BD9-81ED-4DB2-BD59-A6C34878D82A}">
                    <a16:rowId xmlns:a16="http://schemas.microsoft.com/office/drawing/2014/main" val="2615218964"/>
                  </a:ext>
                </a:extLst>
              </a:tr>
              <a:tr h="0">
                <a:tc vMerge="1">
                  <a:txBody>
                    <a:bodyPr/>
                    <a:lstStyle/>
                    <a:p>
                      <a:pPr>
                        <a:buNone/>
                      </a:pPr>
                      <a:endParaRPr lang="en-IN"/>
                    </a:p>
                  </a:txBody>
                  <a:tcPr anchor="ctr"/>
                </a:tc>
                <a:tc>
                  <a:txBody>
                    <a:bodyPr/>
                    <a:lstStyle/>
                    <a:p>
                      <a:pPr>
                        <a:buNone/>
                      </a:pPr>
                      <a:r>
                        <a:rPr lang="en-IN" sz="1600">
                          <a:latin typeface="Times New Roman" panose="02020603050405020304" pitchFamily="18" charset="0"/>
                          <a:cs typeface="Times New Roman" panose="02020603050405020304" pitchFamily="18" charset="0"/>
                        </a:rPr>
                        <a:t>Normal Users</a:t>
                      </a:r>
                    </a:p>
                  </a:txBody>
                  <a:tcPr anchor="ctr"/>
                </a:tc>
                <a:tc>
                  <a:txBody>
                    <a:bodyPr/>
                    <a:lstStyle/>
                    <a:p>
                      <a:pPr>
                        <a:buNone/>
                      </a:pPr>
                      <a:r>
                        <a:rPr lang="en-IN" sz="1600">
                          <a:latin typeface="Times New Roman" panose="02020603050405020304" pitchFamily="18" charset="0"/>
                          <a:cs typeface="Times New Roman" panose="02020603050405020304" pitchFamily="18" charset="0"/>
                        </a:rPr>
                        <a:t>49.58 bytes</a:t>
                      </a:r>
                    </a:p>
                  </a:txBody>
                  <a:tcPr anchor="ctr"/>
                </a:tc>
                <a:extLst>
                  <a:ext uri="{0D108BD9-81ED-4DB2-BD59-A6C34878D82A}">
                    <a16:rowId xmlns:a16="http://schemas.microsoft.com/office/drawing/2014/main" val="4130003347"/>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Anomalous Users</a:t>
                      </a:r>
                    </a:p>
                  </a:txBody>
                  <a:tcPr anchor="ctr"/>
                </a:tc>
                <a:tc>
                  <a:txBody>
                    <a:bodyPr/>
                    <a:lstStyle/>
                    <a:p>
                      <a:pPr>
                        <a:buNone/>
                      </a:pPr>
                      <a:r>
                        <a:rPr lang="en-IN" sz="1600">
                          <a:latin typeface="Times New Roman" panose="02020603050405020304" pitchFamily="18" charset="0"/>
                          <a:cs typeface="Times New Roman" panose="02020603050405020304" pitchFamily="18" charset="0"/>
                        </a:rPr>
                        <a:t>110.82 bytes</a:t>
                      </a:r>
                    </a:p>
                  </a:txBody>
                  <a:tcPr anchor="ctr"/>
                </a:tc>
                <a:extLst>
                  <a:ext uri="{0D108BD9-81ED-4DB2-BD59-A6C34878D82A}">
                    <a16:rowId xmlns:a16="http://schemas.microsoft.com/office/drawing/2014/main" val="1391706246"/>
                  </a:ext>
                </a:extLst>
              </a:tr>
              <a:tr h="0">
                <a:tc rowSpan="4">
                  <a:txBody>
                    <a:bodyPr/>
                    <a:lstStyle/>
                    <a:p>
                      <a:pPr>
                        <a:buNone/>
                      </a:pPr>
                      <a:r>
                        <a:rPr lang="en-IN" sz="1600" b="1" dirty="0">
                          <a:latin typeface="Times New Roman" panose="02020603050405020304" pitchFamily="18" charset="0"/>
                          <a:cs typeface="Times New Roman" panose="02020603050405020304" pitchFamily="18" charset="0"/>
                        </a:rPr>
                        <a:t>Security Impact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Attacker Success (Static)</a:t>
                      </a:r>
                    </a:p>
                  </a:txBody>
                  <a:tcPr anchor="ctr"/>
                </a:tc>
                <a:tc>
                  <a:txBody>
                    <a:bodyPr/>
                    <a:lstStyle/>
                    <a:p>
                      <a:pPr>
                        <a:buNone/>
                      </a:pPr>
                      <a:r>
                        <a:rPr lang="en-IN" sz="1600">
                          <a:latin typeface="Times New Roman" panose="02020603050405020304" pitchFamily="18" charset="0"/>
                          <a:cs typeface="Times New Roman" panose="02020603050405020304" pitchFamily="18" charset="0"/>
                        </a:rPr>
                        <a:t>0.8647</a:t>
                      </a:r>
                    </a:p>
                  </a:txBody>
                  <a:tcPr anchor="ctr"/>
                </a:tc>
                <a:extLst>
                  <a:ext uri="{0D108BD9-81ED-4DB2-BD59-A6C34878D82A}">
                    <a16:rowId xmlns:a16="http://schemas.microsoft.com/office/drawing/2014/main" val="2368369972"/>
                  </a:ext>
                </a:extLst>
              </a:tr>
              <a:tr h="0">
                <a:tc vMerge="1">
                  <a:txBody>
                    <a:bodyPr/>
                    <a:lstStyle/>
                    <a:p>
                      <a:pPr>
                        <a:buNone/>
                      </a:pPr>
                      <a:endParaRPr lang="en-IN"/>
                    </a:p>
                  </a:txBody>
                  <a:tcPr anchor="ctr"/>
                </a:tc>
                <a:tc>
                  <a:txBody>
                    <a:bodyPr/>
                    <a:lstStyle/>
                    <a:p>
                      <a:pPr>
                        <a:buNone/>
                      </a:pPr>
                      <a:r>
                        <a:rPr lang="en-IN" sz="1600">
                          <a:latin typeface="Times New Roman" panose="02020603050405020304" pitchFamily="18" charset="0"/>
                          <a:cs typeface="Times New Roman" panose="02020603050405020304" pitchFamily="18" charset="0"/>
                        </a:rPr>
                        <a:t>Attacker Success (Adaptive)</a:t>
                      </a:r>
                    </a:p>
                  </a:txBody>
                  <a:tcPr anchor="ctr"/>
                </a:tc>
                <a:tc>
                  <a:txBody>
                    <a:bodyPr/>
                    <a:lstStyle/>
                    <a:p>
                      <a:pPr>
                        <a:buNone/>
                      </a:pPr>
                      <a:r>
                        <a:rPr lang="en-IN" sz="1600">
                          <a:latin typeface="Times New Roman" panose="02020603050405020304" pitchFamily="18" charset="0"/>
                          <a:cs typeface="Times New Roman" panose="02020603050405020304" pitchFamily="18" charset="0"/>
                        </a:rPr>
                        <a:t>0.4713</a:t>
                      </a:r>
                    </a:p>
                  </a:txBody>
                  <a:tcPr anchor="ctr"/>
                </a:tc>
                <a:extLst>
                  <a:ext uri="{0D108BD9-81ED-4DB2-BD59-A6C34878D82A}">
                    <a16:rowId xmlns:a16="http://schemas.microsoft.com/office/drawing/2014/main" val="125617527"/>
                  </a:ext>
                </a:extLst>
              </a:tr>
              <a:tr h="0">
                <a:tc vMerge="1">
                  <a:txBody>
                    <a:bodyPr/>
                    <a:lstStyle/>
                    <a:p>
                      <a:pPr>
                        <a:buNone/>
                      </a:pPr>
                      <a:endParaRPr lang="en-IN"/>
                    </a:p>
                  </a:txBody>
                  <a:tcPr anchor="ctr"/>
                </a:tc>
                <a:tc>
                  <a:txBody>
                    <a:bodyPr/>
                    <a:lstStyle/>
                    <a:p>
                      <a:pPr>
                        <a:buNone/>
                      </a:pPr>
                      <a:r>
                        <a:rPr lang="en-IN" sz="1600">
                          <a:latin typeface="Times New Roman" panose="02020603050405020304" pitchFamily="18" charset="0"/>
                          <a:cs typeface="Times New Roman" panose="02020603050405020304" pitchFamily="18" charset="0"/>
                        </a:rPr>
                        <a:t>Reduction</a:t>
                      </a:r>
                    </a:p>
                  </a:txBody>
                  <a:tcPr anchor="ctr"/>
                </a:tc>
                <a:tc>
                  <a:txBody>
                    <a:bodyPr/>
                    <a:lstStyle/>
                    <a:p>
                      <a:pPr>
                        <a:buNone/>
                      </a:pPr>
                      <a:r>
                        <a:rPr lang="en-IN" sz="1600">
                          <a:latin typeface="Times New Roman" panose="02020603050405020304" pitchFamily="18" charset="0"/>
                          <a:cs typeface="Times New Roman" panose="02020603050405020304" pitchFamily="18" charset="0"/>
                        </a:rPr>
                        <a:t>45.49%</a:t>
                      </a:r>
                    </a:p>
                  </a:txBody>
                  <a:tcPr anchor="ctr"/>
                </a:tc>
                <a:extLst>
                  <a:ext uri="{0D108BD9-81ED-4DB2-BD59-A6C34878D82A}">
                    <a16:rowId xmlns:a16="http://schemas.microsoft.com/office/drawing/2014/main" val="174642180"/>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Benign Overhead</a:t>
                      </a:r>
                    </a:p>
                  </a:txBody>
                  <a:tcPr anchor="ctr"/>
                </a:tc>
                <a:tc>
                  <a:txBody>
                    <a:bodyPr/>
                    <a:lstStyle/>
                    <a:p>
                      <a:pPr>
                        <a:buNone/>
                      </a:pPr>
                      <a:r>
                        <a:rPr lang="en-IN" sz="1600">
                          <a:latin typeface="Times New Roman" panose="02020603050405020304" pitchFamily="18" charset="0"/>
                          <a:cs typeface="Times New Roman" panose="02020603050405020304" pitchFamily="18" charset="0"/>
                        </a:rPr>
                        <a:t>54.93%</a:t>
                      </a:r>
                    </a:p>
                  </a:txBody>
                  <a:tcPr anchor="ctr"/>
                </a:tc>
                <a:extLst>
                  <a:ext uri="{0D108BD9-81ED-4DB2-BD59-A6C34878D82A}">
                    <a16:rowId xmlns:a16="http://schemas.microsoft.com/office/drawing/2014/main" val="1043350670"/>
                  </a:ext>
                </a:extLst>
              </a:tr>
              <a:tr h="0">
                <a:tc rowSpan="2">
                  <a:txBody>
                    <a:bodyPr/>
                    <a:lstStyle/>
                    <a:p>
                      <a:pPr>
                        <a:buNone/>
                      </a:pPr>
                      <a:r>
                        <a:rPr lang="en-IN" sz="1600" b="1" dirty="0">
                          <a:latin typeface="Times New Roman" panose="02020603050405020304" pitchFamily="18" charset="0"/>
                          <a:cs typeface="Times New Roman" panose="02020603050405020304" pitchFamily="18" charset="0"/>
                        </a:rPr>
                        <a:t>PoW Formula</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Difficulty</a:t>
                      </a:r>
                    </a:p>
                  </a:txBody>
                  <a:tcPr anchor="ctr"/>
                </a:tc>
                <a:tc>
                  <a:txBody>
                    <a:bodyPr/>
                    <a:lstStyle/>
                    <a:p>
                      <a:pPr>
                        <a:buNone/>
                      </a:pPr>
                      <a:r>
                        <a:rPr lang="pt-BR" sz="1600">
                          <a:latin typeface="Times New Roman" panose="02020603050405020304" pitchFamily="18" charset="0"/>
                          <a:cs typeface="Times New Roman" panose="02020603050405020304" pitchFamily="18" charset="0"/>
                        </a:rPr>
                        <a:t>d = clamp(0.65r + 0.25(1−ρ) + 0.10δ)</a:t>
                      </a:r>
                    </a:p>
                  </a:txBody>
                  <a:tcPr anchor="ctr"/>
                </a:tc>
                <a:extLst>
                  <a:ext uri="{0D108BD9-81ED-4DB2-BD59-A6C34878D82A}">
                    <a16:rowId xmlns:a16="http://schemas.microsoft.com/office/drawing/2014/main" val="2420640450"/>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Challenge Length</a:t>
                      </a:r>
                    </a:p>
                  </a:txBody>
                  <a:tcPr anchor="ctr"/>
                </a:tc>
                <a:tc>
                  <a:txBody>
                    <a:bodyPr/>
                    <a:lstStyle/>
                    <a:p>
                      <a:pPr>
                        <a:buNone/>
                      </a:pPr>
                      <a:r>
                        <a:rPr lang="en-IN" sz="1600">
                          <a:latin typeface="Times New Roman" panose="02020603050405020304" pitchFamily="18" charset="0"/>
                          <a:cs typeface="Times New Roman" panose="02020603050405020304" pitchFamily="18" charset="0"/>
                        </a:rPr>
                        <a:t>32 → 192 bytes</a:t>
                      </a:r>
                    </a:p>
                  </a:txBody>
                  <a:tcPr anchor="ctr"/>
                </a:tc>
                <a:extLst>
                  <a:ext uri="{0D108BD9-81ED-4DB2-BD59-A6C34878D82A}">
                    <a16:rowId xmlns:a16="http://schemas.microsoft.com/office/drawing/2014/main" val="753612797"/>
                  </a:ext>
                </a:extLst>
              </a:tr>
              <a:tr h="0">
                <a:tc>
                  <a:txBody>
                    <a:bodyPr/>
                    <a:lstStyle/>
                    <a:p>
                      <a:pPr>
                        <a:buNone/>
                      </a:pPr>
                      <a:r>
                        <a:rPr lang="en-IN" sz="1600" b="1">
                          <a:latin typeface="Times New Roman" panose="02020603050405020304" pitchFamily="18" charset="0"/>
                          <a:cs typeface="Times New Roman" panose="02020603050405020304" pitchFamily="18" charset="0"/>
                        </a:rPr>
                        <a:t>Weights</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Risk / Reputation / Pressure</a:t>
                      </a:r>
                    </a:p>
                  </a:txBody>
                  <a:tcPr anchor="ctr"/>
                </a:tc>
                <a:tc>
                  <a:txBody>
                    <a:bodyPr/>
                    <a:lstStyle/>
                    <a:p>
                      <a:pPr>
                        <a:buNone/>
                      </a:pPr>
                      <a:r>
                        <a:rPr lang="en-IN" sz="1600">
                          <a:latin typeface="Times New Roman" panose="02020603050405020304" pitchFamily="18" charset="0"/>
                          <a:cs typeface="Times New Roman" panose="02020603050405020304" pitchFamily="18" charset="0"/>
                        </a:rPr>
                        <a:t>0.65 / 0.25 / 0.10</a:t>
                      </a:r>
                    </a:p>
                  </a:txBody>
                  <a:tcPr anchor="ctr"/>
                </a:tc>
                <a:extLst>
                  <a:ext uri="{0D108BD9-81ED-4DB2-BD59-A6C34878D82A}">
                    <a16:rowId xmlns:a16="http://schemas.microsoft.com/office/drawing/2014/main" val="2142925362"/>
                  </a:ext>
                </a:extLst>
              </a:tr>
              <a:tr h="0">
                <a:tc>
                  <a:txBody>
                    <a:bodyPr/>
                    <a:lstStyle/>
                    <a:p>
                      <a:pPr>
                        <a:buNone/>
                      </a:pPr>
                      <a:r>
                        <a:rPr lang="en-IN" sz="1600" b="1">
                          <a:latin typeface="Times New Roman" panose="02020603050405020304" pitchFamily="18" charset="0"/>
                          <a:cs typeface="Times New Roman" panose="02020603050405020304" pitchFamily="18" charset="0"/>
                        </a:rPr>
                        <a:t>Overhead</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OPRF Cost</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~0.646 </a:t>
                      </a:r>
                      <a:r>
                        <a:rPr lang="en-IN" sz="1600" dirty="0" err="1">
                          <a:latin typeface="Times New Roman" panose="02020603050405020304" pitchFamily="18" charset="0"/>
                          <a:cs typeface="Times New Roman" panose="02020603050405020304" pitchFamily="18" charset="0"/>
                        </a:rPr>
                        <a:t>ms</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52716839"/>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8"/>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Results – Per-Class F₁ and Module Comparison</a:t>
            </a:r>
            <a:endParaRPr sz="3600" dirty="0">
              <a:latin typeface="Times New Roman"/>
              <a:ea typeface="Times New Roman"/>
              <a:cs typeface="Times New Roman"/>
              <a:sym typeface="Times New Roman"/>
            </a:endParaRPr>
          </a:p>
        </p:txBody>
      </p:sp>
      <p:sp>
        <p:nvSpPr>
          <p:cNvPr id="384" name="Google Shape;384;p38"/>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85" name="Google Shape;385;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33</a:t>
            </a:fld>
            <a:endParaRPr/>
          </a:p>
        </p:txBody>
      </p:sp>
      <p:sp>
        <p:nvSpPr>
          <p:cNvPr id="9014" name="Res_PerClass"/>
          <p:cNvSpPr txBox="1"/>
          <p:nvPr/>
        </p:nvSpPr>
        <p:spPr>
          <a:xfrm>
            <a:off x="1104568" y="1514871"/>
            <a:ext cx="11200000" cy="5100000"/>
          </a:xfrm>
          <a:prstGeom prst="rect">
            <a:avLst/>
          </a:prstGeom>
          <a:noFill/>
          <a:ln>
            <a:noFill/>
          </a:ln>
        </p:spPr>
        <p:txBody>
          <a:bodyPr spcFirstLastPara="1" wrap="square" lIns="91425" tIns="45700" rIns="91425" bIns="45700" anchor="t" anchorCtr="0">
            <a:normAutofit/>
          </a:bodyPr>
          <a:lstStyle/>
          <a:p>
            <a:pPr marL="0" lvl="0" indent="0" algn="l" rtl="0">
              <a:lnSpc>
                <a:spcPts val="1100"/>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CEA4E73-1898-D7A2-6E12-9C0206B408F2}"/>
              </a:ext>
            </a:extLst>
          </p:cNvPr>
          <p:cNvGraphicFramePr>
            <a:graphicFrameLocks noGrp="1"/>
          </p:cNvGraphicFramePr>
          <p:nvPr>
            <p:extLst>
              <p:ext uri="{D42A27DB-BD31-4B8C-83A1-F6EECF244321}">
                <p14:modId xmlns:p14="http://schemas.microsoft.com/office/powerpoint/2010/main" val="1512304019"/>
              </p:ext>
            </p:extLst>
          </p:nvPr>
        </p:nvGraphicFramePr>
        <p:xfrm>
          <a:off x="907026" y="1408267"/>
          <a:ext cx="10515600" cy="4693920"/>
        </p:xfrm>
        <a:graphic>
          <a:graphicData uri="http://schemas.openxmlformats.org/drawingml/2006/table">
            <a:tbl>
              <a:tblPr>
                <a:tableStyleId>{FCE49B7E-5F19-4CB0-BCE9-EA4782633ABD}</a:tableStyleId>
              </a:tblPr>
              <a:tblGrid>
                <a:gridCol w="3505200">
                  <a:extLst>
                    <a:ext uri="{9D8B030D-6E8A-4147-A177-3AD203B41FA5}">
                      <a16:colId xmlns:a16="http://schemas.microsoft.com/office/drawing/2014/main" val="553741947"/>
                    </a:ext>
                  </a:extLst>
                </a:gridCol>
                <a:gridCol w="3505200">
                  <a:extLst>
                    <a:ext uri="{9D8B030D-6E8A-4147-A177-3AD203B41FA5}">
                      <a16:colId xmlns:a16="http://schemas.microsoft.com/office/drawing/2014/main" val="1430024044"/>
                    </a:ext>
                  </a:extLst>
                </a:gridCol>
                <a:gridCol w="3505200">
                  <a:extLst>
                    <a:ext uri="{9D8B030D-6E8A-4147-A177-3AD203B41FA5}">
                      <a16:colId xmlns:a16="http://schemas.microsoft.com/office/drawing/2014/main" val="3003842781"/>
                    </a:ext>
                  </a:extLst>
                </a:gridCol>
              </a:tblGrid>
              <a:tr h="0">
                <a:tc>
                  <a:txBody>
                    <a:bodyPr/>
                    <a:lstStyle/>
                    <a:p>
                      <a:pPr>
                        <a:buNone/>
                      </a:pPr>
                      <a:r>
                        <a:rPr lang="en-IN" sz="1600" b="1">
                          <a:latin typeface="Times New Roman" panose="02020603050405020304" pitchFamily="18" charset="0"/>
                          <a:cs typeface="Times New Roman" panose="02020603050405020304" pitchFamily="18" charset="0"/>
                        </a:rPr>
                        <a:t>Category</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Metric / Method</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Value</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98344780"/>
                  </a:ext>
                </a:extLst>
              </a:tr>
              <a:tr h="0">
                <a:tc rowSpan="5">
                  <a:txBody>
                    <a:bodyPr/>
                    <a:lstStyle/>
                    <a:p>
                      <a:pPr>
                        <a:buNone/>
                      </a:pPr>
                      <a:r>
                        <a:rPr lang="en-IN" sz="1600" b="1" dirty="0">
                          <a:latin typeface="Times New Roman" panose="02020603050405020304" pitchFamily="18" charset="0"/>
                          <a:cs typeface="Times New Roman" panose="02020603050405020304" pitchFamily="18" charset="0"/>
                        </a:rPr>
                        <a:t>Per-Class F1 (RF)</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Normal</a:t>
                      </a:r>
                    </a:p>
                  </a:txBody>
                  <a:tcPr anchor="ctr"/>
                </a:tc>
                <a:tc>
                  <a:txBody>
                    <a:bodyPr/>
                    <a:lstStyle/>
                    <a:p>
                      <a:pPr>
                        <a:buNone/>
                      </a:pPr>
                      <a:r>
                        <a:rPr lang="en-IN" sz="1600">
                          <a:latin typeface="Times New Roman" panose="02020603050405020304" pitchFamily="18" charset="0"/>
                          <a:cs typeface="Times New Roman" panose="02020603050405020304" pitchFamily="18" charset="0"/>
                        </a:rPr>
                        <a:t>1.0000</a:t>
                      </a:r>
                    </a:p>
                  </a:txBody>
                  <a:tcPr anchor="ctr"/>
                </a:tc>
                <a:extLst>
                  <a:ext uri="{0D108BD9-81ED-4DB2-BD59-A6C34878D82A}">
                    <a16:rowId xmlns:a16="http://schemas.microsoft.com/office/drawing/2014/main" val="1623191574"/>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Hash Probing</a:t>
                      </a:r>
                    </a:p>
                  </a:txBody>
                  <a:tcPr anchor="ctr"/>
                </a:tc>
                <a:tc>
                  <a:txBody>
                    <a:bodyPr/>
                    <a:lstStyle/>
                    <a:p>
                      <a:pPr>
                        <a:buNone/>
                      </a:pPr>
                      <a:r>
                        <a:rPr lang="en-IN" sz="1600">
                          <a:latin typeface="Times New Roman" panose="02020603050405020304" pitchFamily="18" charset="0"/>
                          <a:cs typeface="Times New Roman" panose="02020603050405020304" pitchFamily="18" charset="0"/>
                        </a:rPr>
                        <a:t>0.8810</a:t>
                      </a:r>
                    </a:p>
                  </a:txBody>
                  <a:tcPr anchor="ctr"/>
                </a:tc>
                <a:extLst>
                  <a:ext uri="{0D108BD9-81ED-4DB2-BD59-A6C34878D82A}">
                    <a16:rowId xmlns:a16="http://schemas.microsoft.com/office/drawing/2014/main" val="623257183"/>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Ownership Fraud</a:t>
                      </a:r>
                    </a:p>
                  </a:txBody>
                  <a:tcPr anchor="ctr"/>
                </a:tc>
                <a:tc>
                  <a:txBody>
                    <a:bodyPr/>
                    <a:lstStyle/>
                    <a:p>
                      <a:pPr>
                        <a:buNone/>
                      </a:pPr>
                      <a:r>
                        <a:rPr lang="en-IN" sz="1600">
                          <a:latin typeface="Times New Roman" panose="02020603050405020304" pitchFamily="18" charset="0"/>
                          <a:cs typeface="Times New Roman" panose="02020603050405020304" pitchFamily="18" charset="0"/>
                        </a:rPr>
                        <a:t>0.7763</a:t>
                      </a:r>
                    </a:p>
                  </a:txBody>
                  <a:tcPr anchor="ctr"/>
                </a:tc>
                <a:extLst>
                  <a:ext uri="{0D108BD9-81ED-4DB2-BD59-A6C34878D82A}">
                    <a16:rowId xmlns:a16="http://schemas.microsoft.com/office/drawing/2014/main" val="1917855877"/>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Deduplication DoS</a:t>
                      </a:r>
                    </a:p>
                  </a:txBody>
                  <a:tcPr anchor="ctr"/>
                </a:tc>
                <a:tc>
                  <a:txBody>
                    <a:bodyPr/>
                    <a:lstStyle/>
                    <a:p>
                      <a:pPr>
                        <a:buNone/>
                      </a:pPr>
                      <a:r>
                        <a:rPr lang="en-IN" sz="1600">
                          <a:latin typeface="Times New Roman" panose="02020603050405020304" pitchFamily="18" charset="0"/>
                          <a:cs typeface="Times New Roman" panose="02020603050405020304" pitchFamily="18" charset="0"/>
                        </a:rPr>
                        <a:t>0.9125</a:t>
                      </a:r>
                    </a:p>
                  </a:txBody>
                  <a:tcPr anchor="ctr"/>
                </a:tc>
                <a:extLst>
                  <a:ext uri="{0D108BD9-81ED-4DB2-BD59-A6C34878D82A}">
                    <a16:rowId xmlns:a16="http://schemas.microsoft.com/office/drawing/2014/main" val="1178700284"/>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Macro-F1</a:t>
                      </a:r>
                    </a:p>
                  </a:txBody>
                  <a:tcPr anchor="ctr"/>
                </a:tc>
                <a:tc>
                  <a:txBody>
                    <a:bodyPr/>
                    <a:lstStyle/>
                    <a:p>
                      <a:pPr>
                        <a:buNone/>
                      </a:pPr>
                      <a:r>
                        <a:rPr lang="en-IN" sz="1600">
                          <a:latin typeface="Times New Roman" panose="02020603050405020304" pitchFamily="18" charset="0"/>
                          <a:cs typeface="Times New Roman" panose="02020603050405020304" pitchFamily="18" charset="0"/>
                        </a:rPr>
                        <a:t>0.8924</a:t>
                      </a:r>
                    </a:p>
                  </a:txBody>
                  <a:tcPr anchor="ctr"/>
                </a:tc>
                <a:extLst>
                  <a:ext uri="{0D108BD9-81ED-4DB2-BD59-A6C34878D82A}">
                    <a16:rowId xmlns:a16="http://schemas.microsoft.com/office/drawing/2014/main" val="2292671170"/>
                  </a:ext>
                </a:extLst>
              </a:tr>
              <a:tr h="0">
                <a:tc rowSpan="4">
                  <a:txBody>
                    <a:bodyPr/>
                    <a:lstStyle/>
                    <a:p>
                      <a:pPr>
                        <a:buNone/>
                      </a:pPr>
                      <a:r>
                        <a:rPr lang="en-IN" sz="1600" b="1" dirty="0">
                          <a:latin typeface="Times New Roman" panose="02020603050405020304" pitchFamily="18" charset="0"/>
                          <a:cs typeface="Times New Roman" panose="02020603050405020304" pitchFamily="18" charset="0"/>
                        </a:rPr>
                        <a:t>Model Comparison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Z-score (F1 / PR-AUC)</a:t>
                      </a:r>
                    </a:p>
                  </a:txBody>
                  <a:tcPr anchor="ctr"/>
                </a:tc>
                <a:tc>
                  <a:txBody>
                    <a:bodyPr/>
                    <a:lstStyle/>
                    <a:p>
                      <a:pPr>
                        <a:buNone/>
                      </a:pPr>
                      <a:r>
                        <a:rPr lang="en-IN" sz="1600">
                          <a:latin typeface="Times New Roman" panose="02020603050405020304" pitchFamily="18" charset="0"/>
                          <a:cs typeface="Times New Roman" panose="02020603050405020304" pitchFamily="18" charset="0"/>
                        </a:rPr>
                        <a:t>0.168 / 0.4836</a:t>
                      </a:r>
                    </a:p>
                  </a:txBody>
                  <a:tcPr anchor="ctr"/>
                </a:tc>
                <a:extLst>
                  <a:ext uri="{0D108BD9-81ED-4DB2-BD59-A6C34878D82A}">
                    <a16:rowId xmlns:a16="http://schemas.microsoft.com/office/drawing/2014/main" val="3948876652"/>
                  </a:ext>
                </a:extLst>
              </a:tr>
              <a:tr h="0">
                <a:tc vMerge="1">
                  <a:txBody>
                    <a:bodyPr/>
                    <a:lstStyle/>
                    <a:p>
                      <a:pPr>
                        <a:buNone/>
                      </a:pPr>
                      <a:endParaRPr lang="en-IN"/>
                    </a:p>
                  </a:txBody>
                  <a:tcPr anchor="ctr"/>
                </a:tc>
                <a:tc>
                  <a:txBody>
                    <a:bodyPr/>
                    <a:lstStyle/>
                    <a:p>
                      <a:pPr>
                        <a:buNone/>
                      </a:pPr>
                      <a:r>
                        <a:rPr lang="en-IN" sz="1600">
                          <a:latin typeface="Times New Roman" panose="02020603050405020304" pitchFamily="18" charset="0"/>
                          <a:cs typeface="Times New Roman" panose="02020603050405020304" pitchFamily="18" charset="0"/>
                        </a:rPr>
                        <a:t>Supervised RF</a:t>
                      </a:r>
                    </a:p>
                  </a:txBody>
                  <a:tcPr anchor="ctr"/>
                </a:tc>
                <a:tc>
                  <a:txBody>
                    <a:bodyPr/>
                    <a:lstStyle/>
                    <a:p>
                      <a:pPr>
                        <a:buNone/>
                      </a:pPr>
                      <a:r>
                        <a:rPr lang="en-IN" sz="1600">
                          <a:latin typeface="Times New Roman" panose="02020603050405020304" pitchFamily="18" charset="0"/>
                          <a:cs typeface="Times New Roman" panose="02020603050405020304" pitchFamily="18" charset="0"/>
                        </a:rPr>
                        <a:t>0.899 / 0.969</a:t>
                      </a:r>
                    </a:p>
                  </a:txBody>
                  <a:tcPr anchor="ctr"/>
                </a:tc>
                <a:extLst>
                  <a:ext uri="{0D108BD9-81ED-4DB2-BD59-A6C34878D82A}">
                    <a16:rowId xmlns:a16="http://schemas.microsoft.com/office/drawing/2014/main" val="841261390"/>
                  </a:ext>
                </a:extLst>
              </a:tr>
              <a:tr h="0">
                <a:tc vMerge="1">
                  <a:txBody>
                    <a:bodyPr/>
                    <a:lstStyle/>
                    <a:p>
                      <a:pPr>
                        <a:buNone/>
                      </a:pPr>
                      <a:endParaRPr lang="en-IN"/>
                    </a:p>
                  </a:txBody>
                  <a:tcPr anchor="ctr"/>
                </a:tc>
                <a:tc>
                  <a:txBody>
                    <a:bodyPr/>
                    <a:lstStyle/>
                    <a:p>
                      <a:pPr>
                        <a:buNone/>
                      </a:pPr>
                      <a:r>
                        <a:rPr lang="en-IN" sz="1600">
                          <a:latin typeface="Times New Roman" panose="02020603050405020304" pitchFamily="18" charset="0"/>
                          <a:cs typeface="Times New Roman" panose="02020603050405020304" pitchFamily="18" charset="0"/>
                        </a:rPr>
                        <a:t>Hybrid Gate</a:t>
                      </a:r>
                    </a:p>
                  </a:txBody>
                  <a:tcPr anchor="ctr"/>
                </a:tc>
                <a:tc>
                  <a:txBody>
                    <a:bodyPr/>
                    <a:lstStyle/>
                    <a:p>
                      <a:pPr>
                        <a:buNone/>
                      </a:pPr>
                      <a:r>
                        <a:rPr lang="en-IN" sz="1600">
                          <a:latin typeface="Times New Roman" panose="02020603050405020304" pitchFamily="18" charset="0"/>
                          <a:cs typeface="Times New Roman" panose="02020603050405020304" pitchFamily="18" charset="0"/>
                        </a:rPr>
                        <a:t>0.875 / 0.8386</a:t>
                      </a:r>
                    </a:p>
                  </a:txBody>
                  <a:tcPr anchor="ctr"/>
                </a:tc>
                <a:extLst>
                  <a:ext uri="{0D108BD9-81ED-4DB2-BD59-A6C34878D82A}">
                    <a16:rowId xmlns:a16="http://schemas.microsoft.com/office/drawing/2014/main" val="3860003418"/>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Cold-start (OCSVM)</a:t>
                      </a:r>
                    </a:p>
                  </a:txBody>
                  <a:tcPr anchor="ctr"/>
                </a:tc>
                <a:tc>
                  <a:txBody>
                    <a:bodyPr/>
                    <a:lstStyle/>
                    <a:p>
                      <a:pPr>
                        <a:buNone/>
                      </a:pPr>
                      <a:r>
                        <a:rPr lang="en-IN" sz="1600">
                          <a:latin typeface="Times New Roman" panose="02020603050405020304" pitchFamily="18" charset="0"/>
                          <a:cs typeface="Times New Roman" panose="02020603050405020304" pitchFamily="18" charset="0"/>
                        </a:rPr>
                        <a:t>0.813 / 0.919</a:t>
                      </a:r>
                    </a:p>
                  </a:txBody>
                  <a:tcPr anchor="ctr"/>
                </a:tc>
                <a:extLst>
                  <a:ext uri="{0D108BD9-81ED-4DB2-BD59-A6C34878D82A}">
                    <a16:rowId xmlns:a16="http://schemas.microsoft.com/office/drawing/2014/main" val="3161914223"/>
                  </a:ext>
                </a:extLst>
              </a:tr>
              <a:tr h="0">
                <a:tc rowSpan="4">
                  <a:txBody>
                    <a:bodyPr/>
                    <a:lstStyle/>
                    <a:p>
                      <a:pPr>
                        <a:buNone/>
                      </a:pPr>
                      <a:r>
                        <a:rPr lang="en-IN" sz="1600" b="1" dirty="0">
                          <a:latin typeface="Times New Roman" panose="02020603050405020304" pitchFamily="18" charset="0"/>
                          <a:cs typeface="Times New Roman" panose="02020603050405020304" pitchFamily="18" charset="0"/>
                        </a:rPr>
                        <a:t>Trace Alignment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l-GR" sz="1600">
                          <a:latin typeface="Times New Roman" panose="02020603050405020304" pitchFamily="18" charset="0"/>
                          <a:cs typeface="Times New Roman" panose="02020603050405020304" pitchFamily="18" charset="0"/>
                        </a:rPr>
                        <a:t>τ_</a:t>
                      </a:r>
                      <a:r>
                        <a:rPr lang="en-IN" sz="1600">
                          <a:latin typeface="Times New Roman" panose="02020603050405020304" pitchFamily="18" charset="0"/>
                          <a:cs typeface="Times New Roman" panose="02020603050405020304" pitchFamily="18" charset="0"/>
                        </a:rPr>
                        <a:t>avg (Trace / Synth)</a:t>
                      </a:r>
                    </a:p>
                  </a:txBody>
                  <a:tcPr anchor="ctr"/>
                </a:tc>
                <a:tc>
                  <a:txBody>
                    <a:bodyPr/>
                    <a:lstStyle/>
                    <a:p>
                      <a:pPr>
                        <a:buNone/>
                      </a:pPr>
                      <a:r>
                        <a:rPr lang="en-IN" sz="1600">
                          <a:latin typeface="Times New Roman" panose="02020603050405020304" pitchFamily="18" charset="0"/>
                          <a:cs typeface="Times New Roman" panose="02020603050405020304" pitchFamily="18" charset="0"/>
                        </a:rPr>
                        <a:t>4.917 / 5.758</a:t>
                      </a:r>
                    </a:p>
                  </a:txBody>
                  <a:tcPr anchor="ctr"/>
                </a:tc>
                <a:extLst>
                  <a:ext uri="{0D108BD9-81ED-4DB2-BD59-A6C34878D82A}">
                    <a16:rowId xmlns:a16="http://schemas.microsoft.com/office/drawing/2014/main" val="46938630"/>
                  </a:ext>
                </a:extLst>
              </a:tr>
              <a:tr h="0">
                <a:tc vMerge="1">
                  <a:txBody>
                    <a:bodyPr/>
                    <a:lstStyle/>
                    <a:p>
                      <a:pPr>
                        <a:buNone/>
                      </a:pPr>
                      <a:endParaRPr lang="en-IN"/>
                    </a:p>
                  </a:txBody>
                  <a:tcPr anchor="ctr"/>
                </a:tc>
                <a:tc>
                  <a:txBody>
                    <a:bodyPr/>
                    <a:lstStyle/>
                    <a:p>
                      <a:pPr>
                        <a:buNone/>
                      </a:pPr>
                      <a:r>
                        <a:rPr lang="en-IN" sz="1600">
                          <a:latin typeface="Times New Roman" panose="02020603050405020304" pitchFamily="18" charset="0"/>
                          <a:cs typeface="Times New Roman" panose="02020603050405020304" pitchFamily="18" charset="0"/>
                        </a:rPr>
                        <a:t>Wasserstein Distance</a:t>
                      </a:r>
                    </a:p>
                  </a:txBody>
                  <a:tcPr anchor="ctr"/>
                </a:tc>
                <a:tc>
                  <a:txBody>
                    <a:bodyPr/>
                    <a:lstStyle/>
                    <a:p>
                      <a:pPr>
                        <a:buNone/>
                      </a:pPr>
                      <a:r>
                        <a:rPr lang="en-IN" sz="1600">
                          <a:latin typeface="Times New Roman" panose="02020603050405020304" pitchFamily="18" charset="0"/>
                          <a:cs typeface="Times New Roman" panose="02020603050405020304" pitchFamily="18" charset="0"/>
                        </a:rPr>
                        <a:t>0.841</a:t>
                      </a:r>
                    </a:p>
                  </a:txBody>
                  <a:tcPr anchor="ctr"/>
                </a:tc>
                <a:extLst>
                  <a:ext uri="{0D108BD9-81ED-4DB2-BD59-A6C34878D82A}">
                    <a16:rowId xmlns:a16="http://schemas.microsoft.com/office/drawing/2014/main" val="783468969"/>
                  </a:ext>
                </a:extLst>
              </a:tr>
              <a:tr h="0">
                <a:tc vMerge="1">
                  <a:txBody>
                    <a:bodyPr/>
                    <a:lstStyle/>
                    <a:p>
                      <a:pPr>
                        <a:buNone/>
                      </a:pPr>
                      <a:endParaRPr lang="en-IN"/>
                    </a:p>
                  </a:txBody>
                  <a:tcPr anchor="ctr"/>
                </a:tc>
                <a:tc>
                  <a:txBody>
                    <a:bodyPr/>
                    <a:lstStyle/>
                    <a:p>
                      <a:pPr>
                        <a:buNone/>
                      </a:pPr>
                      <a:r>
                        <a:rPr lang="en-IN" sz="1600">
                          <a:latin typeface="Times New Roman" panose="02020603050405020304" pitchFamily="18" charset="0"/>
                          <a:cs typeface="Times New Roman" panose="02020603050405020304" pitchFamily="18" charset="0"/>
                        </a:rPr>
                        <a:t>n_chunks (Trace / Synth)</a:t>
                      </a:r>
                    </a:p>
                  </a:txBody>
                  <a:tcPr anchor="ctr"/>
                </a:tc>
                <a:tc>
                  <a:txBody>
                    <a:bodyPr/>
                    <a:lstStyle/>
                    <a:p>
                      <a:pPr>
                        <a:buNone/>
                      </a:pPr>
                      <a:r>
                        <a:rPr lang="en-IN" sz="1600">
                          <a:latin typeface="Times New Roman" panose="02020603050405020304" pitchFamily="18" charset="0"/>
                          <a:cs typeface="Times New Roman" panose="02020603050405020304" pitchFamily="18" charset="0"/>
                        </a:rPr>
                        <a:t>151.8 / 152.0</a:t>
                      </a:r>
                    </a:p>
                  </a:txBody>
                  <a:tcPr anchor="ctr"/>
                </a:tc>
                <a:extLst>
                  <a:ext uri="{0D108BD9-81ED-4DB2-BD59-A6C34878D82A}">
                    <a16:rowId xmlns:a16="http://schemas.microsoft.com/office/drawing/2014/main" val="2505001260"/>
                  </a:ext>
                </a:extLst>
              </a:tr>
              <a:tr h="0">
                <a:tc vMerge="1">
                  <a:txBody>
                    <a:bodyPr/>
                    <a:lstStyle/>
                    <a:p>
                      <a:pPr>
                        <a:buNone/>
                      </a:pPr>
                      <a:endParaRPr lang="en-IN" dirty="0"/>
                    </a:p>
                  </a:txBody>
                  <a:tcPr anchor="ctr"/>
                </a:tc>
                <a:tc>
                  <a:txBody>
                    <a:bodyPr/>
                    <a:lstStyle/>
                    <a:p>
                      <a:pPr>
                        <a:buNone/>
                      </a:pPr>
                      <a:r>
                        <a:rPr lang="en-IN" sz="1600">
                          <a:latin typeface="Times New Roman" panose="02020603050405020304" pitchFamily="18" charset="0"/>
                          <a:cs typeface="Times New Roman" panose="02020603050405020304" pitchFamily="18" charset="0"/>
                        </a:rPr>
                        <a:t>KS Test</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 = 1.00</a:t>
                      </a:r>
                    </a:p>
                  </a:txBody>
                  <a:tcPr anchor="ctr"/>
                </a:tc>
                <a:extLst>
                  <a:ext uri="{0D108BD9-81ED-4DB2-BD59-A6C34878D82A}">
                    <a16:rowId xmlns:a16="http://schemas.microsoft.com/office/drawing/2014/main" val="243718770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9"/>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Results – Deduplication and Storage Performance</a:t>
            </a:r>
            <a:endParaRPr sz="3600">
              <a:latin typeface="Times New Roman"/>
              <a:ea typeface="Times New Roman"/>
              <a:cs typeface="Times New Roman"/>
              <a:sym typeface="Times New Roman"/>
            </a:endParaRPr>
          </a:p>
        </p:txBody>
      </p:sp>
      <p:sp>
        <p:nvSpPr>
          <p:cNvPr id="393" name="Google Shape;393;p39"/>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394" name="Google Shape;39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34</a:t>
            </a:fld>
            <a:endParaRPr/>
          </a:p>
        </p:txBody>
      </p:sp>
      <p:sp>
        <p:nvSpPr>
          <p:cNvPr id="9015" name="Res_Dedup"/>
          <p:cNvSpPr txBox="1"/>
          <p:nvPr/>
        </p:nvSpPr>
        <p:spPr>
          <a:xfrm>
            <a:off x="1773162" y="1395252"/>
            <a:ext cx="11200000" cy="5100000"/>
          </a:xfrm>
          <a:prstGeom prst="rect">
            <a:avLst/>
          </a:prstGeom>
          <a:noFill/>
          <a:ln>
            <a:noFill/>
          </a:ln>
        </p:spPr>
        <p:txBody>
          <a:bodyPr spcFirstLastPara="1" wrap="square" lIns="91425" tIns="45700" rIns="91425" bIns="45700" anchor="t" anchorCtr="0">
            <a:normAutofit/>
          </a:bodyPr>
          <a:lstStyle/>
          <a:p>
            <a:pPr marL="0" lvl="0" indent="0" algn="l" rtl="0">
              <a:lnSpc>
                <a:spcPts val="1100"/>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7244200-B092-CFD3-9994-80EF1D757227}"/>
              </a:ext>
            </a:extLst>
          </p:cNvPr>
          <p:cNvGraphicFramePr>
            <a:graphicFrameLocks noGrp="1"/>
          </p:cNvGraphicFramePr>
          <p:nvPr>
            <p:extLst>
              <p:ext uri="{D42A27DB-BD31-4B8C-83A1-F6EECF244321}">
                <p14:modId xmlns:p14="http://schemas.microsoft.com/office/powerpoint/2010/main" val="2755275906"/>
              </p:ext>
            </p:extLst>
          </p:nvPr>
        </p:nvGraphicFramePr>
        <p:xfrm>
          <a:off x="1091961" y="1169029"/>
          <a:ext cx="10008078" cy="4962990"/>
        </p:xfrm>
        <a:graphic>
          <a:graphicData uri="http://schemas.openxmlformats.org/drawingml/2006/table">
            <a:tbl>
              <a:tblPr>
                <a:tableStyleId>{FCE49B7E-5F19-4CB0-BCE9-EA4782633ABD}</a:tableStyleId>
              </a:tblPr>
              <a:tblGrid>
                <a:gridCol w="3336026">
                  <a:extLst>
                    <a:ext uri="{9D8B030D-6E8A-4147-A177-3AD203B41FA5}">
                      <a16:colId xmlns:a16="http://schemas.microsoft.com/office/drawing/2014/main" val="39488491"/>
                    </a:ext>
                  </a:extLst>
                </a:gridCol>
                <a:gridCol w="3336026">
                  <a:extLst>
                    <a:ext uri="{9D8B030D-6E8A-4147-A177-3AD203B41FA5}">
                      <a16:colId xmlns:a16="http://schemas.microsoft.com/office/drawing/2014/main" val="3350323219"/>
                    </a:ext>
                  </a:extLst>
                </a:gridCol>
                <a:gridCol w="3336026">
                  <a:extLst>
                    <a:ext uri="{9D8B030D-6E8A-4147-A177-3AD203B41FA5}">
                      <a16:colId xmlns:a16="http://schemas.microsoft.com/office/drawing/2014/main" val="176762839"/>
                    </a:ext>
                  </a:extLst>
                </a:gridCol>
              </a:tblGrid>
              <a:tr h="290089">
                <a:tc>
                  <a:txBody>
                    <a:bodyPr/>
                    <a:lstStyle/>
                    <a:p>
                      <a:pPr>
                        <a:buNone/>
                      </a:pPr>
                      <a:r>
                        <a:rPr lang="en-IN" sz="1600" b="1" dirty="0">
                          <a:latin typeface="Times New Roman" panose="02020603050405020304" pitchFamily="18" charset="0"/>
                          <a:cs typeface="Times New Roman" panose="02020603050405020304" pitchFamily="18" charset="0"/>
                        </a:rPr>
                        <a:t>Category</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b="1">
                          <a:latin typeface="Times New Roman" panose="02020603050405020304" pitchFamily="18" charset="0"/>
                          <a:cs typeface="Times New Roman" panose="02020603050405020304" pitchFamily="18" charset="0"/>
                        </a:rPr>
                        <a:t>Metric</a:t>
                      </a:r>
                      <a:endParaRPr lang="en-IN" sz="160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b="1">
                          <a:latin typeface="Times New Roman" panose="02020603050405020304" pitchFamily="18" charset="0"/>
                          <a:cs typeface="Times New Roman" panose="02020603050405020304" pitchFamily="18" charset="0"/>
                        </a:rPr>
                        <a:t>Value</a:t>
                      </a:r>
                      <a:endParaRPr lang="en-IN" sz="1600">
                        <a:latin typeface="Times New Roman" panose="02020603050405020304" pitchFamily="18" charset="0"/>
                        <a:cs typeface="Times New Roman" panose="02020603050405020304" pitchFamily="18" charset="0"/>
                      </a:endParaRPr>
                    </a:p>
                  </a:txBody>
                  <a:tcPr marL="87027" marR="87027" marT="43513" marB="43513" anchor="ctr"/>
                </a:tc>
                <a:extLst>
                  <a:ext uri="{0D108BD9-81ED-4DB2-BD59-A6C34878D82A}">
                    <a16:rowId xmlns:a16="http://schemas.microsoft.com/office/drawing/2014/main" val="1473778973"/>
                  </a:ext>
                </a:extLst>
              </a:tr>
              <a:tr h="290089">
                <a:tc rowSpan="6">
                  <a:txBody>
                    <a:bodyPr/>
                    <a:lstStyle/>
                    <a:p>
                      <a:pPr>
                        <a:buNone/>
                      </a:pPr>
                      <a:r>
                        <a:rPr lang="en-IN" sz="1600" b="1" dirty="0">
                          <a:latin typeface="Times New Roman" panose="02020603050405020304" pitchFamily="18" charset="0"/>
                          <a:cs typeface="Times New Roman" panose="02020603050405020304" pitchFamily="18" charset="0"/>
                        </a:rPr>
                        <a:t>Storage &amp; Throughput</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Storage Reduction Ratio (SRR)</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65% – 80%</a:t>
                      </a:r>
                    </a:p>
                  </a:txBody>
                  <a:tcPr marL="87027" marR="87027" marT="43513" marB="43513" anchor="ctr"/>
                </a:tc>
                <a:extLst>
                  <a:ext uri="{0D108BD9-81ED-4DB2-BD59-A6C34878D82A}">
                    <a16:rowId xmlns:a16="http://schemas.microsoft.com/office/drawing/2014/main" val="1601298167"/>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HMAC-SHA256 (per chunk)</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&lt; 0.02 ms</a:t>
                      </a:r>
                    </a:p>
                  </a:txBody>
                  <a:tcPr marL="87027" marR="87027" marT="43513" marB="43513" anchor="ctr"/>
                </a:tc>
                <a:extLst>
                  <a:ext uri="{0D108BD9-81ED-4DB2-BD59-A6C34878D82A}">
                    <a16:rowId xmlns:a16="http://schemas.microsoft.com/office/drawing/2014/main" val="3113948416"/>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AES-256-GCM Encryption</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&lt; 0.10 ms</a:t>
                      </a:r>
                    </a:p>
                  </a:txBody>
                  <a:tcPr marL="87027" marR="87027" marT="43513" marB="43513" anchor="ctr"/>
                </a:tc>
                <a:extLst>
                  <a:ext uri="{0D108BD9-81ED-4DB2-BD59-A6C34878D82A}">
                    <a16:rowId xmlns:a16="http://schemas.microsoft.com/office/drawing/2014/main" val="785037688"/>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Redis Index Lookup</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&lt; 0.50 ms</a:t>
                      </a:r>
                    </a:p>
                  </a:txBody>
                  <a:tcPr marL="87027" marR="87027" marT="43513" marB="43513" anchor="ctr"/>
                </a:tc>
                <a:extLst>
                  <a:ext uri="{0D108BD9-81ED-4DB2-BD59-A6C34878D82A}">
                    <a16:rowId xmlns:a16="http://schemas.microsoft.com/office/drawing/2014/main" val="348777208"/>
                  </a:ext>
                </a:extLst>
              </a:tr>
              <a:tr h="0">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Ristretto255 OPRF</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~0.646 ms</a:t>
                      </a:r>
                    </a:p>
                  </a:txBody>
                  <a:tcPr marL="87027" marR="87027" marT="43513" marB="43513" anchor="ctr"/>
                </a:tc>
                <a:extLst>
                  <a:ext uri="{0D108BD9-81ED-4DB2-BD59-A6C34878D82A}">
                    <a16:rowId xmlns:a16="http://schemas.microsoft.com/office/drawing/2014/main" val="3984515890"/>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System Throughput</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50,000 chunks/s</a:t>
                      </a:r>
                    </a:p>
                  </a:txBody>
                  <a:tcPr marL="87027" marR="87027" marT="43513" marB="43513" anchor="ctr"/>
                </a:tc>
                <a:extLst>
                  <a:ext uri="{0D108BD9-81ED-4DB2-BD59-A6C34878D82A}">
                    <a16:rowId xmlns:a16="http://schemas.microsoft.com/office/drawing/2014/main" val="3379623745"/>
                  </a:ext>
                </a:extLst>
              </a:tr>
              <a:tr h="290089">
                <a:tc rowSpan="2">
                  <a:txBody>
                    <a:bodyPr/>
                    <a:lstStyle/>
                    <a:p>
                      <a:pPr>
                        <a:buNone/>
                      </a:pPr>
                      <a:r>
                        <a:rPr lang="en-IN" sz="1600" b="1" dirty="0">
                          <a:latin typeface="Times New Roman" panose="02020603050405020304" pitchFamily="18" charset="0"/>
                          <a:cs typeface="Times New Roman" panose="02020603050405020304" pitchFamily="18" charset="0"/>
                        </a:rPr>
                        <a:t>Cross-User Deduplication</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1st Upload Entries</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16</a:t>
                      </a:r>
                    </a:p>
                  </a:txBody>
                  <a:tcPr marL="87027" marR="87027" marT="43513" marB="43513" anchor="ctr"/>
                </a:tc>
                <a:extLst>
                  <a:ext uri="{0D108BD9-81ED-4DB2-BD59-A6C34878D82A}">
                    <a16:rowId xmlns:a16="http://schemas.microsoft.com/office/drawing/2014/main" val="3968867582"/>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2nd Upload Entries</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0 (No duplication)</a:t>
                      </a:r>
                    </a:p>
                  </a:txBody>
                  <a:tcPr marL="87027" marR="87027" marT="43513" marB="43513" anchor="ctr"/>
                </a:tc>
                <a:extLst>
                  <a:ext uri="{0D108BD9-81ED-4DB2-BD59-A6C34878D82A}">
                    <a16:rowId xmlns:a16="http://schemas.microsoft.com/office/drawing/2014/main" val="2619672098"/>
                  </a:ext>
                </a:extLst>
              </a:tr>
              <a:tr h="290089">
                <a:tc rowSpan="3">
                  <a:txBody>
                    <a:bodyPr/>
                    <a:lstStyle/>
                    <a:p>
                      <a:pPr>
                        <a:buNone/>
                      </a:pPr>
                      <a:r>
                        <a:rPr lang="en-IN" sz="1600" b="1" dirty="0">
                          <a:latin typeface="Times New Roman" panose="02020603050405020304" pitchFamily="18" charset="0"/>
                          <a:cs typeface="Times New Roman" panose="02020603050405020304" pitchFamily="18" charset="0"/>
                        </a:rPr>
                        <a:t>Deduplication Savings</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Zipf Workload</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91.6%</a:t>
                      </a:r>
                    </a:p>
                  </a:txBody>
                  <a:tcPr marL="87027" marR="87027" marT="43513" marB="43513" anchor="ctr"/>
                </a:tc>
                <a:extLst>
                  <a:ext uri="{0D108BD9-81ED-4DB2-BD59-A6C34878D82A}">
                    <a16:rowId xmlns:a16="http://schemas.microsoft.com/office/drawing/2014/main" val="2894526989"/>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Cross-user Measured</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~65%</a:t>
                      </a:r>
                    </a:p>
                  </a:txBody>
                  <a:tcPr marL="87027" marR="87027" marT="43513" marB="43513" anchor="ctr"/>
                </a:tc>
                <a:extLst>
                  <a:ext uri="{0D108BD9-81ED-4DB2-BD59-A6C34878D82A}">
                    <a16:rowId xmlns:a16="http://schemas.microsoft.com/office/drawing/2014/main" val="2048548354"/>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Target High</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~80%</a:t>
                      </a:r>
                    </a:p>
                  </a:txBody>
                  <a:tcPr marL="87027" marR="87027" marT="43513" marB="43513" anchor="ctr"/>
                </a:tc>
                <a:extLst>
                  <a:ext uri="{0D108BD9-81ED-4DB2-BD59-A6C34878D82A}">
                    <a16:rowId xmlns:a16="http://schemas.microsoft.com/office/drawing/2014/main" val="2780612574"/>
                  </a:ext>
                </a:extLst>
              </a:tr>
              <a:tr h="290089">
                <a:tc rowSpan="3">
                  <a:txBody>
                    <a:bodyPr/>
                    <a:lstStyle/>
                    <a:p>
                      <a:pPr>
                        <a:buNone/>
                      </a:pPr>
                      <a:r>
                        <a:rPr lang="en-IN" sz="1600" b="1" dirty="0">
                          <a:latin typeface="Times New Roman" panose="02020603050405020304" pitchFamily="18" charset="0"/>
                          <a:cs typeface="Times New Roman" panose="02020603050405020304" pitchFamily="18" charset="0"/>
                        </a:rPr>
                        <a:t>Overhead (REFA vs AES)</a:t>
                      </a:r>
                      <a:endParaRPr lang="en-IN" sz="16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4 KB Chunk</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~3.9%</a:t>
                      </a:r>
                    </a:p>
                  </a:txBody>
                  <a:tcPr marL="87027" marR="87027" marT="43513" marB="43513" anchor="ctr"/>
                </a:tc>
                <a:extLst>
                  <a:ext uri="{0D108BD9-81ED-4DB2-BD59-A6C34878D82A}">
                    <a16:rowId xmlns:a16="http://schemas.microsoft.com/office/drawing/2014/main" val="2773296947"/>
                  </a:ext>
                </a:extLst>
              </a:tr>
              <a:tr h="290089">
                <a:tc vMerge="1">
                  <a:txBody>
                    <a:bodyPr/>
                    <a:lstStyle/>
                    <a:p>
                      <a:pPr>
                        <a:buNone/>
                      </a:pPr>
                      <a:endParaRPr lang="en-IN" sz="130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8 KB Chunk</a:t>
                      </a:r>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~2.0%</a:t>
                      </a:r>
                    </a:p>
                  </a:txBody>
                  <a:tcPr marL="87027" marR="87027" marT="43513" marB="43513" anchor="ctr"/>
                </a:tc>
                <a:extLst>
                  <a:ext uri="{0D108BD9-81ED-4DB2-BD59-A6C34878D82A}">
                    <a16:rowId xmlns:a16="http://schemas.microsoft.com/office/drawing/2014/main" val="681050577"/>
                  </a:ext>
                </a:extLst>
              </a:tr>
              <a:tr h="290089">
                <a:tc vMerge="1">
                  <a:txBody>
                    <a:bodyPr/>
                    <a:lstStyle/>
                    <a:p>
                      <a:pPr>
                        <a:buNone/>
                      </a:pPr>
                      <a:endParaRPr lang="en-IN" sz="1300" dirty="0"/>
                    </a:p>
                  </a:txBody>
                  <a:tcPr marL="87027" marR="87027" marT="43513" marB="43513" anchor="ctr"/>
                </a:tc>
                <a:tc>
                  <a:txBody>
                    <a:bodyPr/>
                    <a:lstStyle/>
                    <a:p>
                      <a:pPr>
                        <a:buNone/>
                      </a:pPr>
                      <a:r>
                        <a:rPr lang="en-IN" sz="1600">
                          <a:latin typeface="Times New Roman" panose="02020603050405020304" pitchFamily="18" charset="0"/>
                          <a:cs typeface="Times New Roman" panose="02020603050405020304" pitchFamily="18" charset="0"/>
                        </a:rPr>
                        <a:t>16 KB Chunk</a:t>
                      </a:r>
                    </a:p>
                  </a:txBody>
                  <a:tcPr marL="87027" marR="87027" marT="43513" marB="43513" anchor="ctr"/>
                </a:tc>
                <a:tc>
                  <a:txBody>
                    <a:bodyPr/>
                    <a:lstStyle/>
                    <a:p>
                      <a:pPr>
                        <a:buNone/>
                      </a:pPr>
                      <a:r>
                        <a:rPr lang="en-IN" sz="1600" dirty="0">
                          <a:latin typeface="Times New Roman" panose="02020603050405020304" pitchFamily="18" charset="0"/>
                          <a:cs typeface="Times New Roman" panose="02020603050405020304" pitchFamily="18" charset="0"/>
                        </a:rPr>
                        <a:t>~1.0%</a:t>
                      </a:r>
                    </a:p>
                  </a:txBody>
                  <a:tcPr marL="87027" marR="87027" marT="43513" marB="43513" anchor="ctr"/>
                </a:tc>
                <a:extLst>
                  <a:ext uri="{0D108BD9-81ED-4DB2-BD59-A6C34878D82A}">
                    <a16:rowId xmlns:a16="http://schemas.microsoft.com/office/drawing/2014/main" val="3236041549"/>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1966-EC63-4933-7A56-672408047670}"/>
              </a:ext>
            </a:extLst>
          </p:cNvPr>
          <p:cNvSpPr>
            <a:spLocks noGrp="1"/>
          </p:cNvSpPr>
          <p:nvPr>
            <p:ph type="title"/>
          </p:nvPr>
        </p:nvSpPr>
        <p:spPr/>
        <p:txBody>
          <a:bodyPr>
            <a:normAutofit/>
          </a:bodyPr>
          <a:lstStyle/>
          <a:p>
            <a:r>
              <a:rPr lang="en-US" sz="3600" b="1" dirty="0">
                <a:latin typeface="Times New Roman" panose="02020603050405020304" pitchFamily="18" charset="0"/>
                <a:ea typeface="Calibri" pitchFamily="34" charset="-122"/>
                <a:cs typeface="Times New Roman" panose="02020603050405020304" pitchFamily="18" charset="0"/>
              </a:rPr>
              <a:t>Results - Supervised Detection (Random Forest)</a:t>
            </a:r>
            <a:endParaRPr lang="en-IN" sz="3600" dirty="0"/>
          </a:p>
        </p:txBody>
      </p:sp>
      <p:sp>
        <p:nvSpPr>
          <p:cNvPr id="4" name="Slide Number Placeholder 3">
            <a:extLst>
              <a:ext uri="{FF2B5EF4-FFF2-40B4-BE49-F238E27FC236}">
                <a16:creationId xmlns:a16="http://schemas.microsoft.com/office/drawing/2014/main" id="{0CE4D12D-B691-5E84-0D04-F3B33299C2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35</a:t>
            </a:fld>
            <a:endParaRPr lang="en-IN"/>
          </a:p>
        </p:txBody>
      </p:sp>
      <p:pic>
        <p:nvPicPr>
          <p:cNvPr id="7" name="/home/claude/figs2/fig51a_binary_cm.png" title="/home/claude/figs2/fig51a_binary_cm.png">
            <a:extLst>
              <a:ext uri="{FF2B5EF4-FFF2-40B4-BE49-F238E27FC236}">
                <a16:creationId xmlns:a16="http://schemas.microsoft.com/office/drawing/2014/main" id="{6B9F9EBA-E922-DF7D-BEBD-88C9F857D7D8}"/>
              </a:ext>
            </a:extLst>
          </p:cNvPr>
          <p:cNvPicPr>
            <a:picLocks noChangeAspect="1"/>
          </p:cNvPicPr>
          <p:nvPr/>
        </p:nvPicPr>
        <p:blipFill>
          <a:blip r:embed="rId2"/>
          <a:srcRect/>
          <a:stretch>
            <a:fillRect/>
          </a:stretch>
        </p:blipFill>
        <p:spPr bwMode="auto">
          <a:xfrm>
            <a:off x="838200" y="1812791"/>
            <a:ext cx="4713329" cy="3720807"/>
          </a:xfrm>
          <a:prstGeom prst="rect">
            <a:avLst/>
          </a:prstGeom>
        </p:spPr>
      </p:pic>
      <p:pic>
        <p:nvPicPr>
          <p:cNvPr id="8" name="/home/claude/figs2/fig51b_multiclass_cm.png" title="/home/claude/figs2/fig51b_multiclass_cm.png">
            <a:extLst>
              <a:ext uri="{FF2B5EF4-FFF2-40B4-BE49-F238E27FC236}">
                <a16:creationId xmlns:a16="http://schemas.microsoft.com/office/drawing/2014/main" id="{152BE610-3084-78B9-9B51-96E9ACA82C43}"/>
              </a:ext>
            </a:extLst>
          </p:cNvPr>
          <p:cNvPicPr>
            <a:picLocks noChangeAspect="1"/>
          </p:cNvPicPr>
          <p:nvPr/>
        </p:nvPicPr>
        <p:blipFill>
          <a:blip r:embed="rId3"/>
          <a:srcRect/>
          <a:stretch>
            <a:fillRect/>
          </a:stretch>
        </p:blipFill>
        <p:spPr bwMode="auto">
          <a:xfrm>
            <a:off x="6402402" y="1901281"/>
            <a:ext cx="4951398" cy="4126165"/>
          </a:xfrm>
          <a:prstGeom prst="rect">
            <a:avLst/>
          </a:prstGeom>
        </p:spPr>
      </p:pic>
    </p:spTree>
    <p:extLst>
      <p:ext uri="{BB962C8B-B14F-4D97-AF65-F5344CB8AC3E}">
        <p14:creationId xmlns:p14="http://schemas.microsoft.com/office/powerpoint/2010/main" val="2531190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1848A-F212-6FFF-F7D1-6962FEC4B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24F2B-2F1D-8D58-F59F-FD71F696A816}"/>
              </a:ext>
            </a:extLst>
          </p:cNvPr>
          <p:cNvSpPr>
            <a:spLocks noGrp="1"/>
          </p:cNvSpPr>
          <p:nvPr>
            <p:ph type="title"/>
          </p:nvPr>
        </p:nvSpPr>
        <p:spPr/>
        <p:txBody>
          <a:bodyPr>
            <a:normAutofit/>
          </a:bodyPr>
          <a:lstStyle/>
          <a:p>
            <a:r>
              <a:rPr lang="en-US" sz="3600" b="1" dirty="0">
                <a:latin typeface="Times New Roman" panose="02020603050405020304" pitchFamily="18" charset="0"/>
                <a:ea typeface="Calibri" pitchFamily="34" charset="-122"/>
                <a:cs typeface="Times New Roman" panose="02020603050405020304" pitchFamily="18" charset="0"/>
              </a:rPr>
              <a:t>Results - Supervised Detection (Random Forest)</a:t>
            </a:r>
            <a:endParaRPr lang="en-IN" sz="3600" dirty="0"/>
          </a:p>
        </p:txBody>
      </p:sp>
      <p:sp>
        <p:nvSpPr>
          <p:cNvPr id="4" name="Slide Number Placeholder 3">
            <a:extLst>
              <a:ext uri="{FF2B5EF4-FFF2-40B4-BE49-F238E27FC236}">
                <a16:creationId xmlns:a16="http://schemas.microsoft.com/office/drawing/2014/main" id="{0AB38AC6-52E2-6CA5-C2A1-F3BC41C5E4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36</a:t>
            </a:fld>
            <a:endParaRPr lang="en-IN"/>
          </a:p>
        </p:txBody>
      </p:sp>
      <p:pic>
        <p:nvPicPr>
          <p:cNvPr id="3" name="/home/claude/figs2/fig52a_unsup_cm.png" title="/home/claude/figs2/fig52a_unsup_cm.png">
            <a:extLst>
              <a:ext uri="{FF2B5EF4-FFF2-40B4-BE49-F238E27FC236}">
                <a16:creationId xmlns:a16="http://schemas.microsoft.com/office/drawing/2014/main" id="{15E25E5A-2995-85C3-0FC8-26B07BD1BB90}"/>
              </a:ext>
            </a:extLst>
          </p:cNvPr>
          <p:cNvPicPr>
            <a:picLocks noChangeAspect="1"/>
          </p:cNvPicPr>
          <p:nvPr/>
        </p:nvPicPr>
        <p:blipFill>
          <a:blip r:embed="rId2"/>
          <a:srcRect/>
          <a:stretch>
            <a:fillRect/>
          </a:stretch>
        </p:blipFill>
        <p:spPr bwMode="auto">
          <a:xfrm>
            <a:off x="1013661" y="2000249"/>
            <a:ext cx="4568992" cy="3607099"/>
          </a:xfrm>
          <a:prstGeom prst="rect">
            <a:avLst/>
          </a:prstGeom>
        </p:spPr>
      </p:pic>
      <p:pic>
        <p:nvPicPr>
          <p:cNvPr id="5" name="/home/claude/figs2/fig52b_pr_curve.png" title="/home/claude/figs2/fig52b_pr_curve.png">
            <a:extLst>
              <a:ext uri="{FF2B5EF4-FFF2-40B4-BE49-F238E27FC236}">
                <a16:creationId xmlns:a16="http://schemas.microsoft.com/office/drawing/2014/main" id="{F87E8DE2-4F3A-C0DB-2278-EBDEEB657DBC}"/>
              </a:ext>
            </a:extLst>
          </p:cNvPr>
          <p:cNvPicPr>
            <a:picLocks noChangeAspect="1"/>
          </p:cNvPicPr>
          <p:nvPr/>
        </p:nvPicPr>
        <p:blipFill>
          <a:blip r:embed="rId3"/>
          <a:srcRect/>
          <a:stretch>
            <a:fillRect/>
          </a:stretch>
        </p:blipFill>
        <p:spPr bwMode="auto">
          <a:xfrm>
            <a:off x="6326104" y="2000249"/>
            <a:ext cx="4852235" cy="3610966"/>
          </a:xfrm>
          <a:prstGeom prst="rect">
            <a:avLst/>
          </a:prstGeom>
        </p:spPr>
      </p:pic>
    </p:spTree>
    <p:extLst>
      <p:ext uri="{BB962C8B-B14F-4D97-AF65-F5344CB8AC3E}">
        <p14:creationId xmlns:p14="http://schemas.microsoft.com/office/powerpoint/2010/main" val="2367232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252B8-ECE3-C813-8F4D-D295EBC08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8A7D8-8AD0-C2AE-112F-486C71076080}"/>
              </a:ext>
            </a:extLst>
          </p:cNvPr>
          <p:cNvSpPr>
            <a:spLocks noGrp="1"/>
          </p:cNvSpPr>
          <p:nvPr>
            <p:ph type="title"/>
          </p:nvPr>
        </p:nvSpPr>
        <p:spPr/>
        <p:txBody>
          <a:bodyPr>
            <a:normAutofit/>
          </a:bodyPr>
          <a:lstStyle/>
          <a:p>
            <a:r>
              <a:rPr lang="en-US" sz="3600" b="1" dirty="0">
                <a:latin typeface="Times New Roman" panose="02020603050405020304" pitchFamily="18" charset="0"/>
                <a:ea typeface="Calibri" pitchFamily="34" charset="-122"/>
                <a:cs typeface="Times New Roman" panose="02020603050405020304" pitchFamily="18" charset="0"/>
              </a:rPr>
              <a:t>Results – Adaptive Proof-of-Ownership</a:t>
            </a:r>
            <a:endParaRPr lang="en-IN" sz="3600" dirty="0"/>
          </a:p>
        </p:txBody>
      </p:sp>
      <p:sp>
        <p:nvSpPr>
          <p:cNvPr id="4" name="Slide Number Placeholder 3">
            <a:extLst>
              <a:ext uri="{FF2B5EF4-FFF2-40B4-BE49-F238E27FC236}">
                <a16:creationId xmlns:a16="http://schemas.microsoft.com/office/drawing/2014/main" id="{BE759C8F-3007-7AD5-DD64-5E04030C84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37</a:t>
            </a:fld>
            <a:endParaRPr lang="en-IN"/>
          </a:p>
        </p:txBody>
      </p:sp>
      <p:pic>
        <p:nvPicPr>
          <p:cNvPr id="6" name="/home/claude/figs2/fig53a_difficulty_dist.png" title="/home/claude/figs2/fig53a_difficulty_dist.png">
            <a:extLst>
              <a:ext uri="{FF2B5EF4-FFF2-40B4-BE49-F238E27FC236}">
                <a16:creationId xmlns:a16="http://schemas.microsoft.com/office/drawing/2014/main" id="{4E263F6A-0CBD-EAA0-B6D4-6B75403B8F9C}"/>
              </a:ext>
            </a:extLst>
          </p:cNvPr>
          <p:cNvPicPr>
            <a:picLocks noChangeAspect="1"/>
          </p:cNvPicPr>
          <p:nvPr/>
        </p:nvPicPr>
        <p:blipFill>
          <a:blip r:embed="rId2"/>
          <a:srcRect/>
          <a:stretch>
            <a:fillRect/>
          </a:stretch>
        </p:blipFill>
        <p:spPr bwMode="auto">
          <a:xfrm>
            <a:off x="838200" y="1935580"/>
            <a:ext cx="3619500" cy="2762250"/>
          </a:xfrm>
          <a:prstGeom prst="rect">
            <a:avLst/>
          </a:prstGeom>
        </p:spPr>
      </p:pic>
      <p:pic>
        <p:nvPicPr>
          <p:cNvPr id="7" name="/home/claude/figs2/fig53b_challenge_length.png" title="/home/claude/figs2/fig53b_challenge_length.png">
            <a:extLst>
              <a:ext uri="{FF2B5EF4-FFF2-40B4-BE49-F238E27FC236}">
                <a16:creationId xmlns:a16="http://schemas.microsoft.com/office/drawing/2014/main" id="{19935E55-0EAE-02EF-409B-E02CC2728CC9}"/>
              </a:ext>
            </a:extLst>
          </p:cNvPr>
          <p:cNvPicPr>
            <a:picLocks noChangeAspect="1"/>
          </p:cNvPicPr>
          <p:nvPr/>
        </p:nvPicPr>
        <p:blipFill>
          <a:blip r:embed="rId3"/>
          <a:srcRect/>
          <a:stretch>
            <a:fillRect/>
          </a:stretch>
        </p:blipFill>
        <p:spPr bwMode="auto">
          <a:xfrm>
            <a:off x="4610100" y="1935580"/>
            <a:ext cx="4000500" cy="2762250"/>
          </a:xfrm>
          <a:prstGeom prst="rect">
            <a:avLst/>
          </a:prstGeom>
        </p:spPr>
      </p:pic>
      <p:pic>
        <p:nvPicPr>
          <p:cNvPr id="8" name="/home/claude/figs2/fig53c_attacker_success.png" title="/home/claude/figs2/fig53c_attacker_success.png">
            <a:extLst>
              <a:ext uri="{FF2B5EF4-FFF2-40B4-BE49-F238E27FC236}">
                <a16:creationId xmlns:a16="http://schemas.microsoft.com/office/drawing/2014/main" id="{FCD4EF7D-17A8-9CBE-444D-A4B218A63DE6}"/>
              </a:ext>
            </a:extLst>
          </p:cNvPr>
          <p:cNvPicPr>
            <a:picLocks noChangeAspect="1"/>
          </p:cNvPicPr>
          <p:nvPr/>
        </p:nvPicPr>
        <p:blipFill>
          <a:blip r:embed="rId4"/>
          <a:srcRect/>
          <a:stretch>
            <a:fillRect/>
          </a:stretch>
        </p:blipFill>
        <p:spPr bwMode="auto">
          <a:xfrm>
            <a:off x="8763000" y="1968083"/>
            <a:ext cx="3429000" cy="2762250"/>
          </a:xfrm>
          <a:prstGeom prst="rect">
            <a:avLst/>
          </a:prstGeom>
        </p:spPr>
      </p:pic>
    </p:spTree>
    <p:extLst>
      <p:ext uri="{BB962C8B-B14F-4D97-AF65-F5344CB8AC3E}">
        <p14:creationId xmlns:p14="http://schemas.microsoft.com/office/powerpoint/2010/main" val="19277934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D7EEC-BA46-6D12-6108-E969FF852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2088B-EEF1-8ED7-B974-F2C777583E7C}"/>
              </a:ext>
            </a:extLst>
          </p:cNvPr>
          <p:cNvSpPr>
            <a:spLocks noGrp="1"/>
          </p:cNvSpPr>
          <p:nvPr>
            <p:ph type="title"/>
          </p:nvPr>
        </p:nvSpPr>
        <p:spPr>
          <a:xfrm>
            <a:off x="838200" y="136525"/>
            <a:ext cx="10515600" cy="1325563"/>
          </a:xfrm>
        </p:spPr>
        <p:txBody>
          <a:bodyPr>
            <a:normAutofit/>
          </a:bodyPr>
          <a:lstStyle/>
          <a:p>
            <a:r>
              <a:rPr lang="en-US" sz="3600" b="1" dirty="0">
                <a:latin typeface="Times New Roman" panose="02020603050405020304" pitchFamily="18" charset="0"/>
                <a:ea typeface="Calibri" pitchFamily="34" charset="-122"/>
                <a:cs typeface="Times New Roman" panose="02020603050405020304" pitchFamily="18" charset="0"/>
              </a:rPr>
              <a:t>Results – Deduplication Performance</a:t>
            </a:r>
            <a:endParaRPr lang="en-IN" sz="3600" dirty="0"/>
          </a:p>
        </p:txBody>
      </p:sp>
      <p:sp>
        <p:nvSpPr>
          <p:cNvPr id="4" name="Slide Number Placeholder 3">
            <a:extLst>
              <a:ext uri="{FF2B5EF4-FFF2-40B4-BE49-F238E27FC236}">
                <a16:creationId xmlns:a16="http://schemas.microsoft.com/office/drawing/2014/main" id="{0BD205FC-EBC8-7561-CC79-FDE69F3911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38</a:t>
            </a:fld>
            <a:endParaRPr lang="en-IN"/>
          </a:p>
        </p:txBody>
      </p:sp>
      <p:pic>
        <p:nvPicPr>
          <p:cNvPr id="3" name="/home/claude/figs2/fig55a_storage_reduction.png" title="/home/claude/figs2/fig55a_storage_reduction.png">
            <a:extLst>
              <a:ext uri="{FF2B5EF4-FFF2-40B4-BE49-F238E27FC236}">
                <a16:creationId xmlns:a16="http://schemas.microsoft.com/office/drawing/2014/main" id="{76ABF426-845D-E227-5285-2F3F0351B743}"/>
              </a:ext>
            </a:extLst>
          </p:cNvPr>
          <p:cNvPicPr>
            <a:picLocks noChangeAspect="1"/>
          </p:cNvPicPr>
          <p:nvPr/>
        </p:nvPicPr>
        <p:blipFill>
          <a:blip r:embed="rId2"/>
          <a:srcRect/>
          <a:stretch>
            <a:fillRect/>
          </a:stretch>
        </p:blipFill>
        <p:spPr bwMode="auto">
          <a:xfrm>
            <a:off x="769374" y="1273175"/>
            <a:ext cx="4000500" cy="2762250"/>
          </a:xfrm>
          <a:prstGeom prst="rect">
            <a:avLst/>
          </a:prstGeom>
        </p:spPr>
      </p:pic>
      <p:pic>
        <p:nvPicPr>
          <p:cNvPr id="5" name="/home/claude/figs2/fig55b_throughput.png" title="/home/claude/figs2/fig55b_throughput.png">
            <a:extLst>
              <a:ext uri="{FF2B5EF4-FFF2-40B4-BE49-F238E27FC236}">
                <a16:creationId xmlns:a16="http://schemas.microsoft.com/office/drawing/2014/main" id="{FE3391BC-1C93-1605-FB96-A44D21BB0150}"/>
              </a:ext>
            </a:extLst>
          </p:cNvPr>
          <p:cNvPicPr>
            <a:picLocks noChangeAspect="1"/>
          </p:cNvPicPr>
          <p:nvPr/>
        </p:nvPicPr>
        <p:blipFill>
          <a:blip r:embed="rId3"/>
          <a:srcRect/>
          <a:stretch>
            <a:fillRect/>
          </a:stretch>
        </p:blipFill>
        <p:spPr bwMode="auto">
          <a:xfrm>
            <a:off x="7981950" y="1319610"/>
            <a:ext cx="4000500" cy="2762250"/>
          </a:xfrm>
          <a:prstGeom prst="rect">
            <a:avLst/>
          </a:prstGeom>
        </p:spPr>
      </p:pic>
      <p:pic>
        <p:nvPicPr>
          <p:cNvPr id="9" name="/home/claude/figs2/fig55c_latency.png" title="/home/claude/figs2/fig55c_latency.png">
            <a:extLst>
              <a:ext uri="{FF2B5EF4-FFF2-40B4-BE49-F238E27FC236}">
                <a16:creationId xmlns:a16="http://schemas.microsoft.com/office/drawing/2014/main" id="{DEB1E7F0-7783-63DD-2F45-C0F26A579790}"/>
              </a:ext>
            </a:extLst>
          </p:cNvPr>
          <p:cNvPicPr>
            <a:picLocks noChangeAspect="1"/>
          </p:cNvPicPr>
          <p:nvPr/>
        </p:nvPicPr>
        <p:blipFill>
          <a:blip r:embed="rId4"/>
          <a:srcRect/>
          <a:stretch>
            <a:fillRect/>
          </a:stretch>
        </p:blipFill>
        <p:spPr bwMode="auto">
          <a:xfrm>
            <a:off x="4303456" y="3939382"/>
            <a:ext cx="4000500" cy="2762250"/>
          </a:xfrm>
          <a:prstGeom prst="rect">
            <a:avLst/>
          </a:prstGeom>
        </p:spPr>
      </p:pic>
    </p:spTree>
    <p:extLst>
      <p:ext uri="{BB962C8B-B14F-4D97-AF65-F5344CB8AC3E}">
        <p14:creationId xmlns:p14="http://schemas.microsoft.com/office/powerpoint/2010/main" val="3688156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F6A0-EF43-0B57-7301-B134A44A5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0B96B-FB31-4644-8E6E-FC8441461A32}"/>
              </a:ext>
            </a:extLst>
          </p:cNvPr>
          <p:cNvSpPr>
            <a:spLocks noGrp="1"/>
          </p:cNvSpPr>
          <p:nvPr>
            <p:ph type="title"/>
          </p:nvPr>
        </p:nvSpPr>
        <p:spPr/>
        <p:txBody>
          <a:bodyPr>
            <a:normAutofit/>
          </a:bodyPr>
          <a:lstStyle/>
          <a:p>
            <a:r>
              <a:rPr lang="en-US" sz="3600" b="1" dirty="0">
                <a:latin typeface="Times New Roman" panose="02020603050405020304" pitchFamily="18" charset="0"/>
                <a:ea typeface="Calibri" pitchFamily="34" charset="-122"/>
                <a:cs typeface="Times New Roman" panose="02020603050405020304" pitchFamily="18" charset="0"/>
              </a:rPr>
              <a:t>Results – </a:t>
            </a:r>
            <a:r>
              <a:rPr lang="en-US" sz="3600" b="1" dirty="0">
                <a:latin typeface="Times New Roman" panose="02020603050405020304" pitchFamily="18" charset="0"/>
                <a:cs typeface="Times New Roman" panose="02020603050405020304" pitchFamily="18" charset="0"/>
              </a:rPr>
              <a:t>Performance Comparison and Per-Class F₁ Score Analysis</a:t>
            </a:r>
            <a:endParaRPr lang="en-IN" sz="36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296034D-9A42-FE34-B2FB-EDF66F63C1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39</a:t>
            </a:fld>
            <a:endParaRPr lang="en-IN"/>
          </a:p>
        </p:txBody>
      </p:sp>
      <p:pic>
        <p:nvPicPr>
          <p:cNvPr id="8" name="/home/claude/figs2/fig54a_module_comparison.png" title="/home/claude/figs2/fig54a_module_comparison.png">
            <a:extLst>
              <a:ext uri="{FF2B5EF4-FFF2-40B4-BE49-F238E27FC236}">
                <a16:creationId xmlns:a16="http://schemas.microsoft.com/office/drawing/2014/main" id="{3E699DA2-8799-8162-C3D9-57403C48B9AE}"/>
              </a:ext>
            </a:extLst>
          </p:cNvPr>
          <p:cNvPicPr>
            <a:picLocks noChangeAspect="1"/>
          </p:cNvPicPr>
          <p:nvPr/>
        </p:nvPicPr>
        <p:blipFill>
          <a:blip r:embed="rId2"/>
          <a:srcRect/>
          <a:stretch>
            <a:fillRect/>
          </a:stretch>
        </p:blipFill>
        <p:spPr bwMode="auto">
          <a:xfrm>
            <a:off x="1194133" y="2288506"/>
            <a:ext cx="4677277" cy="2948718"/>
          </a:xfrm>
          <a:prstGeom prst="rect">
            <a:avLst/>
          </a:prstGeom>
        </p:spPr>
      </p:pic>
      <p:pic>
        <p:nvPicPr>
          <p:cNvPr id="10" name="/home/claude/figs2/fig54b_perclass_f1.png" title="/home/claude/figs2/fig54b_perclass_f1.png">
            <a:extLst>
              <a:ext uri="{FF2B5EF4-FFF2-40B4-BE49-F238E27FC236}">
                <a16:creationId xmlns:a16="http://schemas.microsoft.com/office/drawing/2014/main" id="{8CC74424-2983-7EBF-FCAC-E2C01BC640E2}"/>
              </a:ext>
            </a:extLst>
          </p:cNvPr>
          <p:cNvPicPr>
            <a:picLocks noChangeAspect="1"/>
          </p:cNvPicPr>
          <p:nvPr/>
        </p:nvPicPr>
        <p:blipFill>
          <a:blip r:embed="rId3"/>
          <a:srcRect/>
          <a:stretch>
            <a:fillRect/>
          </a:stretch>
        </p:blipFill>
        <p:spPr bwMode="auto">
          <a:xfrm>
            <a:off x="6610349" y="2288505"/>
            <a:ext cx="4538913" cy="3134011"/>
          </a:xfrm>
          <a:prstGeom prst="rect">
            <a:avLst/>
          </a:prstGeom>
        </p:spPr>
      </p:pic>
    </p:spTree>
    <p:extLst>
      <p:ext uri="{BB962C8B-B14F-4D97-AF65-F5344CB8AC3E}">
        <p14:creationId xmlns:p14="http://schemas.microsoft.com/office/powerpoint/2010/main" val="7148395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0"/>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TESTS &amp; RESULTS</a:t>
            </a:r>
            <a:endParaRPr sz="3600" dirty="0"/>
          </a:p>
        </p:txBody>
      </p:sp>
      <p:sp>
        <p:nvSpPr>
          <p:cNvPr id="401" name="Google Shape;401;p40"/>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402" name="Google Shape;40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40</a:t>
            </a:fld>
            <a:endParaRPr dirty="0"/>
          </a:p>
        </p:txBody>
      </p:sp>
      <p:sp>
        <p:nvSpPr>
          <p:cNvPr id="403" name="Google Shape;403;p40"/>
          <p:cNvSpPr txBox="1"/>
          <p:nvPr/>
        </p:nvSpPr>
        <p:spPr>
          <a:xfrm>
            <a:off x="838200" y="1348080"/>
            <a:ext cx="769620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200"/>
              <a:buFont typeface="Times New Roman"/>
              <a:buNone/>
            </a:pPr>
            <a:r>
              <a:rPr lang="en-IN" sz="2200" b="1" dirty="0">
                <a:solidFill>
                  <a:schemeClr val="dk1"/>
                </a:solidFill>
                <a:latin typeface="Times New Roman"/>
                <a:ea typeface="Times New Roman"/>
                <a:cs typeface="Times New Roman"/>
                <a:sym typeface="Times New Roman"/>
              </a:rPr>
              <a:t>Cryptographic &amp; Integration Test Results (46 Passing Tests)</a:t>
            </a:r>
          </a:p>
          <a:p>
            <a:pPr marL="0" marR="0" lvl="0" indent="0" algn="l" rtl="0">
              <a:spcBef>
                <a:spcPts val="0"/>
              </a:spcBef>
              <a:spcAft>
                <a:spcPts val="0"/>
              </a:spcAft>
              <a:buClr>
                <a:schemeClr val="dk1"/>
              </a:buClr>
              <a:buSzPts val="2200"/>
              <a:buFont typeface="Times New Roman"/>
              <a:buNone/>
            </a:pPr>
            <a:endParaRPr dirty="0"/>
          </a:p>
        </p:txBody>
      </p:sp>
      <p:graphicFrame>
        <p:nvGraphicFramePr>
          <p:cNvPr id="404" name="Google Shape;404;p40"/>
          <p:cNvGraphicFramePr/>
          <p:nvPr>
            <p:extLst>
              <p:ext uri="{D42A27DB-BD31-4B8C-83A1-F6EECF244321}">
                <p14:modId xmlns:p14="http://schemas.microsoft.com/office/powerpoint/2010/main" val="2801985562"/>
              </p:ext>
            </p:extLst>
          </p:nvPr>
        </p:nvGraphicFramePr>
        <p:xfrm>
          <a:off x="938269" y="2101418"/>
          <a:ext cx="8555325" cy="3964425"/>
        </p:xfrm>
        <a:graphic>
          <a:graphicData uri="http://schemas.openxmlformats.org/drawingml/2006/table">
            <a:tbl>
              <a:tblPr firstRow="1" bandRow="1">
                <a:tableStyleId>{FCE49B7E-5F19-4CB0-BCE9-EA4782633ABD}</a:tableStyleId>
              </a:tblPr>
              <a:tblGrid>
                <a:gridCol w="2851775">
                  <a:extLst>
                    <a:ext uri="{9D8B030D-6E8A-4147-A177-3AD203B41FA5}">
                      <a16:colId xmlns:a16="http://schemas.microsoft.com/office/drawing/2014/main" val="20000"/>
                    </a:ext>
                  </a:extLst>
                </a:gridCol>
                <a:gridCol w="2851775">
                  <a:extLst>
                    <a:ext uri="{9D8B030D-6E8A-4147-A177-3AD203B41FA5}">
                      <a16:colId xmlns:a16="http://schemas.microsoft.com/office/drawing/2014/main" val="20001"/>
                    </a:ext>
                  </a:extLst>
                </a:gridCol>
                <a:gridCol w="2851775">
                  <a:extLst>
                    <a:ext uri="{9D8B030D-6E8A-4147-A177-3AD203B41FA5}">
                      <a16:colId xmlns:a16="http://schemas.microsoft.com/office/drawing/2014/main" val="20002"/>
                    </a:ext>
                  </a:extLst>
                </a:gridCol>
              </a:tblGrid>
              <a:tr h="459175">
                <a:tc>
                  <a:txBody>
                    <a:bodyPr/>
                    <a:lstStyle/>
                    <a:p>
                      <a:pPr marL="0" marR="0" lvl="0" indent="0" algn="l" rtl="0">
                        <a:spcBef>
                          <a:spcPts val="0"/>
                        </a:spcBef>
                        <a:spcAft>
                          <a:spcPts val="0"/>
                        </a:spcAft>
                        <a:buClr>
                          <a:schemeClr val="dk1"/>
                        </a:buClr>
                        <a:buSzPts val="1800"/>
                        <a:buFont typeface="Times New Roman"/>
                        <a:buNone/>
                      </a:pPr>
                      <a:r>
                        <a:rPr lang="en-IN" sz="2000" b="1" dirty="0">
                          <a:latin typeface="Times New Roman" panose="02020603050405020304" pitchFamily="18" charset="0"/>
                          <a:cs typeface="Times New Roman" panose="02020603050405020304" pitchFamily="18" charset="0"/>
                          <a:sym typeface="Times New Roman"/>
                        </a:rPr>
                        <a:t>Test Case</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b="1">
                          <a:latin typeface="Times New Roman" panose="02020603050405020304" pitchFamily="18" charset="0"/>
                          <a:cs typeface="Times New Roman" panose="02020603050405020304" pitchFamily="18" charset="0"/>
                          <a:sym typeface="Times New Roman"/>
                        </a:rPr>
                        <a:t>Focus Area</a:t>
                      </a:r>
                      <a:endParaRPr sz="200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b="1">
                          <a:latin typeface="Times New Roman" panose="02020603050405020304" pitchFamily="18" charset="0"/>
                          <a:cs typeface="Times New Roman" panose="02020603050405020304" pitchFamily="18" charset="0"/>
                          <a:sym typeface="Times New Roman"/>
                        </a:rPr>
                        <a:t>Result</a:t>
                      </a:r>
                      <a:endParaRPr sz="200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extLst>
                  <a:ext uri="{0D108BD9-81ED-4DB2-BD59-A6C34878D82A}">
                    <a16:rowId xmlns:a16="http://schemas.microsoft.com/office/drawing/2014/main" val="10000"/>
                  </a:ext>
                </a:extLst>
              </a:tr>
              <a:tr h="459175">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Encrypt/Decrypt Roundtrip</a:t>
                      </a:r>
                      <a:endParaRPr sz="160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dirty="0">
                          <a:latin typeface="Times New Roman" panose="02020603050405020304" pitchFamily="18" charset="0"/>
                          <a:cs typeface="Times New Roman" panose="02020603050405020304" pitchFamily="18" charset="0"/>
                          <a:sym typeface="Times New Roman"/>
                        </a:rPr>
                        <a:t>Correctness</a:t>
                      </a:r>
                      <a:endParaRPr sz="1600"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1"/>
                  </a:ext>
                </a:extLst>
              </a:tr>
              <a:tr h="459175">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Wrong Context Decryption</a:t>
                      </a:r>
                      <a:endParaRPr sz="160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Context Binding</a:t>
                      </a:r>
                      <a:endParaRPr sz="160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Failed as Expected</a:t>
                      </a:r>
                      <a:endParaRPr sz="1600">
                        <a:latin typeface="Times New Roman" panose="02020603050405020304" pitchFamily="18" charset="0"/>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2"/>
                  </a:ext>
                </a:extLst>
              </a:tr>
              <a:tr h="459175">
                <a:tc>
                  <a:txBody>
                    <a:bodyPr/>
                    <a:lstStyle/>
                    <a:p>
                      <a:pPr marL="0" marR="0" lvl="0" indent="0" algn="l" rtl="0">
                        <a:spcBef>
                          <a:spcPts val="0"/>
                        </a:spcBef>
                        <a:spcAft>
                          <a:spcPts val="0"/>
                        </a:spcAft>
                        <a:buClr>
                          <a:schemeClr val="dk1"/>
                        </a:buClr>
                        <a:buSzPts val="1800"/>
                        <a:buFont typeface="Times New Roman"/>
                        <a:buNone/>
                      </a:pPr>
                      <a:r>
                        <a:rPr lang="en-IN" sz="2000" dirty="0">
                          <a:latin typeface="Times New Roman" panose="02020603050405020304" pitchFamily="18" charset="0"/>
                          <a:cs typeface="Times New Roman" panose="02020603050405020304" pitchFamily="18" charset="0"/>
                          <a:sym typeface="Times New Roman"/>
                        </a:rPr>
                        <a:t>OPRF Blind-Evaluate-Unblind</a:t>
                      </a:r>
                      <a:endParaRPr sz="1600"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Key Derivation (CDH)</a:t>
                      </a:r>
                      <a:endParaRPr sz="160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3"/>
                  </a:ext>
                </a:extLst>
              </a:tr>
              <a:tr h="679325">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HMAC vs SHA-256 Difference</a:t>
                      </a:r>
                      <a:endParaRPr sz="160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Token Security</a:t>
                      </a:r>
                      <a:endParaRPr sz="160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4"/>
                  </a:ext>
                </a:extLst>
              </a:tr>
              <a:tr h="679325">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AES-256-GCM AAD Binding</a:t>
                      </a:r>
                      <a:endParaRPr sz="160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a:latin typeface="Times New Roman" panose="02020603050405020304" pitchFamily="18" charset="0"/>
                          <a:cs typeface="Times New Roman" panose="02020603050405020304" pitchFamily="18" charset="0"/>
                          <a:sym typeface="Times New Roman"/>
                        </a:rPr>
                        <a:t>Tamper / Replay Protection</a:t>
                      </a:r>
                      <a:endParaRPr sz="160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2000" dirty="0">
                          <a:latin typeface="Times New Roman" panose="02020603050405020304" pitchFamily="18" charset="0"/>
                          <a:cs typeface="Times New Roman" panose="02020603050405020304" pitchFamily="18" charset="0"/>
                          <a:sym typeface="Times New Roman"/>
                        </a:rPr>
                        <a:t>Passed</a:t>
                      </a:r>
                      <a:endParaRPr sz="1600" dirty="0">
                        <a:latin typeface="Times New Roman" panose="02020603050405020304" pitchFamily="18" charset="0"/>
                        <a:cs typeface="Times New Roman" panose="02020603050405020304" pitchFamily="18" charset="0"/>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99" name="NoteBox1"/>
          <p:cNvSpPr>
            <a:spLocks noGrp="1"/>
          </p:cNvSpPr>
          <p:nvPr/>
        </p:nvSpPr>
        <p:spPr>
          <a:xfrm>
            <a:off x="457200" y="6200000"/>
            <a:ext cx="8229600" cy="300000"/>
          </a:xfrm>
          <a:prstGeom prst="rect">
            <a:avLst/>
          </a:prstGeom>
          <a:noFill/>
        </p:spPr>
        <p:txBody>
          <a:bodyPr wrap="square" lIns="91440" tIns="45720" rIns="91440" bIns="45720" anchor="ctr"/>
          <a:lstStyle/>
          <a:p>
            <a:pPr algn="l"/>
            <a:r>
              <a:rPr lang="en-IN" sz="1400" i="1" dirty="0">
                <a:latin typeface="Times New Roman"/>
                <a:cs typeface="Times New Roman"/>
              </a:rPr>
              <a:t>Note: Selected test cases shown above. Full suite: 46 passing tests across cryptographic, behavioural, cloud, and integration layers.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1"/>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TESTS &amp; RESULTS</a:t>
            </a:r>
            <a:endParaRPr sz="3600" dirty="0"/>
          </a:p>
        </p:txBody>
      </p:sp>
      <p:sp>
        <p:nvSpPr>
          <p:cNvPr id="410" name="Google Shape;410;p41"/>
          <p:cNvSpPr txBox="1">
            <a:spLocks noGrp="1"/>
          </p:cNvSpPr>
          <p:nvPr>
            <p:ph type="ftr" idx="11"/>
          </p:nvPr>
        </p:nvSpPr>
        <p:spPr>
          <a:xfrm>
            <a:off x="4251632" y="6632118"/>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TEAM 44 - CS6811 - PROJECT WORK</a:t>
            </a:r>
            <a:endParaRPr dirty="0"/>
          </a:p>
        </p:txBody>
      </p:sp>
      <p:sp>
        <p:nvSpPr>
          <p:cNvPr id="411" name="Google Shape;411;p41"/>
          <p:cNvSpPr txBox="1">
            <a:spLocks noGrp="1"/>
          </p:cNvSpPr>
          <p:nvPr>
            <p:ph type="sldNum" idx="12"/>
          </p:nvPr>
        </p:nvSpPr>
        <p:spPr>
          <a:xfrm>
            <a:off x="9092381" y="64166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41</a:t>
            </a:fld>
            <a:endParaRPr/>
          </a:p>
        </p:txBody>
      </p:sp>
      <p:graphicFrame>
        <p:nvGraphicFramePr>
          <p:cNvPr id="412" name="Google Shape;412;p41"/>
          <p:cNvGraphicFramePr/>
          <p:nvPr>
            <p:extLst>
              <p:ext uri="{D42A27DB-BD31-4B8C-83A1-F6EECF244321}">
                <p14:modId xmlns:p14="http://schemas.microsoft.com/office/powerpoint/2010/main" val="2338354841"/>
              </p:ext>
            </p:extLst>
          </p:nvPr>
        </p:nvGraphicFramePr>
        <p:xfrm>
          <a:off x="960284" y="1628210"/>
          <a:ext cx="10363200" cy="5055710"/>
        </p:xfrm>
        <a:graphic>
          <a:graphicData uri="http://schemas.openxmlformats.org/drawingml/2006/table">
            <a:tbl>
              <a:tblPr firstRow="1" bandRow="1">
                <a:tableStyleId>{FCE49B7E-5F19-4CB0-BCE9-EA4782633ABD}</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376700">
                <a:tc>
                  <a:txBody>
                    <a:bodyPr/>
                    <a:lstStyle/>
                    <a:p>
                      <a:pPr marL="0" marR="0" lvl="0" indent="0" algn="l" rtl="0">
                        <a:spcBef>
                          <a:spcPts val="0"/>
                        </a:spcBef>
                        <a:spcAft>
                          <a:spcPts val="0"/>
                        </a:spcAft>
                        <a:buClr>
                          <a:schemeClr val="dk1"/>
                        </a:buClr>
                        <a:buSzPts val="1200"/>
                        <a:buFont typeface="Times New Roman"/>
                        <a:buNone/>
                      </a:pPr>
                      <a:r>
                        <a:rPr lang="en-IN" sz="1400" b="1">
                          <a:latin typeface="Times New Roman" panose="02020603050405020304" pitchFamily="18" charset="0"/>
                          <a:cs typeface="Times New Roman" panose="02020603050405020304" pitchFamily="18" charset="0"/>
                          <a:sym typeface="Times New Roman"/>
                        </a:rPr>
                        <a:t>Test Case</a:t>
                      </a:r>
                      <a:endParaRPr sz="14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b="1">
                          <a:latin typeface="Times New Roman" panose="02020603050405020304" pitchFamily="18" charset="0"/>
                          <a:cs typeface="Times New Roman" panose="02020603050405020304" pitchFamily="18" charset="0"/>
                          <a:sym typeface="Times New Roman"/>
                        </a:rPr>
                        <a:t>Focus Area</a:t>
                      </a:r>
                      <a:endParaRPr sz="14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b="1">
                          <a:latin typeface="Times New Roman" panose="02020603050405020304" pitchFamily="18" charset="0"/>
                          <a:cs typeface="Times New Roman" panose="02020603050405020304" pitchFamily="18" charset="0"/>
                          <a:sym typeface="Times New Roman"/>
                        </a:rPr>
                        <a:t>Result</a:t>
                      </a:r>
                      <a:endParaRPr sz="14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b="1">
                          <a:latin typeface="Times New Roman" panose="02020603050405020304" pitchFamily="18" charset="0"/>
                          <a:cs typeface="Times New Roman" panose="02020603050405020304" pitchFamily="18" charset="0"/>
                          <a:sym typeface="Times New Roman"/>
                        </a:rPr>
                        <a:t>Test Case</a:t>
                      </a:r>
                      <a:endParaRPr sz="14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extLst>
                  <a:ext uri="{0D108BD9-81ED-4DB2-BD59-A6C34878D82A}">
                    <a16:rowId xmlns:a16="http://schemas.microsoft.com/office/drawing/2014/main" val="10000"/>
                  </a:ext>
                </a:extLst>
              </a:tr>
              <a:tr h="37670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SHA-256 Reproducibility</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Public Token</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Vulnerable (Expected)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SHA-256 Reproducibility</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1"/>
                  </a:ext>
                </a:extLst>
              </a:tr>
              <a:tr h="152400">
                <a:tc>
                  <a:txBody>
                    <a:bodyPr/>
                    <a:lstStyle/>
                    <a:p>
                      <a:pPr marL="0" marR="0" lvl="0" indent="0" algn="l" rtl="0">
                        <a:spcBef>
                          <a:spcPts val="0"/>
                        </a:spcBef>
                        <a:spcAft>
                          <a:spcPts val="0"/>
                        </a:spcAft>
                        <a:buClr>
                          <a:schemeClr val="dk1"/>
                        </a:buClr>
                        <a:buSzPts val="1200"/>
                        <a:buFont typeface="Times New Roman"/>
                        <a:buNone/>
                      </a:pPr>
                      <a:r>
                        <a:rPr lang="en-IN" sz="1400" dirty="0">
                          <a:latin typeface="Times New Roman" panose="02020603050405020304" pitchFamily="18" charset="0"/>
                          <a:cs typeface="Times New Roman" panose="02020603050405020304" pitchFamily="18" charset="0"/>
                          <a:sym typeface="Times New Roman"/>
                        </a:rPr>
                        <a:t>HMAC Non-Reproducibility</a:t>
                      </a:r>
                      <a:endParaRPr sz="1600" dirty="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Security</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HMAC Non-Reproducibility</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2"/>
                  </a:ext>
                </a:extLst>
              </a:tr>
              <a:tr h="37670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Wrong Key HMAC Failure</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Secret Protection</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Wrong Key HMAC Failure</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3"/>
                  </a:ext>
                </a:extLst>
              </a:tr>
              <a:tr h="37670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Same Key Stability</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Determinism</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Same Key Stability</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4"/>
                  </a:ext>
                </a:extLst>
              </a:tr>
              <a:tr h="37670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Same Chunk Across Users</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Dedup Preservation</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Same Chunk Across Users</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5"/>
                  </a:ext>
                </a:extLst>
              </a:tr>
              <a:tr h="37670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Dedup Savings</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Efficiency</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Dedup Savings</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6"/>
                  </a:ext>
                </a:extLst>
              </a:tr>
              <a:tr h="56895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Frequency Leakage (SHA-256)</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Side-channel</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dirty="0">
                          <a:latin typeface="Times New Roman" panose="02020603050405020304" pitchFamily="18" charset="0"/>
                          <a:cs typeface="Times New Roman" panose="02020603050405020304" pitchFamily="18" charset="0"/>
                          <a:sym typeface="Times New Roman"/>
                        </a:rPr>
                        <a:t>Leakage Observed</a:t>
                      </a:r>
                      <a:endParaRPr sz="1600" dirty="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Frequency Leakage (SHA-256)</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7"/>
                  </a:ext>
                </a:extLst>
              </a:tr>
              <a:tr h="56895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Frequency Protection (HMAC)</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Security</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Frequency Protection (HMAC)</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8"/>
                  </a:ext>
                </a:extLst>
              </a:tr>
              <a:tr h="56895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Confirmation Attack (SHA-256)</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Vulnerability</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Attack Possible</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Confirmation Attack (SHA-256)</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9"/>
                  </a:ext>
                </a:extLst>
              </a:tr>
              <a:tr h="37670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HMAC Blocks Attack</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Security</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HMAC Blocks Attack</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10"/>
                  </a:ext>
                </a:extLst>
              </a:tr>
              <a:tr h="376700">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HMAC Performance</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dirty="0">
                          <a:latin typeface="Times New Roman" panose="02020603050405020304" pitchFamily="18" charset="0"/>
                          <a:cs typeface="Times New Roman" panose="02020603050405020304" pitchFamily="18" charset="0"/>
                          <a:sym typeface="Times New Roman"/>
                        </a:rPr>
                        <a:t>Overhead</a:t>
                      </a:r>
                      <a:endParaRPr sz="1600" dirty="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&lt; 1 ms</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dirty="0">
                          <a:latin typeface="Times New Roman" panose="02020603050405020304" pitchFamily="18" charset="0"/>
                          <a:cs typeface="Times New Roman" panose="02020603050405020304" pitchFamily="18" charset="0"/>
                          <a:sym typeface="Times New Roman"/>
                        </a:rPr>
                        <a:t>HMAC Performance</a:t>
                      </a:r>
                      <a:endParaRPr sz="1600" dirty="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11"/>
                  </a:ext>
                </a:extLst>
              </a:tr>
            </a:tbl>
          </a:graphicData>
        </a:graphic>
      </p:graphicFrame>
      <p:sp>
        <p:nvSpPr>
          <p:cNvPr id="413" name="Google Shape;413;p41"/>
          <p:cNvSpPr txBox="1"/>
          <p:nvPr/>
        </p:nvSpPr>
        <p:spPr>
          <a:xfrm>
            <a:off x="960284" y="1120691"/>
            <a:ext cx="6096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200"/>
              <a:buFont typeface="Times New Roman"/>
              <a:buNone/>
            </a:pPr>
            <a:r>
              <a:rPr lang="en-IN" sz="2200" b="1" dirty="0">
                <a:solidFill>
                  <a:schemeClr val="dk1"/>
                </a:solidFill>
                <a:latin typeface="Times New Roman"/>
                <a:ea typeface="Times New Roman"/>
                <a:cs typeface="Times New Roman"/>
                <a:sym typeface="Times New Roman"/>
              </a:rPr>
              <a:t>Security &amp; Frequency Test Results</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2"/>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TESTS &amp; RESULTS</a:t>
            </a:r>
            <a:endParaRPr sz="3600" dirty="0"/>
          </a:p>
        </p:txBody>
      </p:sp>
      <p:sp>
        <p:nvSpPr>
          <p:cNvPr id="419" name="Google Shape;419;p42"/>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TEAM 44 - CS6811 - PROJECT WORK</a:t>
            </a:r>
            <a:endParaRPr/>
          </a:p>
        </p:txBody>
      </p:sp>
      <p:sp>
        <p:nvSpPr>
          <p:cNvPr id="420" name="Google Shape;420;p42"/>
          <p:cNvSpPr txBox="1">
            <a:spLocks noGrp="1"/>
          </p:cNvSpPr>
          <p:nvPr>
            <p:ph type="sldNum" idx="12"/>
          </p:nvPr>
        </p:nvSpPr>
        <p:spPr>
          <a:xfrm>
            <a:off x="9180871" y="640270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42</a:t>
            </a:fld>
            <a:endParaRPr dirty="0"/>
          </a:p>
        </p:txBody>
      </p:sp>
      <p:sp>
        <p:nvSpPr>
          <p:cNvPr id="421" name="Google Shape;421;p42"/>
          <p:cNvSpPr txBox="1"/>
          <p:nvPr/>
        </p:nvSpPr>
        <p:spPr>
          <a:xfrm>
            <a:off x="914400" y="1216643"/>
            <a:ext cx="8613058"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200"/>
              <a:buFont typeface="Times New Roman"/>
              <a:buNone/>
            </a:pPr>
            <a:r>
              <a:rPr lang="en-IN" sz="2200" b="1" dirty="0">
                <a:solidFill>
                  <a:schemeClr val="dk1"/>
                </a:solidFill>
                <a:latin typeface="Times New Roman"/>
                <a:ea typeface="Times New Roman"/>
                <a:cs typeface="Times New Roman"/>
                <a:sym typeface="Times New Roman"/>
              </a:rPr>
              <a:t>Behavioural &amp; ML Test Results (2200-Window Stress-Test Dataset)</a:t>
            </a:r>
            <a:endParaRPr dirty="0"/>
          </a:p>
        </p:txBody>
      </p:sp>
      <p:graphicFrame>
        <p:nvGraphicFramePr>
          <p:cNvPr id="422" name="Google Shape;422;p42"/>
          <p:cNvGraphicFramePr/>
          <p:nvPr>
            <p:extLst>
              <p:ext uri="{D42A27DB-BD31-4B8C-83A1-F6EECF244321}">
                <p14:modId xmlns:p14="http://schemas.microsoft.com/office/powerpoint/2010/main" val="1824127080"/>
              </p:ext>
            </p:extLst>
          </p:nvPr>
        </p:nvGraphicFramePr>
        <p:xfrm>
          <a:off x="914400" y="2053461"/>
          <a:ext cx="10515600" cy="4531805"/>
        </p:xfrm>
        <a:graphic>
          <a:graphicData uri="http://schemas.openxmlformats.org/drawingml/2006/table">
            <a:tbl>
              <a:tblPr firstRow="1" bandRow="1">
                <a:tableStyleId>{FCE49B7E-5F19-4CB0-BCE9-EA4782633ABD}</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243675">
                <a:tc>
                  <a:txBody>
                    <a:bodyPr/>
                    <a:lstStyle/>
                    <a:p>
                      <a:pPr marL="0" marR="0" lvl="0" indent="0" algn="l" rtl="0">
                        <a:spcBef>
                          <a:spcPts val="0"/>
                        </a:spcBef>
                        <a:spcAft>
                          <a:spcPts val="0"/>
                        </a:spcAft>
                        <a:buClr>
                          <a:schemeClr val="dk1"/>
                        </a:buClr>
                        <a:buSzPts val="1200"/>
                        <a:buFont typeface="Times New Roman"/>
                        <a:buNone/>
                      </a:pPr>
                      <a:r>
                        <a:rPr lang="en-IN" sz="1400" b="1">
                          <a:latin typeface="Times New Roman" panose="02020603050405020304" pitchFamily="18" charset="0"/>
                          <a:cs typeface="Times New Roman" panose="02020603050405020304" pitchFamily="18" charset="0"/>
                          <a:sym typeface="Times New Roman"/>
                        </a:rPr>
                        <a:t>Test Case</a:t>
                      </a:r>
                      <a:endParaRPr sz="14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b="1">
                          <a:latin typeface="Times New Roman" panose="02020603050405020304" pitchFamily="18" charset="0"/>
                          <a:cs typeface="Times New Roman" panose="02020603050405020304" pitchFamily="18" charset="0"/>
                          <a:sym typeface="Times New Roman"/>
                        </a:rPr>
                        <a:t>Scenario</a:t>
                      </a:r>
                      <a:endParaRPr sz="14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b="1">
                          <a:latin typeface="Times New Roman" panose="02020603050405020304" pitchFamily="18" charset="0"/>
                          <a:cs typeface="Times New Roman" panose="02020603050405020304" pitchFamily="18" charset="0"/>
                          <a:sym typeface="Times New Roman"/>
                        </a:rPr>
                        <a:t>System Decision</a:t>
                      </a:r>
                      <a:endParaRPr sz="14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b="1">
                          <a:latin typeface="Times New Roman" panose="02020603050405020304" pitchFamily="18" charset="0"/>
                          <a:cs typeface="Times New Roman" panose="02020603050405020304" pitchFamily="18" charset="0"/>
                          <a:sym typeface="Times New Roman"/>
                        </a:rPr>
                        <a:t>Result</a:t>
                      </a:r>
                      <a:endParaRPr sz="14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extLst>
                  <a:ext uri="{0D108BD9-81ED-4DB2-BD59-A6C34878D82A}">
                    <a16:rowId xmlns:a16="http://schemas.microsoft.com/office/drawing/2014/main" val="10000"/>
                  </a:ext>
                </a:extLst>
              </a:tr>
              <a:tr h="39432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Hash Probing Detected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Attack</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RATE_LIMIT</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1"/>
                  </a:ext>
                </a:extLst>
              </a:tr>
              <a:tr h="24367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Normal Client</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dirty="0">
                          <a:latin typeface="Times New Roman" panose="02020603050405020304" pitchFamily="18" charset="0"/>
                          <a:cs typeface="Times New Roman" panose="02020603050405020304" pitchFamily="18" charset="0"/>
                          <a:sym typeface="Times New Roman"/>
                        </a:rPr>
                        <a:t>Legitimate</a:t>
                      </a:r>
                      <a:endParaRPr sz="1600" dirty="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ALLOW</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2"/>
                  </a:ext>
                </a:extLst>
              </a:tr>
              <a:tr h="394325">
                <a:tc>
                  <a:txBody>
                    <a:bodyPr/>
                    <a:lstStyle/>
                    <a:p>
                      <a:pPr marL="0" marR="0" lvl="0" indent="0" algn="l" rtl="0">
                        <a:spcBef>
                          <a:spcPts val="0"/>
                        </a:spcBef>
                        <a:spcAft>
                          <a:spcPts val="0"/>
                        </a:spcAft>
                        <a:buClr>
                          <a:schemeClr val="dk1"/>
                        </a:buClr>
                        <a:buSzPts val="1200"/>
                        <a:buFont typeface="Times New Roman"/>
                        <a:buNone/>
                      </a:pPr>
                      <a:r>
                        <a:rPr lang="en-IN" sz="1400" dirty="0">
                          <a:latin typeface="Times New Roman" panose="02020603050405020304" pitchFamily="18" charset="0"/>
                          <a:cs typeface="Times New Roman" panose="02020603050405020304" pitchFamily="18" charset="0"/>
                          <a:sym typeface="Times New Roman"/>
                        </a:rPr>
                        <a:t>Adaptive PoW Increase</a:t>
                      </a:r>
                      <a:endParaRPr sz="1600" dirty="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Suspicious</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Harder Challenge</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3"/>
                  </a:ext>
                </a:extLst>
              </a:tr>
              <a:tr h="243675">
                <a:tc>
                  <a:txBody>
                    <a:bodyPr/>
                    <a:lstStyle/>
                    <a:p>
                      <a:pPr marL="0" marR="0" lvl="0" indent="0" algn="l" rtl="0">
                        <a:spcBef>
                          <a:spcPts val="0"/>
                        </a:spcBef>
                        <a:spcAft>
                          <a:spcPts val="0"/>
                        </a:spcAft>
                        <a:buClr>
                          <a:schemeClr val="dk1"/>
                        </a:buClr>
                        <a:buSzPts val="1200"/>
                        <a:buFont typeface="Times New Roman"/>
                        <a:buNone/>
                      </a:pPr>
                      <a:r>
                        <a:rPr lang="en-IN" sz="1400" dirty="0" err="1">
                          <a:latin typeface="Times New Roman" panose="02020603050405020304" pitchFamily="18" charset="0"/>
                          <a:cs typeface="Times New Roman" panose="02020603050405020304" pitchFamily="18" charset="0"/>
                          <a:sym typeface="Times New Roman"/>
                        </a:rPr>
                        <a:t>Dedup</a:t>
                      </a:r>
                      <a:r>
                        <a:rPr lang="en-IN" sz="1400" dirty="0">
                          <a:latin typeface="Times New Roman" panose="02020603050405020304" pitchFamily="18" charset="0"/>
                          <a:cs typeface="Times New Roman" panose="02020603050405020304" pitchFamily="18" charset="0"/>
                          <a:sym typeface="Times New Roman"/>
                        </a:rPr>
                        <a:t> DoS Attack</a:t>
                      </a:r>
                      <a:endParaRPr sz="1600" dirty="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Malicious</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BLOCK</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4"/>
                  </a:ext>
                </a:extLst>
              </a:tr>
              <a:tr h="24367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High Duplicate Only</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Edge Case</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Not Flagged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5"/>
                  </a:ext>
                </a:extLst>
              </a:tr>
              <a:tr h="39432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Ownership Fraud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Attack</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RATE_LIMIT / BLOCK</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6"/>
                  </a:ext>
                </a:extLst>
              </a:tr>
              <a:tr h="24367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Legitimate Retries</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Normal</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Allowed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7"/>
                  </a:ext>
                </a:extLst>
              </a:tr>
              <a:tr h="24367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Full Pipeline Attack</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End-to-End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Detected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8"/>
                  </a:ext>
                </a:extLst>
              </a:tr>
              <a:tr h="39432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Full Pipeline Normal</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End-to-End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Allowed</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Passed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9"/>
                  </a:ext>
                </a:extLst>
              </a:tr>
              <a:tr h="39432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Static PoW Limitation</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REFA Gap</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Static: 0.8647, Adaptive: 0.4713 (45.49% reduction)</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Verified</a:t>
                      </a:r>
                      <a:endParaRPr sz="160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10"/>
                  </a:ext>
                </a:extLst>
              </a:tr>
              <a:tr h="394325">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No Behaviour Detection (REFA)</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Baseline Weakness</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a:latin typeface="Times New Roman" panose="02020603050405020304" pitchFamily="18" charset="0"/>
                          <a:cs typeface="Times New Roman" panose="02020603050405020304" pitchFamily="18" charset="0"/>
                          <a:sym typeface="Times New Roman"/>
                        </a:rPr>
                        <a:t>Missed Attack</a:t>
                      </a:r>
                      <a:endParaRPr sz="160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1200"/>
                        <a:buFont typeface="Times New Roman"/>
                        <a:buNone/>
                      </a:pPr>
                      <a:r>
                        <a:rPr lang="en-IN" sz="1400" dirty="0">
                          <a:latin typeface="Times New Roman" panose="02020603050405020304" pitchFamily="18" charset="0"/>
                          <a:cs typeface="Times New Roman" panose="02020603050405020304" pitchFamily="18" charset="0"/>
                          <a:sym typeface="Times New Roman"/>
                        </a:rPr>
                        <a:t>Verified</a:t>
                      </a:r>
                      <a:endParaRPr sz="1600" dirty="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11"/>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3"/>
          <p:cNvSpPr txBox="1">
            <a:spLocks noGrp="1"/>
          </p:cNvSpPr>
          <p:nvPr>
            <p:ph type="title"/>
          </p:nvPr>
        </p:nvSpPr>
        <p:spPr>
          <a:xfrm>
            <a:off x="838200" y="1493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TESTS &amp; RESULTS</a:t>
            </a:r>
            <a:endParaRPr sz="3600" dirty="0"/>
          </a:p>
        </p:txBody>
      </p:sp>
      <p:sp>
        <p:nvSpPr>
          <p:cNvPr id="435" name="Google Shape;435;p43"/>
          <p:cNvSpPr txBox="1">
            <a:spLocks noGrp="1"/>
          </p:cNvSpPr>
          <p:nvPr>
            <p:ph type="ftr" idx="11"/>
          </p:nvPr>
        </p:nvSpPr>
        <p:spPr>
          <a:xfrm>
            <a:off x="4241800" y="6585267"/>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TEAM 44 - CS6811 - PROJECT WORK</a:t>
            </a:r>
            <a:endParaRPr dirty="0"/>
          </a:p>
        </p:txBody>
      </p:sp>
      <p:sp>
        <p:nvSpPr>
          <p:cNvPr id="436" name="Google Shape;436;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43</a:t>
            </a:fld>
            <a:endParaRPr/>
          </a:p>
        </p:txBody>
      </p:sp>
      <p:sp>
        <p:nvSpPr>
          <p:cNvPr id="437" name="Google Shape;437;p43"/>
          <p:cNvSpPr txBox="1"/>
          <p:nvPr/>
        </p:nvSpPr>
        <p:spPr>
          <a:xfrm>
            <a:off x="991986" y="1071510"/>
            <a:ext cx="6105379" cy="4308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Times New Roman"/>
              <a:buNone/>
            </a:pPr>
            <a:r>
              <a:rPr lang="en-IN" sz="2200" b="1" dirty="0">
                <a:solidFill>
                  <a:schemeClr val="dk1"/>
                </a:solidFill>
                <a:latin typeface="Times New Roman"/>
                <a:ea typeface="Times New Roman"/>
                <a:cs typeface="Times New Roman"/>
                <a:sym typeface="Times New Roman"/>
              </a:rPr>
              <a:t>Key Performance &amp; Security Metrics</a:t>
            </a:r>
            <a:endParaRPr sz="2200" b="1" dirty="0"/>
          </a:p>
        </p:txBody>
      </p:sp>
      <p:graphicFrame>
        <p:nvGraphicFramePr>
          <p:cNvPr id="438" name="Google Shape;438;p43"/>
          <p:cNvGraphicFramePr/>
          <p:nvPr>
            <p:extLst>
              <p:ext uri="{D42A27DB-BD31-4B8C-83A1-F6EECF244321}">
                <p14:modId xmlns:p14="http://schemas.microsoft.com/office/powerpoint/2010/main" val="254884641"/>
              </p:ext>
            </p:extLst>
          </p:nvPr>
        </p:nvGraphicFramePr>
        <p:xfrm>
          <a:off x="1082859" y="1533175"/>
          <a:ext cx="9998096" cy="4883525"/>
        </p:xfrm>
        <a:graphic>
          <a:graphicData uri="http://schemas.openxmlformats.org/drawingml/2006/table">
            <a:tbl>
              <a:tblPr firstRow="1" bandRow="1">
                <a:tableStyleId>{FCE49B7E-5F19-4CB0-BCE9-EA4782633ABD}</a:tableStyleId>
              </a:tblPr>
              <a:tblGrid>
                <a:gridCol w="2709325">
                  <a:extLst>
                    <a:ext uri="{9D8B030D-6E8A-4147-A177-3AD203B41FA5}">
                      <a16:colId xmlns:a16="http://schemas.microsoft.com/office/drawing/2014/main" val="20000"/>
                    </a:ext>
                  </a:extLst>
                </a:gridCol>
                <a:gridCol w="2709325">
                  <a:extLst>
                    <a:ext uri="{9D8B030D-6E8A-4147-A177-3AD203B41FA5}">
                      <a16:colId xmlns:a16="http://schemas.microsoft.com/office/drawing/2014/main" val="20001"/>
                    </a:ext>
                  </a:extLst>
                </a:gridCol>
                <a:gridCol w="4579446">
                  <a:extLst>
                    <a:ext uri="{9D8B030D-6E8A-4147-A177-3AD203B41FA5}">
                      <a16:colId xmlns:a16="http://schemas.microsoft.com/office/drawing/2014/main" val="20002"/>
                    </a:ext>
                  </a:extLst>
                </a:gridCol>
              </a:tblGrid>
              <a:tr h="494450">
                <a:tc>
                  <a:txBody>
                    <a:bodyPr/>
                    <a:lstStyle/>
                    <a:p>
                      <a:pPr marL="0" marR="0" lvl="0" indent="0" algn="l" rtl="0">
                        <a:spcBef>
                          <a:spcPts val="0"/>
                        </a:spcBef>
                        <a:spcAft>
                          <a:spcPts val="0"/>
                        </a:spcAft>
                        <a:buClr>
                          <a:schemeClr val="dk1"/>
                        </a:buClr>
                        <a:buSzPts val="2000"/>
                        <a:buFont typeface="Times New Roman"/>
                        <a:buNone/>
                      </a:pPr>
                      <a:r>
                        <a:rPr lang="en-IN" sz="2000" b="1">
                          <a:latin typeface="Times New Roman" panose="02020603050405020304" pitchFamily="18" charset="0"/>
                          <a:cs typeface="Times New Roman" panose="02020603050405020304" pitchFamily="18" charset="0"/>
                          <a:sym typeface="Times New Roman"/>
                        </a:rPr>
                        <a:t>Metric</a:t>
                      </a:r>
                      <a:endParaRPr sz="20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b="1">
                          <a:latin typeface="Times New Roman" panose="02020603050405020304" pitchFamily="18" charset="0"/>
                          <a:cs typeface="Times New Roman" panose="02020603050405020304" pitchFamily="18" charset="0"/>
                          <a:sym typeface="Times New Roman"/>
                        </a:rPr>
                        <a:t>Observed Value</a:t>
                      </a:r>
                      <a:endParaRPr sz="20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b="1">
                          <a:latin typeface="Times New Roman" panose="02020603050405020304" pitchFamily="18" charset="0"/>
                          <a:cs typeface="Times New Roman" panose="02020603050405020304" pitchFamily="18" charset="0"/>
                          <a:sym typeface="Times New Roman"/>
                        </a:rPr>
                        <a:t>Interpretation</a:t>
                      </a:r>
                      <a:endParaRPr sz="2000">
                        <a:latin typeface="Times New Roman" panose="02020603050405020304" pitchFamily="18" charset="0"/>
                        <a:ea typeface="Times New Roman"/>
                        <a:cs typeface="Times New Roman" panose="02020603050405020304" pitchFamily="18" charset="0"/>
                        <a:sym typeface="Times New Roman"/>
                      </a:endParaRPr>
                    </a:p>
                  </a:txBody>
                  <a:tcPr marL="121925" marR="121925" marT="60950" marB="60950" anchor="ctr"/>
                </a:tc>
                <a:extLst>
                  <a:ext uri="{0D108BD9-81ED-4DB2-BD59-A6C34878D82A}">
                    <a16:rowId xmlns:a16="http://schemas.microsoft.com/office/drawing/2014/main" val="10000"/>
                  </a:ext>
                </a:extLst>
              </a:tr>
              <a:tr h="731525">
                <a:tc>
                  <a:txBody>
                    <a:bodyPr/>
                    <a:lstStyle/>
                    <a:p>
                      <a:pPr marL="0" marR="0" lvl="0" indent="0" algn="l" rtl="0">
                        <a:spcBef>
                          <a:spcPts val="0"/>
                        </a:spcBef>
                        <a:spcAft>
                          <a:spcPts val="0"/>
                        </a:spcAft>
                        <a:buClr>
                          <a:schemeClr val="dk1"/>
                        </a:buClr>
                        <a:buSzPts val="2000"/>
                        <a:buFont typeface="Times New Roman"/>
                        <a:buNone/>
                      </a:pPr>
                      <a:r>
                        <a:rPr lang="en-IN" sz="2000" dirty="0">
                          <a:latin typeface="Times New Roman" panose="02020603050405020304" pitchFamily="18" charset="0"/>
                          <a:cs typeface="Times New Roman" panose="02020603050405020304" pitchFamily="18" charset="0"/>
                          <a:sym typeface="Times New Roman"/>
                        </a:rPr>
                        <a:t>SRR (Storage Reduction Ratio)</a:t>
                      </a:r>
                      <a:endParaRPr dirty="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65%–80%</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Dedup preserved under secret-assisted scheme</a:t>
                      </a:r>
                      <a:endParaRPr>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1"/>
                  </a:ext>
                </a:extLst>
              </a:tr>
              <a:tr h="731525">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System Throughput</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50,000 chunks/second</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O(1) Redis index lookup</a:t>
                      </a:r>
                      <a:endParaRPr>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2"/>
                  </a:ext>
                </a:extLst>
              </a:tr>
              <a:tr h="494450">
                <a:tc>
                  <a:txBody>
                    <a:bodyPr/>
                    <a:lstStyle/>
                    <a:p>
                      <a:pPr marL="0" marR="0" lvl="0" indent="0" algn="l" rtl="0">
                        <a:spcBef>
                          <a:spcPts val="0"/>
                        </a:spcBef>
                        <a:spcAft>
                          <a:spcPts val="0"/>
                        </a:spcAft>
                        <a:buClr>
                          <a:schemeClr val="dk1"/>
                        </a:buClr>
                        <a:buSzPts val="2000"/>
                        <a:buFont typeface="Times New Roman"/>
                        <a:buNone/>
                      </a:pPr>
                      <a:r>
                        <a:rPr lang="en-IN" sz="2000" dirty="0">
                          <a:latin typeface="Times New Roman" panose="02020603050405020304" pitchFamily="18" charset="0"/>
                          <a:cs typeface="Times New Roman" panose="02020603050405020304" pitchFamily="18" charset="0"/>
                          <a:sym typeface="Times New Roman"/>
                        </a:rPr>
                        <a:t>Supervised PR-AUC / F1</a:t>
                      </a:r>
                      <a:endParaRPr dirty="0">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0.9686 / 0.8990</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Strong binary and multiclass performance</a:t>
                      </a:r>
                      <a:endParaRPr>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3"/>
                  </a:ext>
                </a:extLst>
              </a:tr>
              <a:tr h="494450">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Cold-Start (OCSVM) PR-AUC / F1</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0.9191 / 0.8134</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High recall early-warning screening</a:t>
                      </a:r>
                      <a:endParaRPr>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4"/>
                  </a:ext>
                </a:extLst>
              </a:tr>
              <a:tr h="494450">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Adaptive PoW Attacker Success Reduction</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45.49% reduction (0.8647 → 0.4713)</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Anomalous users get 2x longer challenges</a:t>
                      </a:r>
                      <a:endParaRPr>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5"/>
                  </a:ext>
                </a:extLst>
              </a:tr>
              <a:tr h="731525">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Ristretto255 OPRF Key Derivation Overhead</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a:latin typeface="Times New Roman" panose="02020603050405020304" pitchFamily="18" charset="0"/>
                          <a:cs typeface="Times New Roman" panose="02020603050405020304" pitchFamily="18" charset="0"/>
                          <a:sym typeface="Times New Roman"/>
                        </a:rPr>
                        <a:t>~0.646 ms per chunk</a:t>
                      </a:r>
                      <a:endParaRPr>
                        <a:latin typeface="Times New Roman" panose="02020603050405020304" pitchFamily="18" charset="0"/>
                        <a:cs typeface="Times New Roman" panose="02020603050405020304" pitchFamily="18" charset="0"/>
                      </a:endParaRPr>
                    </a:p>
                  </a:txBody>
                  <a:tcPr marL="121925" marR="121925" marT="60950" marB="60950" anchor="ctr"/>
                </a:tc>
                <a:tc>
                  <a:txBody>
                    <a:bodyPr/>
                    <a:lstStyle/>
                    <a:p>
                      <a:pPr marL="0" marR="0" lvl="0" indent="0" algn="l" rtl="0">
                        <a:spcBef>
                          <a:spcPts val="0"/>
                        </a:spcBef>
                        <a:spcAft>
                          <a:spcPts val="0"/>
                        </a:spcAft>
                        <a:buClr>
                          <a:schemeClr val="dk1"/>
                        </a:buClr>
                        <a:buSzPts val="2000"/>
                        <a:buFont typeface="Times New Roman"/>
                        <a:buNone/>
                      </a:pPr>
                      <a:r>
                        <a:rPr lang="en-IN" sz="2000" dirty="0">
                          <a:latin typeface="Times New Roman" panose="02020603050405020304" pitchFamily="18" charset="0"/>
                          <a:cs typeface="Times New Roman" panose="02020603050405020304" pitchFamily="18" charset="0"/>
                          <a:sym typeface="Times New Roman"/>
                        </a:rPr>
                        <a:t>Concentrated in key path, not bulk encryption</a:t>
                      </a:r>
                      <a:endParaRPr dirty="0">
                        <a:latin typeface="Times New Roman" panose="02020603050405020304" pitchFamily="18" charset="0"/>
                        <a:cs typeface="Times New Roman" panose="02020603050405020304" pitchFamily="18" charset="0"/>
                      </a:endParaRPr>
                    </a:p>
                  </a:txBody>
                  <a:tcPr marL="121925" marR="121925" marT="60950" marB="609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REFERENCES</a:t>
            </a:r>
            <a:endParaRPr sz="3600" dirty="0"/>
          </a:p>
        </p:txBody>
      </p:sp>
      <p:sp>
        <p:nvSpPr>
          <p:cNvPr id="428" name="Google Shape;428;p44"/>
          <p:cNvSpPr txBox="1">
            <a:spLocks noGrp="1"/>
          </p:cNvSpPr>
          <p:nvPr>
            <p:ph type="body" idx="1"/>
          </p:nvPr>
        </p:nvSpPr>
        <p:spPr>
          <a:xfrm>
            <a:off x="838200" y="1471662"/>
            <a:ext cx="10515600" cy="5764879"/>
          </a:xfrm>
          <a:prstGeom prst="rect">
            <a:avLst/>
          </a:prstGeom>
          <a:noFill/>
          <a:ln>
            <a:noFill/>
          </a:ln>
        </p:spPr>
        <p:txBody>
          <a:bodyPr spcFirstLastPara="1" wrap="square" lIns="91425" tIns="45700" rIns="91425" bIns="45700" anchor="t" anchorCtr="0">
            <a:noAutofit/>
          </a:bodyPr>
          <a:lstStyle/>
          <a:p>
            <a:r>
              <a:rPr lang="en-IN" sz="2000" dirty="0">
                <a:latin typeface="Times New Roman" panose="02020603050405020304" pitchFamily="18" charset="0"/>
                <a:cs typeface="Times New Roman" panose="02020603050405020304" pitchFamily="18" charset="0"/>
              </a:rPr>
              <a:t>C. Gan, Y. Li, H. Chen, X. Lu, and L. Chen, “Coupling secret sharing with decentralised server-aided encryption in encrypted deduplication,” Applied Sciences, vol. 15, no. 3.</a:t>
            </a:r>
          </a:p>
          <a:p>
            <a:r>
              <a:rPr lang="en-IN" sz="2000" dirty="0">
                <a:latin typeface="Times New Roman" panose="02020603050405020304" pitchFamily="18" charset="0"/>
                <a:cs typeface="Times New Roman" panose="02020603050405020304" pitchFamily="18" charset="0"/>
              </a:rPr>
              <a:t>Y. Gao, L. Chen, J. Han, S. Yu, and H. Fang, “Similarity-based secure deduplication for </a:t>
            </a:r>
            <a:r>
              <a:rPr lang="en-IN" sz="2000" dirty="0" err="1">
                <a:latin typeface="Times New Roman" panose="02020603050405020304" pitchFamily="18" charset="0"/>
                <a:cs typeface="Times New Roman" panose="02020603050405020304" pitchFamily="18" charset="0"/>
              </a:rPr>
              <a:t>IIoT</a:t>
            </a:r>
            <a:r>
              <a:rPr lang="en-IN" sz="2000" dirty="0">
                <a:latin typeface="Times New Roman" panose="02020603050405020304" pitchFamily="18" charset="0"/>
                <a:cs typeface="Times New Roman" panose="02020603050405020304" pitchFamily="18" charset="0"/>
              </a:rPr>
              <a:t> cloud management system,” IEEE Transactions on Dependable and Secure Computing, vol. 21, no. 4, pp. 2242–2256, 2024.</a:t>
            </a:r>
          </a:p>
          <a:p>
            <a:r>
              <a:rPr lang="en-IN" sz="2000" dirty="0">
                <a:latin typeface="Times New Roman" panose="02020603050405020304" pitchFamily="18" charset="0"/>
                <a:cs typeface="Times New Roman" panose="02020603050405020304" pitchFamily="18" charset="0"/>
              </a:rPr>
              <a:t>A. Goel and C. Prabha, “Leveraging data deduplication approaches in cloud storage: A succinct review,” Procedia Computer Science, vol. 259, pp. 1640–1651, 2025.</a:t>
            </a:r>
          </a:p>
          <a:p>
            <a:r>
              <a:rPr lang="en-IN" sz="2000" dirty="0">
                <a:latin typeface="Times New Roman" panose="02020603050405020304" pitchFamily="18" charset="0"/>
                <a:cs typeface="Times New Roman" panose="02020603050405020304" pitchFamily="18" charset="0"/>
              </a:rPr>
              <a:t>H. Guan, L. Yu, L. Zhou, L. Xiong, K. Chowdhury, L. Xie, X. Xiao, and J. Zou, “Privacy and accuracy-aware AI/ML model deduplication,” </a:t>
            </a:r>
            <a:r>
              <a:rPr lang="en-IN" sz="2000" dirty="0" err="1">
                <a:latin typeface="Times New Roman" panose="02020603050405020304" pitchFamily="18" charset="0"/>
                <a:cs typeface="Times New Roman" panose="02020603050405020304" pitchFamily="18" charset="0"/>
              </a:rPr>
              <a:t>arXiv</a:t>
            </a:r>
            <a:r>
              <a:rPr lang="en-IN" sz="2000" dirty="0">
                <a:latin typeface="Times New Roman" panose="02020603050405020304" pitchFamily="18" charset="0"/>
                <a:cs typeface="Times New Roman" panose="02020603050405020304" pitchFamily="18" charset="0"/>
              </a:rPr>
              <a:t> preprint, 2025.</a:t>
            </a:r>
          </a:p>
          <a:p>
            <a:r>
              <a:rPr lang="en-IN" sz="2000" dirty="0">
                <a:latin typeface="Times New Roman" panose="02020603050405020304" pitchFamily="18" charset="0"/>
                <a:cs typeface="Times New Roman" panose="02020603050405020304" pitchFamily="18" charset="0"/>
              </a:rPr>
              <a:t>G. Ha, C. Jia, Y. Chen, H. Chen, and M. Li, “A secure client-side deduplication scheme based on updatable server-aided encryption,” IEEE Transactions on Cloud Computing, vol. 11, no. 4, pp. 3672–3684, 2023.</a:t>
            </a:r>
          </a:p>
          <a:p>
            <a:r>
              <a:rPr lang="en-IN" sz="2000" dirty="0">
                <a:latin typeface="Times New Roman" panose="02020603050405020304" pitchFamily="18" charset="0"/>
                <a:cs typeface="Times New Roman" panose="02020603050405020304" pitchFamily="18" charset="0"/>
              </a:rPr>
              <a:t>Z. Hua, Z. Wang, M. Song, Y. Zheng, G. Xu, and X. Jia, “Enabling secure auditing and deduplication in multi-replica cloud storage,” IEEE Transactions on Dependable and Secure Computing, vol. 22, no. 6, pp. 6653–6670, 2025.</a:t>
            </a:r>
            <a:endParaRPr sz="2000" dirty="0">
              <a:latin typeface="Times New Roman" panose="02020603050405020304" pitchFamily="18" charset="0"/>
              <a:cs typeface="Times New Roman" panose="02020603050405020304" pitchFamily="18" charset="0"/>
            </a:endParaRPr>
          </a:p>
        </p:txBody>
      </p:sp>
      <p:sp>
        <p:nvSpPr>
          <p:cNvPr id="429" name="Google Shape;429;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45"/>
          <p:cNvSpPr txBox="1">
            <a:spLocks noGrp="1"/>
          </p:cNvSpPr>
          <p:nvPr>
            <p:ph type="title"/>
          </p:nvPr>
        </p:nvSpPr>
        <p:spPr>
          <a:xfrm>
            <a:off x="838200" y="25283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REFERENCES</a:t>
            </a:r>
            <a:endParaRPr sz="3600" dirty="0"/>
          </a:p>
        </p:txBody>
      </p:sp>
      <p:sp>
        <p:nvSpPr>
          <p:cNvPr id="444" name="Google Shape;444;p45"/>
          <p:cNvSpPr txBox="1">
            <a:spLocks noGrp="1"/>
          </p:cNvSpPr>
          <p:nvPr>
            <p:ph type="body" idx="1"/>
          </p:nvPr>
        </p:nvSpPr>
        <p:spPr>
          <a:xfrm>
            <a:off x="838200" y="1193088"/>
            <a:ext cx="10515600" cy="5548569"/>
          </a:xfrm>
          <a:prstGeom prst="rect">
            <a:avLst/>
          </a:prstGeom>
          <a:noFill/>
          <a:ln>
            <a:noFill/>
          </a:ln>
        </p:spPr>
        <p:txBody>
          <a:bodyPr spcFirstLastPara="1" wrap="square" lIns="91425" tIns="45700" rIns="91425" bIns="45700" anchor="t" anchorCtr="0">
            <a:noAutofit/>
          </a:bodyPr>
          <a:lstStyle/>
          <a:p>
            <a:r>
              <a:rPr lang="en-IN" sz="2000" dirty="0">
                <a:latin typeface="Times New Roman" panose="02020603050405020304" pitchFamily="18" charset="0"/>
                <a:cs typeface="Times New Roman" panose="02020603050405020304" pitchFamily="18" charset="0"/>
              </a:rPr>
              <a:t>T. Jiang, J. Liu, Y. Zhou, and Y. Fang, “</a:t>
            </a:r>
            <a:r>
              <a:rPr lang="en-IN" sz="2000" dirty="0" err="1">
                <a:latin typeface="Times New Roman" panose="02020603050405020304" pitchFamily="18" charset="0"/>
                <a:cs typeface="Times New Roman" panose="02020603050405020304" pitchFamily="18" charset="0"/>
              </a:rPr>
              <a:t>FuzzyDedup</a:t>
            </a:r>
            <a:r>
              <a:rPr lang="en-IN" sz="2000" dirty="0">
                <a:latin typeface="Times New Roman" panose="02020603050405020304" pitchFamily="18" charset="0"/>
                <a:cs typeface="Times New Roman" panose="02020603050405020304" pitchFamily="18" charset="0"/>
              </a:rPr>
              <a:t>: Secure fuzzy deduplication for cloud storage,” IEEE Transactions on Dependable and Secure Computing, vol. 20, no. 3, pp. 2466–2483, 2023.</a:t>
            </a:r>
          </a:p>
          <a:p>
            <a:r>
              <a:rPr lang="en-IN" sz="2000" dirty="0">
                <a:latin typeface="Times New Roman" panose="02020603050405020304" pitchFamily="18" charset="0"/>
                <a:cs typeface="Times New Roman" panose="02020603050405020304" pitchFamily="18" charset="0"/>
              </a:rPr>
              <a:t>M. Lee and M. Seo, “Secure and efficient deduplication for cloud storage with dynamic ownership management,” Applied Sciences, vol. 13, no. 24.</a:t>
            </a:r>
          </a:p>
          <a:p>
            <a:r>
              <a:rPr lang="en-IN" sz="2000" dirty="0">
                <a:latin typeface="Times New Roman" panose="02020603050405020304" pitchFamily="18" charset="0"/>
                <a:cs typeface="Times New Roman" panose="02020603050405020304" pitchFamily="18" charset="0"/>
              </a:rPr>
              <a:t>J. Li, Z. Yang, Y. Ren, P. P. C. Lee, and X. Zhang, “Balancing storage efficiency and data confidentiality with </a:t>
            </a:r>
            <a:r>
              <a:rPr lang="en-IN" sz="2000" dirty="0" err="1">
                <a:latin typeface="Times New Roman" panose="02020603050405020304" pitchFamily="18" charset="0"/>
                <a:cs typeface="Times New Roman" panose="02020603050405020304" pitchFamily="18" charset="0"/>
              </a:rPr>
              <a:t>tunable</a:t>
            </a:r>
            <a:r>
              <a:rPr lang="en-IN" sz="2000" dirty="0">
                <a:latin typeface="Times New Roman" panose="02020603050405020304" pitchFamily="18" charset="0"/>
                <a:cs typeface="Times New Roman" panose="02020603050405020304" pitchFamily="18" charset="0"/>
              </a:rPr>
              <a:t> encrypted deduplication,” in Proc. ACM European Conf. Computer Systems (</a:t>
            </a:r>
            <a:r>
              <a:rPr lang="en-IN" sz="2000" dirty="0" err="1">
                <a:latin typeface="Times New Roman" panose="02020603050405020304" pitchFamily="18" charset="0"/>
                <a:cs typeface="Times New Roman" panose="02020603050405020304" pitchFamily="18" charset="0"/>
              </a:rPr>
              <a:t>EuroSys</a:t>
            </a:r>
            <a:r>
              <a:rPr lang="en-IN" sz="2000" dirty="0">
                <a:latin typeface="Times New Roman" panose="02020603050405020304" pitchFamily="18" charset="0"/>
                <a:cs typeface="Times New Roman" panose="02020603050405020304" pitchFamily="18" charset="0"/>
              </a:rPr>
              <a:t>), pp. 1–15, 2020.</a:t>
            </a:r>
          </a:p>
          <a:p>
            <a:r>
              <a:rPr lang="en-IN" sz="2000" dirty="0">
                <a:latin typeface="Times New Roman" panose="02020603050405020304" pitchFamily="18" charset="0"/>
                <a:cs typeface="Times New Roman" panose="02020603050405020304" pitchFamily="18" charset="0"/>
              </a:rPr>
              <a:t>X. Ma, W. Yang, Y. Zhu, and Z. Bai, “A secure and efficient data deduplication scheme with dynamic ownership management in cloud computing,” in Proc. IEEE Int. Performance, Computing, and Communications Conf. (IPCCC), pp. 194–201, 2022.</a:t>
            </a:r>
          </a:p>
          <a:p>
            <a:r>
              <a:rPr lang="en-IN" sz="2000" dirty="0">
                <a:latin typeface="Times New Roman" panose="02020603050405020304" pitchFamily="18" charset="0"/>
                <a:cs typeface="Times New Roman" panose="02020603050405020304" pitchFamily="18" charset="0"/>
              </a:rPr>
              <a:t>X. Peng, W. Shen, Y. Yang, and X. Zhang, “Secure deduplication and cloud storage auditing with efficient dynamic ownership management and data dynamics,” IEEE Transactions on Network and Service Management, vol. 22, no. 4, pp. 3463–3479, 2025.</a:t>
            </a:r>
          </a:p>
          <a:p>
            <a:r>
              <a:rPr lang="en-IN" sz="2000" dirty="0">
                <a:latin typeface="Times New Roman" panose="02020603050405020304" pitchFamily="18" charset="0"/>
                <a:cs typeface="Times New Roman" panose="02020603050405020304" pitchFamily="18" charset="0"/>
              </a:rPr>
              <a:t>P. Prajapati and P. Shah, “A review on secure data deduplication: Cloud storage security issue,” Journal of King Saud University-Computer and Information Sciences, vol. 34, no. 7, pp. 3996–4007, 2022.</a:t>
            </a:r>
          </a:p>
        </p:txBody>
      </p:sp>
      <p:sp>
        <p:nvSpPr>
          <p:cNvPr id="445" name="Google Shape;445;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REFERENCES</a:t>
            </a:r>
            <a:endParaRPr sz="3600" dirty="0"/>
          </a:p>
        </p:txBody>
      </p:sp>
      <p:sp>
        <p:nvSpPr>
          <p:cNvPr id="451" name="Google Shape;451;p46"/>
          <p:cNvSpPr txBox="1">
            <a:spLocks noGrp="1"/>
          </p:cNvSpPr>
          <p:nvPr>
            <p:ph type="body" idx="1"/>
          </p:nvPr>
        </p:nvSpPr>
        <p:spPr>
          <a:xfrm>
            <a:off x="838200" y="1471663"/>
            <a:ext cx="10515600" cy="4712828"/>
          </a:xfrm>
          <a:prstGeom prst="rect">
            <a:avLst/>
          </a:prstGeom>
          <a:noFill/>
          <a:ln>
            <a:noFill/>
          </a:ln>
        </p:spPr>
        <p:txBody>
          <a:bodyPr spcFirstLastPara="1" wrap="square" lIns="91425" tIns="45700" rIns="91425" bIns="45700" anchor="t" anchorCtr="0">
            <a:noAutofit/>
          </a:bodyPr>
          <a:lstStyle/>
          <a:p>
            <a:r>
              <a:rPr lang="en-IN" sz="2000" dirty="0">
                <a:latin typeface="Times New Roman" panose="02020603050405020304" pitchFamily="18" charset="0"/>
                <a:cs typeface="Times New Roman" panose="02020603050405020304" pitchFamily="18" charset="0"/>
              </a:rPr>
              <a:t>M. Song, Z. Hua, Y. Zheng, H. Huang, and X. Jia, “</a:t>
            </a:r>
            <a:r>
              <a:rPr lang="en-IN" sz="2000" dirty="0" err="1">
                <a:latin typeface="Times New Roman" panose="02020603050405020304" pitchFamily="18" charset="0"/>
                <a:cs typeface="Times New Roman" panose="02020603050405020304" pitchFamily="18" charset="0"/>
              </a:rPr>
              <a:t>LSDedup</a:t>
            </a:r>
            <a:r>
              <a:rPr lang="en-IN" sz="2000" dirty="0">
                <a:latin typeface="Times New Roman" panose="02020603050405020304" pitchFamily="18" charset="0"/>
                <a:cs typeface="Times New Roman" panose="02020603050405020304" pitchFamily="18" charset="0"/>
              </a:rPr>
              <a:t>: Layered secure deduplication for cloud storage,” IEEE Transactions on Computers, vol. 73, no. 2, pp. 422–435, 2024.</a:t>
            </a:r>
          </a:p>
          <a:p>
            <a:r>
              <a:rPr lang="en-IN" sz="2000" dirty="0">
                <a:latin typeface="Times New Roman" panose="02020603050405020304" pitchFamily="18" charset="0"/>
                <a:cs typeface="Times New Roman" panose="02020603050405020304" pitchFamily="18" charset="0"/>
              </a:rPr>
              <a:t>X. Tang, C. Guo, K.-K. R. Choo, X. Jiang, and Y. Liu, “A secure and lightweight cloud data deduplication scheme with efficient access control and key management,” Computer Communications, vol. 222, pp. 209–219, 2024.</a:t>
            </a:r>
          </a:p>
          <a:p>
            <a:r>
              <a:rPr lang="en-IN" sz="2000" dirty="0">
                <a:latin typeface="Times New Roman" panose="02020603050405020304" pitchFamily="18" charset="0"/>
                <a:cs typeface="Times New Roman" panose="02020603050405020304" pitchFamily="18" charset="0"/>
              </a:rPr>
              <a:t>T. Tarun, S. Goel, and C. Jadala, “ADD-QIA: An adaptive data deduplication framework based on quantum immune algorithm,” ResearchGate preprint, 2025.</a:t>
            </a:r>
          </a:p>
          <a:p>
            <a:r>
              <a:rPr lang="en-IN" sz="2000" dirty="0">
                <a:latin typeface="Times New Roman" panose="02020603050405020304" pitchFamily="18" charset="0"/>
                <a:cs typeface="Times New Roman" panose="02020603050405020304" pitchFamily="18" charset="0"/>
              </a:rPr>
              <a:t>X. Wu, H. Wang, Y. Yuan, and F. Li, “A lightweight encrypted deduplication scheme supporting backup,” Journal of Systems Architecture, vol. 138, pp. 102858, 2023.</a:t>
            </a:r>
          </a:p>
          <a:p>
            <a:r>
              <a:rPr lang="en-IN" sz="2000" dirty="0">
                <a:latin typeface="Times New Roman" panose="02020603050405020304" pitchFamily="18" charset="0"/>
                <a:cs typeface="Times New Roman" panose="02020603050405020304" pitchFamily="18" charset="0"/>
              </a:rPr>
              <a:t>X. Wu, J. Li, H. Wang, X. Liu, W. Wu, and F. Li, “A randomized encryption deduplication method against frequency attack,” Journal of Information Security and Applications, vol. 83, pp.103774, 2024.</a:t>
            </a:r>
          </a:p>
          <a:p>
            <a:r>
              <a:rPr lang="en-IN" sz="2000" dirty="0">
                <a:latin typeface="Times New Roman" panose="02020603050405020304" pitchFamily="18" charset="0"/>
                <a:cs typeface="Times New Roman" panose="02020603050405020304" pitchFamily="18" charset="0"/>
              </a:rPr>
              <a:t>B. Zhang, H. Cui, X. Liu, Y. Chen, Z. Yu, and B. Guo, “Decentralized and secure deduplication with dynamic ownership in </a:t>
            </a:r>
            <a:r>
              <a:rPr lang="en-IN" sz="2000" dirty="0" err="1">
                <a:latin typeface="Times New Roman" panose="02020603050405020304" pitchFamily="18" charset="0"/>
                <a:cs typeface="Times New Roman" panose="02020603050405020304" pitchFamily="18" charset="0"/>
              </a:rPr>
              <a:t>MLaaS</a:t>
            </a:r>
            <a:r>
              <a:rPr lang="en-IN" sz="2000" dirty="0">
                <a:latin typeface="Times New Roman" panose="02020603050405020304" pitchFamily="18" charset="0"/>
                <a:cs typeface="Times New Roman" panose="02020603050405020304" pitchFamily="18" charset="0"/>
              </a:rPr>
              <a:t>,” Journal of Information Security and Applications, vol. 76, pp. 103524, 2023.</a:t>
            </a:r>
          </a:p>
          <a:p>
            <a:pPr marL="0" lvl="0" indent="0" algn="just" rtl="0">
              <a:lnSpc>
                <a:spcPct val="107000"/>
              </a:lnSpc>
              <a:spcBef>
                <a:spcPts val="0"/>
              </a:spcBef>
              <a:spcAft>
                <a:spcPts val="0"/>
              </a:spcAft>
              <a:buClr>
                <a:schemeClr val="dk1"/>
              </a:buClr>
              <a:buSzPts val="1800"/>
              <a:buNone/>
            </a:pPr>
            <a:endParaRPr sz="2000" dirty="0">
              <a:latin typeface="Times New Roman" panose="02020603050405020304" pitchFamily="18" charset="0"/>
              <a:ea typeface="Calibri"/>
              <a:cs typeface="Times New Roman" panose="02020603050405020304" pitchFamily="18" charset="0"/>
              <a:sym typeface="Calibri"/>
            </a:endParaRPr>
          </a:p>
        </p:txBody>
      </p:sp>
      <p:sp>
        <p:nvSpPr>
          <p:cNvPr id="452" name="Google Shape;452;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9">
          <a:extLst>
            <a:ext uri="{FF2B5EF4-FFF2-40B4-BE49-F238E27FC236}">
              <a16:creationId xmlns:a16="http://schemas.microsoft.com/office/drawing/2014/main" id="{95CAF563-D478-9D27-AB0D-6109272C81CB}"/>
            </a:ext>
          </a:extLst>
        </p:cNvPr>
        <p:cNvGrpSpPr/>
        <p:nvPr/>
      </p:nvGrpSpPr>
      <p:grpSpPr>
        <a:xfrm>
          <a:off x="0" y="0"/>
          <a:ext cx="0" cy="0"/>
          <a:chOff x="0" y="0"/>
          <a:chExt cx="0" cy="0"/>
        </a:xfrm>
      </p:grpSpPr>
      <p:sp>
        <p:nvSpPr>
          <p:cNvPr id="450" name="Google Shape;450;p46">
            <a:extLst>
              <a:ext uri="{FF2B5EF4-FFF2-40B4-BE49-F238E27FC236}">
                <a16:creationId xmlns:a16="http://schemas.microsoft.com/office/drawing/2014/main" id="{12A4DF8F-9323-DE22-23D1-7CDD2232C02F}"/>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REFERENCES</a:t>
            </a:r>
            <a:endParaRPr sz="3600" dirty="0"/>
          </a:p>
        </p:txBody>
      </p:sp>
      <p:sp>
        <p:nvSpPr>
          <p:cNvPr id="451" name="Google Shape;451;p46">
            <a:extLst>
              <a:ext uri="{FF2B5EF4-FFF2-40B4-BE49-F238E27FC236}">
                <a16:creationId xmlns:a16="http://schemas.microsoft.com/office/drawing/2014/main" id="{607232D6-F2FC-57B2-2233-803AAB8F8A79}"/>
              </a:ext>
            </a:extLst>
          </p:cNvPr>
          <p:cNvSpPr txBox="1">
            <a:spLocks noGrp="1"/>
          </p:cNvSpPr>
          <p:nvPr>
            <p:ph type="body" idx="1"/>
          </p:nvPr>
        </p:nvSpPr>
        <p:spPr>
          <a:xfrm>
            <a:off x="838200" y="1471663"/>
            <a:ext cx="10515600" cy="4712828"/>
          </a:xfrm>
          <a:prstGeom prst="rect">
            <a:avLst/>
          </a:prstGeom>
          <a:noFill/>
          <a:ln>
            <a:noFill/>
          </a:ln>
        </p:spPr>
        <p:txBody>
          <a:bodyPr spcFirstLastPara="1" wrap="square" lIns="91425" tIns="45700" rIns="91425" bIns="45700" anchor="t" anchorCtr="0">
            <a:noAutofit/>
          </a:bodyPr>
          <a:lstStyle/>
          <a:p>
            <a:r>
              <a:rPr lang="en-IN" sz="2000" dirty="0">
                <a:latin typeface="Times New Roman" panose="02020603050405020304" pitchFamily="18" charset="0"/>
                <a:cs typeface="Times New Roman" panose="02020603050405020304" pitchFamily="18" charset="0"/>
              </a:rPr>
              <a:t>X. Zheng, W. Shen, Y. Su, and Y. Gao, “DIADD: Secure deduplication and efficient data integrity auditing with data dynamics for cloud storage,” IEEE Transactions on Network and Service Management, vol. 22, no. 1, pp. 299–316, 2025.</a:t>
            </a:r>
          </a:p>
          <a:p>
            <a:r>
              <a:rPr lang="en-IN" sz="2000" dirty="0">
                <a:latin typeface="Times New Roman" panose="02020603050405020304" pitchFamily="18" charset="0"/>
                <a:cs typeface="Times New Roman" panose="02020603050405020304" pitchFamily="18" charset="0"/>
              </a:rPr>
              <a:t>D. Harnik, B. Pinkas and A. Shulman-Peleg, "Side Channels in Cloud Services: Deduplication in Cloud Storage," in IEEE Security &amp; Privacy, vol. 8, no. 6, pp. 40-47, Nov.-Dec. 2010.</a:t>
            </a:r>
          </a:p>
          <a:p>
            <a:r>
              <a:rPr lang="en-IN" sz="2000" dirty="0">
                <a:latin typeface="Times New Roman" panose="02020603050405020304" pitchFamily="18" charset="0"/>
                <a:cs typeface="Times New Roman" panose="02020603050405020304" pitchFamily="18" charset="0"/>
              </a:rPr>
              <a:t>C. Wang, Q. Wang, K. Ren and W. Lou, "Privacy-Preserving Public Auditing for Data Storage Security in Cloud Computing," 2010 Proceedings IEEE INFOCOM, pp. 1-9, 2010.</a:t>
            </a:r>
          </a:p>
          <a:p>
            <a:r>
              <a:rPr lang="en-IN" sz="2000" dirty="0">
                <a:latin typeface="Times New Roman" panose="02020603050405020304" pitchFamily="18" charset="0"/>
                <a:cs typeface="Times New Roman" panose="02020603050405020304" pitchFamily="18" charset="0"/>
              </a:rPr>
              <a:t>M. Zhou, R. Zhang, W. Xie, W. Qian and A. Zhou, "Security and Privacy in Cloud Computing: A Survey," 2010 Sixth International Conference on Semantics, Knowledge and Grids, pp. 105-112, 2010.</a:t>
            </a:r>
          </a:p>
          <a:p>
            <a:r>
              <a:rPr lang="en-IN" sz="2000" dirty="0">
                <a:latin typeface="Times New Roman" panose="02020603050405020304" pitchFamily="18" charset="0"/>
                <a:cs typeface="Times New Roman" panose="02020603050405020304" pitchFamily="18" charset="0"/>
              </a:rPr>
              <a:t>D. E. Denning, "An Intrusion-Detection Model," in IEEE Transactions on Software Engineering, vol. SE-13, no. 2, pp. 222-232, Feb. 1987.</a:t>
            </a:r>
          </a:p>
          <a:p>
            <a:r>
              <a:rPr lang="en-IN" sz="2000" dirty="0">
                <a:latin typeface="Times New Roman" panose="02020603050405020304" pitchFamily="18" charset="0"/>
                <a:cs typeface="Times New Roman" panose="02020603050405020304" pitchFamily="18" charset="0"/>
              </a:rPr>
              <a:t>Halevi, Shai &amp; Harnik, Danny &amp; Pinkas, Benny &amp; Shulman-Peleg, Alexandra. (2011). “Proofs of ownership in remote storage systems”, Proceedings of the ACM Conference on Computer and Communications Security, 491-500. </a:t>
            </a:r>
          </a:p>
        </p:txBody>
      </p:sp>
      <p:sp>
        <p:nvSpPr>
          <p:cNvPr id="452" name="Google Shape;452;p46">
            <a:extLst>
              <a:ext uri="{FF2B5EF4-FFF2-40B4-BE49-F238E27FC236}">
                <a16:creationId xmlns:a16="http://schemas.microsoft.com/office/drawing/2014/main" id="{607B84E1-DB3D-A6AE-D903-7C92FFA4A10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47</a:t>
            </a:fld>
            <a:endParaRPr/>
          </a:p>
        </p:txBody>
      </p:sp>
    </p:spTree>
    <p:extLst>
      <p:ext uri="{BB962C8B-B14F-4D97-AF65-F5344CB8AC3E}">
        <p14:creationId xmlns:p14="http://schemas.microsoft.com/office/powerpoint/2010/main" val="16304265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9">
          <a:extLst>
            <a:ext uri="{FF2B5EF4-FFF2-40B4-BE49-F238E27FC236}">
              <a16:creationId xmlns:a16="http://schemas.microsoft.com/office/drawing/2014/main" id="{0736089D-6123-3B4E-8E74-C5C7A2C8A718}"/>
            </a:ext>
          </a:extLst>
        </p:cNvPr>
        <p:cNvGrpSpPr/>
        <p:nvPr/>
      </p:nvGrpSpPr>
      <p:grpSpPr>
        <a:xfrm>
          <a:off x="0" y="0"/>
          <a:ext cx="0" cy="0"/>
          <a:chOff x="0" y="0"/>
          <a:chExt cx="0" cy="0"/>
        </a:xfrm>
      </p:grpSpPr>
      <p:sp>
        <p:nvSpPr>
          <p:cNvPr id="450" name="Google Shape;450;p46">
            <a:extLst>
              <a:ext uri="{FF2B5EF4-FFF2-40B4-BE49-F238E27FC236}">
                <a16:creationId xmlns:a16="http://schemas.microsoft.com/office/drawing/2014/main" id="{F57714AF-C615-6735-65D1-ED5F99576D2A}"/>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REFERENCES</a:t>
            </a:r>
            <a:endParaRPr sz="3600" dirty="0"/>
          </a:p>
        </p:txBody>
      </p:sp>
      <p:sp>
        <p:nvSpPr>
          <p:cNvPr id="451" name="Google Shape;451;p46">
            <a:extLst>
              <a:ext uri="{FF2B5EF4-FFF2-40B4-BE49-F238E27FC236}">
                <a16:creationId xmlns:a16="http://schemas.microsoft.com/office/drawing/2014/main" id="{CA69E092-EFE0-9B3D-BBD1-030A17BBFF99}"/>
              </a:ext>
            </a:extLst>
          </p:cNvPr>
          <p:cNvSpPr txBox="1">
            <a:spLocks noGrp="1"/>
          </p:cNvSpPr>
          <p:nvPr>
            <p:ph type="body" idx="1"/>
          </p:nvPr>
        </p:nvSpPr>
        <p:spPr>
          <a:xfrm>
            <a:off x="838200" y="1471663"/>
            <a:ext cx="10515600" cy="4712828"/>
          </a:xfrm>
          <a:prstGeom prst="rect">
            <a:avLst/>
          </a:prstGeom>
          <a:noFill/>
          <a:ln>
            <a:noFill/>
          </a:ln>
        </p:spPr>
        <p:txBody>
          <a:bodyPr spcFirstLastPara="1" wrap="square" lIns="91425" tIns="45700" rIns="91425" bIns="45700" anchor="t" anchorCtr="0">
            <a:noAutofit/>
          </a:bodyPr>
          <a:lstStyle/>
          <a:p>
            <a:r>
              <a:rPr lang="en-IN" sz="2000" dirty="0">
                <a:latin typeface="Times New Roman" panose="02020603050405020304" pitchFamily="18" charset="0"/>
                <a:cs typeface="Times New Roman" panose="02020603050405020304" pitchFamily="18" charset="0"/>
              </a:rPr>
              <a:t>M. Song, Z. Hua, Y. Zheng, T. Xiang and X. Jia, "Enabling Transparent Deduplication and Auditing for Encrypted Data in Cloud," in IEEE Transactions on Dependable and Secure Computing, vol. 21, no. 4, pp. 3545-3561, July-Aug. 2024.</a:t>
            </a:r>
          </a:p>
          <a:p>
            <a:r>
              <a:rPr lang="en-IN" sz="2000" dirty="0">
                <a:latin typeface="Times New Roman" panose="02020603050405020304" pitchFamily="18" charset="0"/>
                <a:cs typeface="Times New Roman" panose="02020603050405020304" pitchFamily="18" charset="0"/>
              </a:rPr>
              <a:t>Ke, </a:t>
            </a:r>
            <a:r>
              <a:rPr lang="en-IN" sz="2000" dirty="0" err="1">
                <a:latin typeface="Times New Roman" panose="02020603050405020304" pitchFamily="18" charset="0"/>
                <a:cs typeface="Times New Roman" panose="02020603050405020304" pitchFamily="18" charset="0"/>
              </a:rPr>
              <a:t>Zhaokang</a:t>
            </a:r>
            <a:r>
              <a:rPr lang="en-IN" sz="2000" dirty="0">
                <a:latin typeface="Times New Roman" panose="02020603050405020304" pitchFamily="18" charset="0"/>
                <a:cs typeface="Times New Roman" panose="02020603050405020304" pitchFamily="18" charset="0"/>
              </a:rPr>
              <a:t> &amp; Gong, Haoyu &amp; Du, David. (2025). “PM-</a:t>
            </a:r>
            <a:r>
              <a:rPr lang="en-IN" sz="2000" dirty="0" err="1">
                <a:latin typeface="Times New Roman" panose="02020603050405020304" pitchFamily="18" charset="0"/>
                <a:cs typeface="Times New Roman" panose="02020603050405020304" pitchFamily="18" charset="0"/>
              </a:rPr>
              <a:t>Dedup</a:t>
            </a:r>
            <a:r>
              <a:rPr lang="en-IN" sz="2000" dirty="0">
                <a:latin typeface="Times New Roman" panose="02020603050405020304" pitchFamily="18" charset="0"/>
                <a:cs typeface="Times New Roman" panose="02020603050405020304" pitchFamily="18" charset="0"/>
              </a:rPr>
              <a:t>: Secure Deduplication with Partial Migration from Cloud to Edge Servers”, </a:t>
            </a:r>
            <a:r>
              <a:rPr lang="en-IN" sz="2000" dirty="0" err="1">
                <a:latin typeface="Times New Roman" panose="02020603050405020304" pitchFamily="18" charset="0"/>
                <a:cs typeface="Times New Roman" panose="02020603050405020304" pitchFamily="18" charset="0"/>
              </a:rPr>
              <a:t>arXiv</a:t>
            </a:r>
            <a:r>
              <a:rPr lang="en-IN" sz="2000" dirty="0">
                <a:latin typeface="Times New Roman" panose="02020603050405020304" pitchFamily="18" charset="0"/>
                <a:cs typeface="Times New Roman" panose="02020603050405020304" pitchFamily="18" charset="0"/>
              </a:rPr>
              <a:t> preprint, 2025.</a:t>
            </a:r>
          </a:p>
          <a:p>
            <a:r>
              <a:rPr lang="en-IN" sz="2000" dirty="0" err="1">
                <a:latin typeface="Times New Roman" panose="02020603050405020304" pitchFamily="18" charset="0"/>
                <a:cs typeface="Times New Roman" panose="02020603050405020304" pitchFamily="18" charset="0"/>
              </a:rPr>
              <a:t>Jingze</a:t>
            </a:r>
            <a:r>
              <a:rPr lang="en-IN" sz="2000" dirty="0">
                <a:latin typeface="Times New Roman" panose="02020603050405020304" pitchFamily="18" charset="0"/>
                <a:cs typeface="Times New Roman" panose="02020603050405020304" pitchFamily="18" charset="0"/>
              </a:rPr>
              <a:t> Yu, </a:t>
            </a:r>
            <a:r>
              <a:rPr lang="en-IN" sz="2000" dirty="0" err="1">
                <a:latin typeface="Times New Roman" panose="02020603050405020304" pitchFamily="18" charset="0"/>
                <a:cs typeface="Times New Roman" panose="02020603050405020304" pitchFamily="18" charset="0"/>
              </a:rPr>
              <a:t>Wenting</a:t>
            </a:r>
            <a:r>
              <a:rPr lang="en-IN" sz="2000" dirty="0">
                <a:latin typeface="Times New Roman" panose="02020603050405020304" pitchFamily="18" charset="0"/>
                <a:cs typeface="Times New Roman" panose="02020603050405020304" pitchFamily="18" charset="0"/>
              </a:rPr>
              <a:t> Shen, Xi Zhang, “Cloud storage auditing and data sharing with data deduplication and private information protection for cloud-based EMR”, Computers &amp; Security, Volume 144, 2024.</a:t>
            </a:r>
          </a:p>
          <a:p>
            <a:r>
              <a:rPr lang="en-IN" sz="2000" dirty="0">
                <a:latin typeface="Times New Roman" panose="02020603050405020304" pitchFamily="18" charset="0"/>
                <a:cs typeface="Times New Roman" panose="02020603050405020304" pitchFamily="18" charset="0"/>
              </a:rPr>
              <a:t>R. Du, L. Deng, J. Chen, K. He and M. Zheng, "Proofs of Ownership and Retrievability in Cloud Storage," 2014 IEEE 13th International Conference on Trust, Security and Privacy in Computing and Communications, 2014, pp. 328-335.</a:t>
            </a:r>
          </a:p>
          <a:p>
            <a:r>
              <a:rPr lang="en-IN" sz="2000" dirty="0">
                <a:latin typeface="Times New Roman" panose="02020603050405020304" pitchFamily="18" charset="0"/>
                <a:cs typeface="Times New Roman" panose="02020603050405020304" pitchFamily="18" charset="0"/>
              </a:rPr>
              <a:t>J. K. </a:t>
            </a:r>
            <a:r>
              <a:rPr lang="en-IN" sz="2000" dirty="0" err="1">
                <a:latin typeface="Times New Roman" panose="02020603050405020304" pitchFamily="18" charset="0"/>
                <a:cs typeface="Times New Roman" panose="02020603050405020304" pitchFamily="18" charset="0"/>
              </a:rPr>
              <a:t>Periasamy</a:t>
            </a:r>
            <a:r>
              <a:rPr lang="en-IN" sz="2000" dirty="0">
                <a:latin typeface="Times New Roman" panose="02020603050405020304" pitchFamily="18" charset="0"/>
                <a:cs typeface="Times New Roman" panose="02020603050405020304" pitchFamily="18" charset="0"/>
              </a:rPr>
              <a:t>, S. Prabhakar, A. Vanathi, and Y. Liu, “Enhancing cloud security and deduplication efficiency using cryptographic authentication mechanisms,” Scientific Reports, vol. 15, pp. 30112, 2025.</a:t>
            </a:r>
          </a:p>
          <a:p>
            <a:r>
              <a:rPr lang="en-IN" sz="2000" dirty="0">
                <a:latin typeface="Times New Roman" panose="02020603050405020304" pitchFamily="18" charset="0"/>
                <a:cs typeface="Times New Roman" panose="02020603050405020304" pitchFamily="18" charset="0"/>
              </a:rPr>
              <a:t> C. Wang, G. Xu, and Y. Zhang, “A CAE-based secure data deduplication method for cloud storage,” Scientific Reports, vol. 15, pp. 24605, 2025.</a:t>
            </a:r>
          </a:p>
        </p:txBody>
      </p:sp>
      <p:sp>
        <p:nvSpPr>
          <p:cNvPr id="452" name="Google Shape;452;p46">
            <a:extLst>
              <a:ext uri="{FF2B5EF4-FFF2-40B4-BE49-F238E27FC236}">
                <a16:creationId xmlns:a16="http://schemas.microsoft.com/office/drawing/2014/main" id="{A6A149B9-E667-1155-E733-AD1B3BAA20D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IN"/>
              <a:t>48</a:t>
            </a:fld>
            <a:endParaRPr/>
          </a:p>
        </p:txBody>
      </p:sp>
    </p:spTree>
    <p:extLst>
      <p:ext uri="{BB962C8B-B14F-4D97-AF65-F5344CB8AC3E}">
        <p14:creationId xmlns:p14="http://schemas.microsoft.com/office/powerpoint/2010/main" val="1853257824"/>
      </p:ext>
    </p:extLst>
  </p:cSld>
  <p:clrMapOvr>
    <a:masterClrMapping/>
  </p:clrMapOvr>
</p:sld>
</file>

<file path=ppt/theme/theme1.xml><?xml version="1.0" encoding="utf-8"?>
<a:theme xmlns:a="http://schemas.openxmlformats.org/drawingml/2006/main" name="Theme3">
  <a:themeElements>
    <a:clrScheme name="Gradient">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5962</Words>
  <Application>Microsoft Office PowerPoint</Application>
  <PresentationFormat>Widescreen</PresentationFormat>
  <Paragraphs>932</Paragraphs>
  <Slides>48</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Cambria Math</vt:lpstr>
      <vt:lpstr>Noto Sans Symbols</vt:lpstr>
      <vt:lpstr>Open Sans</vt:lpstr>
      <vt:lpstr>Times New Roman</vt:lpstr>
      <vt:lpstr>Theme3</vt:lpstr>
      <vt:lpstr>                                    CS6811 – PROJECT WORK  A SECURE CLOUD DEDUPLICATION FRAMEWORK WITH BEHAVIOURAL MONITORING   DOMAIN: SECURE STORAGE SYSTEMS,  DEDUPLICATION, CLOUD SECURITY</vt:lpstr>
      <vt:lpstr>INTRODUCTION</vt:lpstr>
      <vt:lpstr>PROBLEM STATEMENT</vt:lpstr>
      <vt:lpstr>LITERATURE SURVEY</vt:lpstr>
      <vt:lpstr>LITERATURE SURVEY</vt:lpstr>
      <vt:lpstr>LITERATURE SURVEY</vt:lpstr>
      <vt:lpstr>LITERATURE SURVEY</vt:lpstr>
      <vt:lpstr>LITERATURE SURVEY</vt:lpstr>
      <vt:lpstr>OBJECTIVES</vt:lpstr>
      <vt:lpstr>ARCHITECTURE DIAGRAM</vt:lpstr>
      <vt:lpstr>INTERFACE MODULE </vt:lpstr>
      <vt:lpstr>CORE DEDUPLICATION MODULE </vt:lpstr>
      <vt:lpstr>SECURITY AND CONTROL MODULE</vt:lpstr>
      <vt:lpstr>BEHAVIOUR DETECTION MODULE </vt:lpstr>
      <vt:lpstr>PowerPoint Presentation</vt:lpstr>
      <vt:lpstr>ALGORITHM – Core Deduplication and Adaptive PoW</vt:lpstr>
      <vt:lpstr>SAMPLE UI</vt:lpstr>
      <vt:lpstr>EXPERIMENTAL SETUP</vt:lpstr>
      <vt:lpstr>DATASET PREPARATION</vt:lpstr>
      <vt:lpstr>RESULTS AND DISCUSSION</vt:lpstr>
      <vt:lpstr>RESULTS</vt:lpstr>
      <vt:lpstr>DEDUPLICATION PERFORMANCE RESULTS</vt:lpstr>
      <vt:lpstr>COMPARATIVE ANALYSIS</vt:lpstr>
      <vt:lpstr>EVALUATION METRICS </vt:lpstr>
      <vt:lpstr>EVALUATION METRICS</vt:lpstr>
      <vt:lpstr>EVALUATION METRICS</vt:lpstr>
      <vt:lpstr>FORMULAS- CRYPTOGRAPHIC PATH</vt:lpstr>
      <vt:lpstr>FORMULAS-RISK, REPUTATION &amp; POW</vt:lpstr>
      <vt:lpstr>FORMULAS - POLICY, DETECTION &amp; METRICS</vt:lpstr>
      <vt:lpstr>Results - Supervised Detection (Random Forest)</vt:lpstr>
      <vt:lpstr>Results – Unsupervised Detection (OCSVM)</vt:lpstr>
      <vt:lpstr>Results – Adaptive Proof-of-Ownership</vt:lpstr>
      <vt:lpstr>Results – Per-Class F₁ and Module Comparison</vt:lpstr>
      <vt:lpstr>Results – Deduplication and Storage Performance</vt:lpstr>
      <vt:lpstr>Results - Supervised Detection (Random Forest)</vt:lpstr>
      <vt:lpstr>Results - Supervised Detection (Random Forest)</vt:lpstr>
      <vt:lpstr>Results – Adaptive Proof-of-Ownership</vt:lpstr>
      <vt:lpstr>Results – Deduplication Performance</vt:lpstr>
      <vt:lpstr>Results – Performance Comparison and Per-Class F₁ Score Analysis</vt:lpstr>
      <vt:lpstr>TESTS &amp; RESULTS</vt:lpstr>
      <vt:lpstr>TESTS &amp; RESULTS</vt:lpstr>
      <vt:lpstr>TESTS &amp; RESULTS</vt:lpstr>
      <vt:lpstr>TESTS &amp; RESULTS</vt:lpstr>
      <vt:lpstr>REFERENCES</vt:lpstr>
      <vt:lpstr>REFERENCES</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Shruthikaa</dc:creator>
  <cp:lastModifiedBy>Shruthikaa Sathish Kumar</cp:lastModifiedBy>
  <cp:revision>12</cp:revision>
  <dcterms:created xsi:type="dcterms:W3CDTF">2025-01-29T19:45:26Z</dcterms:created>
  <dcterms:modified xsi:type="dcterms:W3CDTF">2026-04-05T18:07:16Z</dcterms:modified>
</cp:coreProperties>
</file>